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2" r:id="rId9"/>
    <p:sldId id="263" r:id="rId10"/>
    <p:sldId id="264" r:id="rId11"/>
    <p:sldId id="279" r:id="rId12"/>
    <p:sldId id="265" r:id="rId13"/>
    <p:sldId id="266" r:id="rId14"/>
    <p:sldId id="267" r:id="rId15"/>
    <p:sldId id="278" r:id="rId16"/>
    <p:sldId id="280" r:id="rId17"/>
    <p:sldId id="268" r:id="rId18"/>
    <p:sldId id="269" r:id="rId19"/>
    <p:sldId id="281" r:id="rId20"/>
    <p:sldId id="270" r:id="rId21"/>
    <p:sldId id="276" r:id="rId22"/>
    <p:sldId id="271" r:id="rId23"/>
    <p:sldId id="282" r:id="rId24"/>
    <p:sldId id="272" r:id="rId25"/>
    <p:sldId id="283" r:id="rId26"/>
    <p:sldId id="273" r:id="rId27"/>
    <p:sldId id="274" r:id="rId28"/>
    <p:sldId id="27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2"/>
    <p:restoredTop sz="94648"/>
  </p:normalViewPr>
  <p:slideViewPr>
    <p:cSldViewPr snapToGrid="0" snapToObjects="1">
      <p:cViewPr varScale="1">
        <p:scale>
          <a:sx n="99" d="100"/>
          <a:sy n="99" d="100"/>
        </p:scale>
        <p:origin x="192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200" b="1" i="0">
                <a:solidFill>
                  <a:srgbClr val="FFFFFF"/>
                </a:solidFill>
                <a:latin typeface="Calibri"/>
              </a:defRPr>
            </a:pPr>
            <a:r>
              <a:t>Group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0" i="1">
                <a:solidFill>
                  <a:srgbClr val="FFFFFF"/>
                </a:solidFill>
                <a:latin typeface="Calibri"/>
              </a:defRPr>
            </a:pPr>
            <a:r>
              <a:t>E-Commerce Intelligence &amp; Personalization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06040"/>
            <a:ext cx="182880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Real-time customer intelligence &amp; personalization engine for fashion e-commerce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0B3D91"/>
                </a:solidFill>
                <a:latin typeface="Calibri"/>
              </a:defRPr>
            </a:pPr>
            <a:r>
              <a:t>ITCS 6190 / 8190  —  Cloud Computing for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UNC Charlotte  •  Spring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1">
                <a:solidFill>
                  <a:srgbClr val="7F8C8D"/>
                </a:solidFill>
                <a:latin typeface="Calibri"/>
              </a:defRPr>
            </a:pPr>
            <a:r>
              <a:t>Tech stack:  Apache Spark • PySpark • MLlib • Structured Streaming • AWS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Index of topics covered in this presentation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554480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5448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54480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What are we solving and for whom?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1993392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2082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99339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Product Pitch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993392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The B2B SaaS framing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2432304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45973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432304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Dataset &amp;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432304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Data sources, Spark components, tech stack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2871216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89864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871216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Ingestion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871216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Raw CSV → 8 Parquet tables on S3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3310128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3375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310128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310128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Device mix, funnel, revenue, temporal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3749040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77647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7490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Spark SQL — 6 Advanced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3749040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Funnel, basket, RFM, cohort, velocity, affinity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4187952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21538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18795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Machine Learning — 3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4187952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Conversion RF, KMeans RFM, ALS recommender</a:t>
            </a:r>
          </a:p>
        </p:txBody>
      </p:sp>
      <p:sp>
        <p:nvSpPr>
          <p:cNvPr id="34" name="Oval 33"/>
          <p:cNvSpPr/>
          <p:nvPr/>
        </p:nvSpPr>
        <p:spPr>
          <a:xfrm>
            <a:off x="914400" y="4626864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65429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626864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Structured Streaming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4626864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Stream-static join, windowed aggs, anomaly</a:t>
            </a:r>
          </a:p>
        </p:txBody>
      </p:sp>
      <p:sp>
        <p:nvSpPr>
          <p:cNvPr id="38" name="Oval 37"/>
          <p:cNvSpPr/>
          <p:nvPr/>
        </p:nvSpPr>
        <p:spPr>
          <a:xfrm>
            <a:off x="914400" y="5065776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0932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065776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Business Outcomes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5065776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Numbers that translate into product levers</a:t>
            </a:r>
          </a:p>
        </p:txBody>
      </p:sp>
      <p:sp>
        <p:nvSpPr>
          <p:cNvPr id="42" name="Oval 41"/>
          <p:cNvSpPr/>
          <p:nvPr/>
        </p:nvSpPr>
        <p:spPr>
          <a:xfrm>
            <a:off x="914400" y="5504688"/>
            <a:ext cx="365760" cy="36576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5504688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Challenges &amp; Future 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77840" y="5504688"/>
            <a:ext cx="5943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7F8C8D"/>
                </a:solidFill>
                <a:latin typeface="Calibri"/>
              </a:defRPr>
            </a:pPr>
            <a:r>
              <a:t>What we learned, what's next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Why fashion e-commerce retailers need a real-time intelligence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0B3D91"/>
                </a:solidFill>
                <a:latin typeface="Calibri"/>
              </a:defRPr>
            </a:pPr>
            <a:r>
              <a:t>The gap in the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Retailers sit on massive customer, product, transaction and clickstream data — but react to it the *next day*.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42% of carts are abandoned. Win-back email the day after does not recover a same-session bounce.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Most analytics stacks are batch-first: great for dashboards, useless for in-session decisions.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There is no plug-in personalization layer that is cloud-native, Spark-scale, and model-driven.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F28C28"/>
                </a:solidFill>
                <a:latin typeface="Calibri"/>
              </a:defRPr>
            </a:pPr>
            <a:r>
              <a:t>Our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Build a Spark-based intelligence engine that turns raw behavioural signals into in-session personalization — who a customer is, what they will buy next, and when they are about to bounce.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Product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A plug-in B2B SaaS layer — think "Segment + Dynamic Yield"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0B3D91"/>
                </a:solidFill>
                <a:latin typeface="Calibri"/>
              </a:defRPr>
            </a:pPr>
            <a:r>
              <a:t>What it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A real-time customer intelligence engine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In-session decisions: pop-ups, promos, recs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Predicts: next purchase, churn risk, segment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Plug-in analytics layer — no re-platforming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Model-driven, not rule-driven personalisation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 i="0">
                <a:solidFill>
                  <a:srgbClr val="0B3D91"/>
                </a:solidFill>
                <a:latin typeface="Calibri"/>
              </a:defRPr>
            </a:pPr>
            <a:r>
              <a:t>Business levers it unlocks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Cart-abandonment recovery — trigger in-session discounts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AOV uplift — "customers like you bought…" carousel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VIP protection — identify Champions before they churn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Win-back triggers — flag at-risk customers automatically</a:t>
            </a:r>
          </a:p>
          <a:p>
            <a:pPr>
              <a:spcAft>
                <a:spcPts val="600"/>
              </a:spcAft>
              <a:defRPr sz="1400">
                <a:solidFill>
                  <a:srgbClr val="2C3E50"/>
                </a:solidFill>
                <a:latin typeface="Calibri"/>
              </a:defRPr>
            </a:pPr>
            <a:r>
              <a:t>•  Traffic-source ROI — optimise paid channels in real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 i="1">
                <a:solidFill>
                  <a:srgbClr val="F28C28"/>
                </a:solidFill>
                <a:latin typeface="Calibri"/>
              </a:defRPr>
            </a:pPr>
            <a:r>
              <a:t>From nightly dashboards → to real-time decisioning.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4 raw Kaggle tables, hosted on AWS S3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contains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customer.csv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Demographics, device, location, tenure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Segmentation, joins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product.csv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44,446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Catalog: master/sub-category, season, gender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Enrichment, recs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transactions.csv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852,584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Booking events w/ nested product_metadata JSON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Revenue, RFM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click_stream.csv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12,833,602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Session events: HOMEPAGE / SEARCH / ADD_TO_CART / BOOKING …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Behavior, streaming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72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100K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578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4572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4709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44K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2578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5720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47091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852K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2578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Transactions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457200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47091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12.8M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5257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Clickstream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Layered Spark pipeline: Structured APIs → SQL → ML → Streaming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0B3D91"/>
                </a:solidFill>
                <a:latin typeface="Calibri"/>
              </a:defRPr>
            </a:pPr>
            <a:r>
              <a:t>Raw</a:t>
            </a:r>
            <a:br/>
            <a:r>
              <a:t>(S3)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CSV from Kaggle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87168" y="2788920"/>
            <a:ext cx="274320" cy="36576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88920" y="22860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0B3D91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88920" y="242316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97180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PySpark</a:t>
            </a:r>
            <a:br/>
            <a:r>
              <a:t>Structured APIs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18888" y="2788920"/>
            <a:ext cx="274320" cy="36576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0" y="242316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0B3D91"/>
                </a:solidFill>
                <a:latin typeface="Calibri"/>
              </a:defRPr>
            </a:pPr>
            <a:r>
              <a:t>Processed</a:t>
            </a:r>
            <a:br/>
            <a:r>
              <a:t>(S3 Parquet)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97180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8 *_clean tables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50608" y="2788920"/>
            <a:ext cx="274320" cy="36576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52360" y="22860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0B3D91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242316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97180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Spark SQL × 6</a:t>
            </a:r>
            <a:br/>
            <a:r>
              <a:t>MLlib × 3</a:t>
            </a:r>
            <a:br/>
            <a:r>
              <a:t>Streaming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482328" y="2788920"/>
            <a:ext cx="274320" cy="36576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784080" y="2286000"/>
            <a:ext cx="2011680" cy="137160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2423160"/>
            <a:ext cx="20116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0B3D91"/>
                </a:solidFill>
                <a:latin typeface="Calibri"/>
              </a:defRPr>
            </a:pPr>
            <a:r>
              <a:t>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971800"/>
            <a:ext cx="2011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7F8C8D"/>
                </a:solidFill>
                <a:latin typeface="Calibri"/>
              </a:defRPr>
            </a:pPr>
            <a:r>
              <a:t>Dashboards</a:t>
            </a:r>
            <a:br/>
            <a:r>
              <a:t>Decisions</a:t>
            </a:r>
            <a:br/>
            <a:r>
              <a:t>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Spark components exercised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452628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 it's used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Deliverable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Structured APIs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ingestion.ipynb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Type-safe DataFrames + 8 *_clean Parquet tables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Spark SQL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sql_queries.ipynb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6 advanced queries (CTEs, NTILE, LAG, self-joins)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MLlib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ml_pipeline.ipynb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Random Forest • KMeans • ALS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Structured Streaming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streaming_demo.ipynb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Stream-static join + windowed aggregations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254230-5D62-3FFE-F856-D25EEA88A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75360"/>
            <a:ext cx="10905066" cy="4907278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36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Cloud-native, open-source Spark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011680" cy="411480"/>
          </a:xfrm>
          <a:prstGeom prst="roundRect">
            <a:avLst>
              <a:gd name="adj" fmla="val 40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645920"/>
            <a:ext cx="8961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Apache Spark 3.5 • PySpark • MLlib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12848"/>
            <a:ext cx="2011680" cy="411480"/>
          </a:xfrm>
          <a:prstGeom prst="roundRect">
            <a:avLst>
              <a:gd name="adj" fmla="val 40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212848"/>
            <a:ext cx="8961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AWS S3 (Parquet) • Hadoop-AWS connector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79776"/>
            <a:ext cx="2011680" cy="411480"/>
          </a:xfrm>
          <a:prstGeom prst="roundRect">
            <a:avLst>
              <a:gd name="adj" fmla="val 40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779776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779776"/>
            <a:ext cx="8961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Python 3.12 • Spark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46704"/>
            <a:ext cx="2011680" cy="411480"/>
          </a:xfrm>
          <a:prstGeom prst="roundRect">
            <a:avLst>
              <a:gd name="adj" fmla="val 40000"/>
            </a:avLst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346704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346704"/>
            <a:ext cx="8961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MLlib: RandomForest • KMeans • ALS • StandardScaler • Pipeline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13632"/>
            <a:ext cx="2011680" cy="411480"/>
          </a:xfrm>
          <a:prstGeom prst="roundRect">
            <a:avLst>
              <a:gd name="adj" fmla="val 40000"/>
            </a:avLst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913632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Streaming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913632"/>
            <a:ext cx="8961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Structured Streaming • File-source • Watermark •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80560"/>
            <a:ext cx="2011680" cy="411480"/>
          </a:xfrm>
          <a:prstGeom prst="roundRect">
            <a:avLst>
              <a:gd name="adj" fmla="val 40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48056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480560"/>
            <a:ext cx="8961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Jupyter notebooks • nbconvert • pytest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47488"/>
            <a:ext cx="2011680" cy="411480"/>
          </a:xfrm>
          <a:prstGeom prst="roundRect">
            <a:avLst>
              <a:gd name="adj" fmla="val 40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047488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047488"/>
            <a:ext cx="8961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GitHub Codespaces  (Java 11 • 2 vCPU • 8 GB RAM)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14416"/>
            <a:ext cx="2011680" cy="411480"/>
          </a:xfrm>
          <a:prstGeom prst="roundRect">
            <a:avLst>
              <a:gd name="adj" fmla="val 40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614416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614416"/>
            <a:ext cx="8961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2C3E50"/>
                </a:solidFill>
                <a:latin typeface="Calibri"/>
              </a:defRPr>
            </a:pPr>
            <a:r>
              <a:t>Kaggle: e-commerce behavior &amp; transactions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7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Stage 1 — 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Raw CSV on S3  →  8 clean, analysis-ready Parquet tables on S3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Key transforms performed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760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PII dropped (first_name, last_name, email, username, device_id)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Birthdate / join_date parsed → DateType; age &amp; tenure_days derived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device_version → OS extracted (iOS, Android, Windows, Other)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product.csv: renamed id → product_id for consistent joins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transactions.product_metadata (JSON array) → exploded into 1 row per line item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derived: order_month, promo_used, shipment_days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clickstream event_metadata (Python-dict) → 7 flat cs_* columns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Built analytical sub-tables: search_events, cart_events, session_funnel, customer_purchases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Output tables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0" y="192024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Parquet table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Rows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customers_clean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products_clean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44,446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transactions_exploded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1,254,585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clickstream_clean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12,833,602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search_events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1,173,266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cart_events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1,937,157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session_funnel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895,203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customer_purchases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1,254,585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8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Stage 2 — 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Five quick wins from the processed data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Business implication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Android-dominant user base (~77%)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Mobile-first dashboard priority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~96% payment success rate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Failures are external (bank/network)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Apparel leads revenue across all categories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Merchandising &amp; stock priority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10 AM – 8 PM click peak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Best window for real-time alerts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Huge add_to_cart → converted drop-off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Cart abandonment = biggest growth lever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57200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0B3D91"/>
                </a:solidFill>
                <a:latin typeface="Calibri"/>
              </a:defRPr>
            </a:pPr>
            <a:r>
              <a:t>Why EDA matters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2C3E50"/>
                </a:solidFill>
                <a:latin typeface="Calibri"/>
              </a:defRPr>
            </a:pPr>
            <a:r>
              <a:t>EDA validated our feature-engineering choices for the ML stage: session-level features (added_to_cart, did_search, session_duration) that later turn out to be the top predictors for session conversion in the Random-Forest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9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373F84-5810-ED91-3697-B3BFE36D8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8"/>
            <a:ext cx="10905066" cy="4934543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32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Stage 3 — Spark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Six advanced analytics queries, each exercising a different SQL technique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45920"/>
          <a:ext cx="116128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Core technique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Business question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Per-Customer Conversion Funnel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4-table JOIN, CTE, ROW_NUMBER, DENSE_RANK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Who converts? Who drops off?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Market Basket Analysis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Self-JOIN, CROSS JOIN, support + confidence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What products are bought together?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Q3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RFM Scoring (NTILE Quintiles)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NTILE(5) × 3 dims, composite score, CASE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Who are my Champions / At-Risk?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Q4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Cohort Retention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MONTHS_BETWEEN, pivot CASE, NULLIF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Do customers come back at m1/m3/m6?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Q5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Purchase Velocity &amp; Gap Analysis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LAG, DATEDIFF, STDDEV, multi-metric CASE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How often does each customer return?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Q6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Browse-to-Buy Affinity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4 CTEs, 4-table correlation, lift metric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Which browses lead to which purchases?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0B3D91"/>
                </a:solidFill>
                <a:latin typeface="Calibri"/>
              </a:defRPr>
            </a:pPr>
            <a:r>
              <a:t>Engineering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• broadcast(products) avoids shuffling the 44K-row catalog across every join.    • Q6 uses TABLESAMPLE (10 PERCENT) on the 12.8M-row clickstream to fit in a 3 GB driver heap.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10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SQL Highlights — Q1, Q2, 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Customer intelligence signals derived directly from the data warehouse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0B3D91"/>
                </a:solidFill>
                <a:latin typeface="Calibri"/>
              </a:defRPr>
            </a:pPr>
            <a:r>
              <a:t>Q1  Conversion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Top customer: 550 sessions, funnel_score = 4 → fully CONVERTED.</a:t>
            </a:r>
            <a:br/>
            <a:r>
              <a:t>Rank 1 through 12 are all Indonesian, Android, female — identifies the high-value, mobile-first 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0B3D91"/>
                </a:solidFill>
                <a:latin typeface="Calibri"/>
              </a:defRPr>
            </a:pPr>
            <a:r>
              <a:t>Q2  Market Basket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Co-purchase pairs surfaced:  women's shorts + wallet  •  men's polo + dupatta  •  watch + watch.</a:t>
            </a:r>
            <a:br/>
            <a:r>
              <a:t>Confidence metrics direct "frequently bought together" cross-sell carousels.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0B3D91"/>
                </a:solidFill>
                <a:latin typeface="Calibri"/>
              </a:defRPr>
            </a:pPr>
            <a:r>
              <a:t>Q3  RFM Segmentation (NTILE quintiles)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Top 25 customers all score 15/15 → Champions.</a:t>
            </a:r>
            <a:br/>
            <a:r>
              <a:t>Segments produced: Champions • Loyal Customers • Potential Loyalists • At Risk • Hibernating.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11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SQL Highlights — Q4, Q5, 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Retention, velocity, and cross-category behaviour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0B3D91"/>
                </a:solidFill>
                <a:latin typeface="Calibri"/>
              </a:defRPr>
            </a:pPr>
            <a:r>
              <a:t>Q4  Cohort Retention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2017-Q1 cohorts: ~27-30% retention at 3 months, ~29-31% at 6 months.</a:t>
            </a:r>
            <a:br/>
            <a:r>
              <a:t>Retention curve is remarkably flat month-to-month — the product doesn't leak customers fast.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5468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0B3D91"/>
                </a:solidFill>
                <a:latin typeface="Calibri"/>
              </a:defRPr>
            </a:pPr>
            <a:r>
              <a:t>Q5  Purchase 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FREQUENT buyers (avg gap &lt; 60 days) identified — top customer does 74 repeat purchases.</a:t>
            </a:r>
            <a:br/>
            <a:r>
              <a:t>SPENDING_UP vs SPENDING_DOWN flag aligns with CLV forecasts; feeds churn triggers.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663440"/>
            <a:ext cx="11247120" cy="13258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 i="0">
                <a:solidFill>
                  <a:srgbClr val="0B3D91"/>
                </a:solidFill>
                <a:latin typeface="Calibri"/>
              </a:defRPr>
            </a:pPr>
            <a:r>
              <a:t>Q6  Browse-to-Buy Affinity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Footwear (Shoes) browse → Apparel (Topwear) purchase  is the strongest cross-category signal.</a:t>
            </a:r>
            <a:br/>
            <a:r>
              <a:t>Lift metric drives  "while you're in X, consider Y"  recommendations.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12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84213B-91DA-829A-AAAC-ED5782983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88991"/>
            <a:ext cx="10905066" cy="488001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33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482A2-BF66-CBF3-CA91-A0DEDAF18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8"/>
            <a:ext cx="10905066" cy="493454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92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Stage 4 — Machine Learning (MLlib)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Three models, each mapping directly to a product lever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predicts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Product lever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Will this session convert? (0/1)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Real-time discount pop-ups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KMeans (k = 5)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Customer segment (RFM)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Lifecycle marketing, VIP programs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ALS (implicit)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Top-N products per user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"Customers like you also bought…"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9768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4434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0.9423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RF 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429768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4434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0.7659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983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RF  AUC-ROC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9768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4434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7AE60"/>
                </a:solidFill>
                <a:latin typeface="Calibri"/>
              </a:defRPr>
            </a:pPr>
            <a:r>
              <a:t>0.7129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983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KMeans silhouette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4297680"/>
            <a:ext cx="2743200" cy="12801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44348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28C28"/>
                </a:solidFill>
                <a:latin typeface="Calibri"/>
              </a:defRPr>
            </a:pPr>
            <a:r>
              <a:t>1.89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4983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ALS interactions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13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Model 1 — Random Forest: Session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Binary classifier: will this session end in a successful BOOKING?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Target: session_funnel.converted  (0 / 1)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Features: total_events, session_duration_mins, visited_homepage, did_search, added_to_cart, used_promo, num_keywords, traffic_source (OHE)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Sample: 150K sessions (of 895K) for codespace fit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Split: 80 / 20 train / test, seed = 42</a:t>
            </a:r>
          </a:p>
          <a:p>
            <a:pPr>
              <a:spcAft>
                <a:spcPts val="600"/>
              </a:spcAft>
              <a:defRPr sz="1200">
                <a:solidFill>
                  <a:srgbClr val="2C3E50"/>
                </a:solidFill>
                <a:latin typeface="Calibri"/>
              </a:defRPr>
            </a:pPr>
            <a:r>
              <a:t>•  Hyperparams: numTrees = 20, maxDepth = 5, subsamplingRate = 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92240" y="1920240"/>
          <a:ext cx="52120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0.9423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0.9288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AUC-ROC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0.7659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347472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0B3D91"/>
                </a:solidFill>
                <a:latin typeface="Calibri"/>
              </a:defRPr>
            </a:pPr>
            <a:r>
              <a:t>Feature importances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2240" y="3840480"/>
          <a:ext cx="52120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added_to_cart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0.6355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session_duration_mins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0.2204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total_events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0.1130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used_promo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0.0296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num_keywords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0.0008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1">
                <a:solidFill>
                  <a:srgbClr val="F28C28"/>
                </a:solidFill>
                <a:latin typeface="Calibri"/>
              </a:defRPr>
            </a:pPr>
            <a:r>
              <a:t>Takeaway:  cart-adds dominate conversion signal — exactly the moment to intervene with a promo.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14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06D8C8-4336-9A55-ACBE-643D97680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84410"/>
            <a:ext cx="10905066" cy="4689178"/>
          </a:xfrm>
          <a:prstGeom prst="rect">
            <a:avLst/>
          </a:prstGeom>
          <a:ln>
            <a:noFill/>
          </a:ln>
        </p:spPr>
      </p:pic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96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Model 2 — KMeans RFM Segmentation  (k =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Unsupervised segmentation over Recency / Frequency / Monetary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recency_days  = days since last successful booking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frequency     = distinct booking_id count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monetary      = sum(quantity × item_price)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StandardScaler (mean = 0, std = 1) before clustering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k = 5  (classic Champions / Loyal / Potential / At Risk / Hibernating)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Cluster profile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46520" y="1920240"/>
          <a:ext cx="5303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Cluster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Recency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Frequency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Monetary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0 — Core Customers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32,566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210 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6.1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3.1 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1 — Loyal Shoppers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8,850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36 d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33.8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18.7 M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2 — VIPs / Champions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394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30 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210.3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115.9 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3 — Hibernating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5,899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1324 d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1.2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0.6 M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4 — Rising Loyalists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2,533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24 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90.2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49.8 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21208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10972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0B3D91"/>
                </a:solidFill>
                <a:latin typeface="Calibri"/>
              </a:defRPr>
            </a:pPr>
            <a:r>
              <a:t>Silhouette = 0.7129  →  strong separation.  The 394-customer VIP cluster is where revenue protection should concentrate.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15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2C6990-D73B-4C19-769F-F3CFE2D5C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61727"/>
            <a:ext cx="10905066" cy="4934544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0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Model 3 — ALS Collaborative Filtering Recommender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Implicit-feedback factorization over customer × product interactions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Interaction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Successful purchase (transactions_exploded) → rating 5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Added to cart (cart_events × session→customer) → rating 3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MAX(rating) per (customer, product) to de-dup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implicitPrefs = True  — rating is treated as confidence weight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Hyperparams: rank = 8, maxIter = 5, regParam = 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Scale of the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1.89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Interactions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92024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20574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50,705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0896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44,446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Items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108960"/>
            <a:ext cx="2560320" cy="1005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324612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28C28"/>
                </a:solidFill>
                <a:latin typeface="Calibri"/>
              </a:defRPr>
            </a:pPr>
            <a:r>
              <a:t>99.92 %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79476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Sparsity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8056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0B3D91"/>
                </a:solidFill>
                <a:latin typeface="Calibri"/>
              </a:defRPr>
            </a:pPr>
            <a:r>
              <a:t>Sample output  — 200 users × top-5 recommendations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2C3E50"/>
                </a:solidFill>
                <a:latin typeface="Calibri"/>
              </a:defRPr>
            </a:pPr>
            <a:r>
              <a:t>Customer #67 → Benetton handbag, Puma leather shoe, Baggit handbag, Puma canvas shoe, Catwalk heels.</a:t>
            </a:r>
            <a:br/>
            <a:r>
              <a:t>Customer #161 → Benetton handbag, Puma leather shoe, Baggit orange handbag, Kiara black handbag, Provogue formal shoe.</a:t>
            </a:r>
            <a:br/>
            <a:r>
              <a:t>RMSE = 4.36 on a 0-5 implicit-confidence scale  —  acceptable for a 99.92%-sparse matrix.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16 / 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78D4FF-5B33-497F-943F-AE4B20332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520613"/>
            <a:ext cx="10905066" cy="381677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179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Stage 5 — Structured 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From batch analytics → real-time decisioning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Simulator: reconstructs raw event_metadata from cs_* columns, drip-feeds JSON batches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readStream().json()  with  maxFilesPerTrigger = 5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regexp_replace + from_json → typed event payload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Stream-static JOIN with products_clean (auto-broadcast)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5-minute tumbling window,  10-minute watermark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Two concurrent queries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Q1 — category trending (console sink) — what's hot right now?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Q2 — session engagement (memory sink) — per-session event count, cart flag, booking flag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Post-stream: high-intent sessions (cart, no booking) — trigger a promo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Anomaly detection: μ + 2σ event count — flag bot-like / aggressive sessions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21208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53492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1,500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Events simulated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521208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0" y="53492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897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JSON batches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521208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53492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3D91"/>
                </a:solidFill>
                <a:latin typeface="Calibri"/>
              </a:defRPr>
            </a:pPr>
            <a:r>
              <a:t>246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897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Sessions scored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5212080"/>
            <a:ext cx="2743200" cy="10972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9525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53492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28C2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5897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C3E50"/>
                </a:solidFill>
                <a:latin typeface="Calibri"/>
              </a:defRPr>
            </a:pPr>
            <a:r>
              <a:t>Anomalies flagged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17 /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D3041D-5C41-19F7-D02D-6678B3760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Alerts &amp; Actions: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60941A-7011-F17F-8096-A3313D1D1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45" y="2072640"/>
            <a:ext cx="9173635" cy="4128135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7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Business Outcomes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 / Pipeline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Business lever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Segment the customer base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KMeans RFM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394 VIPs → revenue protection program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Predict session conversion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Random Forest  (AUC 0.77)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Trigger in-session promo on cart-adds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Recommend next purchase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ALS  (top-5 per user)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Cross-sell carousel → AOV uplift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Spot high-intent bouncers live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Streaming Q2 + filter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10% pop-up before the tab closes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Detect anomalous sessions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Streaming μ + 2σ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Fraud / bot flag for security ops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Track lifecycle retention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SQL cohort retention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Measure marketing campaign ROI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394960"/>
            <a:ext cx="11247120" cy="1005840"/>
          </a:xfrm>
          <a:prstGeom prst="roundRect">
            <a:avLst>
              <a:gd name="adj" fmla="val 6000"/>
            </a:avLst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972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All four Spark components (Structured APIs • SQL • MLlib • Streaming) are exercised with measurable, production-shaped deliverables.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18 / 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Engineering decisions behind the numbers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4592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we did</a:t>
                      </a:r>
                    </a:p>
                  </a:txBody>
                  <a:tcPr marT="36576" marB="36576">
                    <a:solidFill>
                      <a:srgbClr val="0B3D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8 GB RAM codespace → default 1 GB Spark driver heap OOM'd on RF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Set  PYSPARK_SUBMIT_ARGS  with  --driver-memory 3g  before JVM boot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895 K-row session_funnel bloated tree training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Sampled 150 K rows, reduced RF to 20 trees × depth 5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recommendForAllUsers() exploded driver memory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Switched to  recommendForUserSubset(200)  for the demo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12.8 M clickstream × transactions join in Q6 aborted JVM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TABLESAMPLE (10 PERCENT)  on clickstream in SQL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Raw CSV lives on S3, not locally → streaming simulator failed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Sample from clickstream_clean and reconstruct event_metadata dict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C3E50"/>
                          </a:solidFill>
                          <a:latin typeface="Calibri"/>
                        </a:rPr>
                        <a:t>event_metadata is single-quoted Python-dict, not JSON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C3E50"/>
                          </a:solidFill>
                          <a:latin typeface="Calibri"/>
                        </a:rPr>
                        <a:t>regexp_replace → from_json  — pattern reused in both ingestion and streaming</a:t>
                      </a:r>
                    </a:p>
                  </a:txBody>
                  <a:tcPr marT="36576" marB="36576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19 / 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640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3D91"/>
                </a:solidFill>
                <a:latin typeface="Calibri"/>
              </a:defRPr>
            </a:pPr>
            <a:r>
              <a:t>Future Work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What comes after the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Move simulated stream onto Kafka for production-grade ingest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Deploy RF model behind a streaming foreachBatch — real-time scoring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A/B-test the discount pop-up triggered by the conversion model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Replace ALS with a two-tower neural recommender for content + behaviour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Automate end-to-end with Airflow / Databricks Jobs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Add a Streamlit dashboard on top of the session-score memory sink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 i="0">
                <a:solidFill>
                  <a:srgbClr val="0B3D91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Spark scales from 12.8 M-row batch joins to sub-second streaming — one engine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EDA-driven feature engineering produced an AUC-0.77 RF with only 8 features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Modular Parquet tables mean every downstream stage reuses the same source of truth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Streaming pattern generalises: any real-time signal → foreachBatch decision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  <a:latin typeface="Calibri"/>
              </a:defRPr>
            </a:pPr>
            <a:r>
              <a:t>•  Cloud-native design means the prototype deploys to Databricks / EMR without refactoring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Thank you  •  Questions?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7F8C8D"/>
                </a:solidFill>
              </a:defRPr>
            </a:pPr>
            <a:r>
              <a:t>Group 6 • ITCS 6190/8190 • Cloud Computing for Data Analysis     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2855</Words>
  <Application>Microsoft Macintosh PowerPoint</Application>
  <PresentationFormat>Widescreen</PresentationFormat>
  <Paragraphs>451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Alerts &amp; Actions: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Pratik Nichit</dc:creator>
  <cp:keywords/>
  <dc:description>generated using python-pptx</dc:description>
  <cp:lastModifiedBy>Dattasai Viswas Yadati</cp:lastModifiedBy>
  <cp:revision>3</cp:revision>
  <dcterms:created xsi:type="dcterms:W3CDTF">2013-01-27T09:14:16Z</dcterms:created>
  <dcterms:modified xsi:type="dcterms:W3CDTF">2026-04-22T21:13:32Z</dcterms:modified>
  <cp:category/>
</cp:coreProperties>
</file>