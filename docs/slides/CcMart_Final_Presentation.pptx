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498079" cy="6858000"/>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79" y="0"/>
            <a:ext cx="4690873"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79" y="0"/>
            <a:ext cx="36576" cy="685800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43891"/>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02920"/>
            <a:ext cx="6858000" cy="256032"/>
          </a:xfrm>
          <a:prstGeom prst="rect">
            <a:avLst/>
          </a:prstGeom>
          <a:noFill/>
        </p:spPr>
        <p:txBody>
          <a:bodyPr wrap="square">
            <a:spAutoFit/>
          </a:bodyPr>
          <a:lstStyle/>
          <a:p>
            <a:pPr algn="l"/>
            <a:r>
              <a:rPr sz="900" b="0" i="0">
                <a:solidFill>
                  <a:srgbClr val="7A8CC4"/>
                </a:solidFill>
                <a:latin typeface="Calibri"/>
              </a:rPr>
              <a:t>CLOUD COMPUTING  ·  GROUP 6  ·  FINAL PROJECT</a:t>
            </a:r>
          </a:p>
        </p:txBody>
      </p:sp>
      <p:sp>
        <p:nvSpPr>
          <p:cNvPr id="8" name="TextBox 7"/>
          <p:cNvSpPr txBox="1"/>
          <p:nvPr/>
        </p:nvSpPr>
        <p:spPr>
          <a:xfrm>
            <a:off x="457200" y="1051560"/>
            <a:ext cx="6858000" cy="1005840"/>
          </a:xfrm>
          <a:prstGeom prst="rect">
            <a:avLst/>
          </a:prstGeom>
          <a:noFill/>
        </p:spPr>
        <p:txBody>
          <a:bodyPr wrap="square">
            <a:spAutoFit/>
          </a:bodyPr>
          <a:lstStyle/>
          <a:p>
            <a:pPr algn="l"/>
            <a:r>
              <a:rPr sz="6200" b="1" i="0">
                <a:solidFill>
                  <a:srgbClr val="FFFFFF"/>
                </a:solidFill>
                <a:latin typeface="Calibri"/>
              </a:rPr>
              <a:t>CcMart</a:t>
            </a:r>
          </a:p>
        </p:txBody>
      </p:sp>
      <p:sp>
        <p:nvSpPr>
          <p:cNvPr id="9" name="TextBox 8"/>
          <p:cNvSpPr txBox="1"/>
          <p:nvPr/>
        </p:nvSpPr>
        <p:spPr>
          <a:xfrm>
            <a:off x="457200" y="2011680"/>
            <a:ext cx="6858000" cy="640080"/>
          </a:xfrm>
          <a:prstGeom prst="rect">
            <a:avLst/>
          </a:prstGeom>
          <a:noFill/>
        </p:spPr>
        <p:txBody>
          <a:bodyPr wrap="square">
            <a:spAutoFit/>
          </a:bodyPr>
          <a:lstStyle/>
          <a:p>
            <a:pPr algn="l"/>
            <a:r>
              <a:rPr sz="2600" b="0" i="0">
                <a:solidFill>
                  <a:srgbClr val="A8BEF4"/>
                </a:solidFill>
                <a:latin typeface="Calibri"/>
              </a:rPr>
              <a:t>Real-Time E-Commerce Analytics</a:t>
            </a:r>
          </a:p>
        </p:txBody>
      </p:sp>
      <p:sp>
        <p:nvSpPr>
          <p:cNvPr id="10" name="TextBox 9"/>
          <p:cNvSpPr txBox="1"/>
          <p:nvPr/>
        </p:nvSpPr>
        <p:spPr>
          <a:xfrm>
            <a:off x="457200" y="2578608"/>
            <a:ext cx="6858000" cy="502920"/>
          </a:xfrm>
          <a:prstGeom prst="rect">
            <a:avLst/>
          </a:prstGeom>
          <a:noFill/>
        </p:spPr>
        <p:txBody>
          <a:bodyPr wrap="square">
            <a:spAutoFit/>
          </a:bodyPr>
          <a:lstStyle/>
          <a:p>
            <a:pPr algn="l"/>
            <a:r>
              <a:rPr sz="2200" b="0" i="0">
                <a:solidFill>
                  <a:srgbClr val="7A90C8"/>
                </a:solidFill>
                <a:latin typeface="Calibri"/>
              </a:rPr>
              <a:t>Using Apache Spark</a:t>
            </a:r>
          </a:p>
        </p:txBody>
      </p:sp>
      <p:sp>
        <p:nvSpPr>
          <p:cNvPr id="11" name="Rectangle 10"/>
          <p:cNvSpPr/>
          <p:nvPr/>
        </p:nvSpPr>
        <p:spPr>
          <a:xfrm>
            <a:off x="457200" y="3246120"/>
            <a:ext cx="2011680" cy="27432"/>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01568"/>
            <a:ext cx="6858000" cy="777240"/>
          </a:xfrm>
          <a:prstGeom prst="rect">
            <a:avLst/>
          </a:prstGeom>
          <a:noFill/>
        </p:spPr>
        <p:txBody>
          <a:bodyPr wrap="square">
            <a:spAutoFit/>
          </a:bodyPr>
          <a:lstStyle/>
          <a:p>
            <a:pPr algn="l"/>
            <a:r>
              <a:rPr sz="1200" b="0" i="0">
                <a:solidFill>
                  <a:srgbClr val="B0BCD8"/>
                </a:solidFill>
                <a:latin typeface="Calibri"/>
              </a:rPr>
              <a:t>Transforming 12.8 million raw clickstream events into real-time business intelligence — using Apache Spark SQL, MLlib, and Structured Streaming.</a:t>
            </a:r>
          </a:p>
        </p:txBody>
      </p:sp>
      <p:sp>
        <p:nvSpPr>
          <p:cNvPr id="13" name="Rectangle 12"/>
          <p:cNvSpPr/>
          <p:nvPr/>
        </p:nvSpPr>
        <p:spPr>
          <a:xfrm>
            <a:off x="457200" y="4389120"/>
            <a:ext cx="1417320" cy="329184"/>
          </a:xfrm>
          <a:prstGeom prst="rect">
            <a:avLst/>
          </a:prstGeom>
          <a:solidFill>
            <a:srgbClr val="FFFFFF"/>
          </a:solidFill>
          <a:ln w="10160">
            <a:solidFill>
              <a:srgbClr val="1E6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389120"/>
            <a:ext cx="1417320" cy="329184"/>
          </a:xfrm>
          <a:prstGeom prst="rect">
            <a:avLst/>
          </a:prstGeom>
          <a:noFill/>
        </p:spPr>
        <p:txBody>
          <a:bodyPr wrap="square">
            <a:spAutoFit/>
          </a:bodyPr>
          <a:lstStyle/>
          <a:p>
            <a:pPr algn="ctr"/>
            <a:r>
              <a:rPr sz="950" b="1" i="0">
                <a:solidFill>
                  <a:srgbClr val="1E6FC8"/>
                </a:solidFill>
                <a:latin typeface="Calibri"/>
              </a:rPr>
              <a:t>Apache Spark</a:t>
            </a:r>
          </a:p>
        </p:txBody>
      </p:sp>
      <p:sp>
        <p:nvSpPr>
          <p:cNvPr id="15" name="Rectangle 14"/>
          <p:cNvSpPr/>
          <p:nvPr/>
        </p:nvSpPr>
        <p:spPr>
          <a:xfrm>
            <a:off x="1965960" y="4389120"/>
            <a:ext cx="1417320" cy="329184"/>
          </a:xfrm>
          <a:prstGeom prst="rect">
            <a:avLst/>
          </a:prstGeom>
          <a:solidFill>
            <a:srgbClr val="FFFFFF"/>
          </a:solidFill>
          <a:ln w="10160">
            <a:solidFill>
              <a:srgbClr val="6C3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65960" y="4389120"/>
            <a:ext cx="1417320" cy="329184"/>
          </a:xfrm>
          <a:prstGeom prst="rect">
            <a:avLst/>
          </a:prstGeom>
          <a:noFill/>
        </p:spPr>
        <p:txBody>
          <a:bodyPr wrap="square">
            <a:spAutoFit/>
          </a:bodyPr>
          <a:lstStyle/>
          <a:p>
            <a:pPr algn="ctr"/>
            <a:r>
              <a:rPr sz="950" b="1" i="0">
                <a:solidFill>
                  <a:srgbClr val="6C3FC4"/>
                </a:solidFill>
                <a:latin typeface="Calibri"/>
              </a:rPr>
              <a:t>PySpark MLlib</a:t>
            </a:r>
          </a:p>
        </p:txBody>
      </p:sp>
      <p:sp>
        <p:nvSpPr>
          <p:cNvPr id="17" name="Rectangle 16"/>
          <p:cNvSpPr/>
          <p:nvPr/>
        </p:nvSpPr>
        <p:spPr>
          <a:xfrm>
            <a:off x="3474720" y="4389120"/>
            <a:ext cx="1417320" cy="329184"/>
          </a:xfrm>
          <a:prstGeom prst="rect">
            <a:avLst/>
          </a:prstGeom>
          <a:solidFill>
            <a:srgbClr val="FFFFFF"/>
          </a:solidFill>
          <a:ln w="10160">
            <a:solidFill>
              <a:srgbClr val="08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0" y="4389120"/>
            <a:ext cx="1417320" cy="329184"/>
          </a:xfrm>
          <a:prstGeom prst="rect">
            <a:avLst/>
          </a:prstGeom>
          <a:noFill/>
        </p:spPr>
        <p:txBody>
          <a:bodyPr wrap="square">
            <a:spAutoFit/>
          </a:bodyPr>
          <a:lstStyle/>
          <a:p>
            <a:pPr algn="ctr"/>
            <a:r>
              <a:rPr sz="950" b="1" i="0">
                <a:solidFill>
                  <a:srgbClr val="087079"/>
                </a:solidFill>
                <a:latin typeface="Calibri"/>
              </a:rPr>
              <a:t>Spark SQL</a:t>
            </a:r>
          </a:p>
        </p:txBody>
      </p:sp>
      <p:sp>
        <p:nvSpPr>
          <p:cNvPr id="19" name="Rectangle 18"/>
          <p:cNvSpPr/>
          <p:nvPr/>
        </p:nvSpPr>
        <p:spPr>
          <a:xfrm>
            <a:off x="4983480" y="4389120"/>
            <a:ext cx="1417320" cy="329184"/>
          </a:xfrm>
          <a:prstGeom prst="rect">
            <a:avLst/>
          </a:prstGeom>
          <a:solidFill>
            <a:srgbClr val="FFFFFF"/>
          </a:solidFill>
          <a:ln w="10160">
            <a:solidFill>
              <a:srgbClr val="0F9B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3480" y="4389120"/>
            <a:ext cx="1417320" cy="329184"/>
          </a:xfrm>
          <a:prstGeom prst="rect">
            <a:avLst/>
          </a:prstGeom>
          <a:noFill/>
        </p:spPr>
        <p:txBody>
          <a:bodyPr wrap="square">
            <a:spAutoFit/>
          </a:bodyPr>
          <a:lstStyle/>
          <a:p>
            <a:pPr algn="ctr"/>
            <a:r>
              <a:rPr sz="950" b="1" i="0">
                <a:solidFill>
                  <a:srgbClr val="0F9B56"/>
                </a:solidFill>
                <a:latin typeface="Calibri"/>
              </a:rPr>
              <a:t>Streaming</a:t>
            </a:r>
          </a:p>
        </p:txBody>
      </p:sp>
      <p:sp>
        <p:nvSpPr>
          <p:cNvPr id="21" name="Rectangle 20"/>
          <p:cNvSpPr/>
          <p:nvPr/>
        </p:nvSpPr>
        <p:spPr>
          <a:xfrm>
            <a:off x="6492240" y="4389120"/>
            <a:ext cx="1417320" cy="329184"/>
          </a:xfrm>
          <a:prstGeom prst="rect">
            <a:avLst/>
          </a:prstGeom>
          <a:solidFill>
            <a:srgbClr val="FFFFFF"/>
          </a:solidFill>
          <a:ln w="1016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389120"/>
            <a:ext cx="1417320" cy="329184"/>
          </a:xfrm>
          <a:prstGeom prst="rect">
            <a:avLst/>
          </a:prstGeom>
          <a:noFill/>
        </p:spPr>
        <p:txBody>
          <a:bodyPr wrap="square">
            <a:spAutoFit/>
          </a:bodyPr>
          <a:lstStyle/>
          <a:p>
            <a:pPr algn="ctr"/>
            <a:r>
              <a:rPr sz="950" b="1" i="0">
                <a:solidFill>
                  <a:srgbClr val="D46B08"/>
                </a:solidFill>
                <a:latin typeface="Calibri"/>
              </a:rPr>
              <a:t>BI Dashboard</a:t>
            </a:r>
          </a:p>
        </p:txBody>
      </p:sp>
      <p:sp>
        <p:nvSpPr>
          <p:cNvPr id="23" name="TextBox 22"/>
          <p:cNvSpPr txBox="1"/>
          <p:nvPr/>
        </p:nvSpPr>
        <p:spPr>
          <a:xfrm>
            <a:off x="7818120" y="868680"/>
            <a:ext cx="4069080" cy="320040"/>
          </a:xfrm>
          <a:prstGeom prst="rect">
            <a:avLst/>
          </a:prstGeom>
          <a:noFill/>
        </p:spPr>
        <p:txBody>
          <a:bodyPr wrap="square">
            <a:spAutoFit/>
          </a:bodyPr>
          <a:lstStyle/>
          <a:p>
            <a:pPr algn="l"/>
            <a:r>
              <a:rPr sz="1200" b="1" i="0">
                <a:solidFill>
                  <a:srgbClr val="14235E"/>
                </a:solidFill>
                <a:latin typeface="Calibri"/>
              </a:rPr>
              <a:t>What This Presentation Covers</a:t>
            </a:r>
          </a:p>
        </p:txBody>
      </p:sp>
      <p:sp>
        <p:nvSpPr>
          <p:cNvPr id="24" name="Rectangle 23"/>
          <p:cNvSpPr/>
          <p:nvPr/>
        </p:nvSpPr>
        <p:spPr>
          <a:xfrm>
            <a:off x="7818120" y="1280160"/>
            <a:ext cx="4069080" cy="475488"/>
          </a:xfrm>
          <a:prstGeom prst="rect">
            <a:avLst/>
          </a:prstGeom>
          <a:solidFill>
            <a:srgbClr val="F4F6FA"/>
          </a:solidFill>
          <a:ln w="381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18120" y="1280160"/>
            <a:ext cx="36576" cy="475488"/>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18704" y="1389888"/>
            <a:ext cx="320040" cy="256032"/>
          </a:xfrm>
          <a:prstGeom prst="rect">
            <a:avLst/>
          </a:prstGeom>
          <a:noFill/>
        </p:spPr>
        <p:txBody>
          <a:bodyPr wrap="square">
            <a:spAutoFit/>
          </a:bodyPr>
          <a:lstStyle/>
          <a:p>
            <a:pPr algn="l"/>
            <a:r>
              <a:rPr sz="900" b="1" i="0">
                <a:solidFill>
                  <a:srgbClr val="C0322A"/>
                </a:solidFill>
                <a:latin typeface="Calibri"/>
              </a:rPr>
              <a:t>01</a:t>
            </a:r>
          </a:p>
        </p:txBody>
      </p:sp>
      <p:sp>
        <p:nvSpPr>
          <p:cNvPr id="27" name="TextBox 26"/>
          <p:cNvSpPr txBox="1"/>
          <p:nvPr/>
        </p:nvSpPr>
        <p:spPr>
          <a:xfrm>
            <a:off x="8284464" y="1389888"/>
            <a:ext cx="3547872" cy="256032"/>
          </a:xfrm>
          <a:prstGeom prst="rect">
            <a:avLst/>
          </a:prstGeom>
          <a:noFill/>
        </p:spPr>
        <p:txBody>
          <a:bodyPr wrap="square">
            <a:spAutoFit/>
          </a:bodyPr>
          <a:lstStyle/>
          <a:p>
            <a:pPr algn="l"/>
            <a:r>
              <a:rPr sz="1100" b="0" i="0">
                <a:solidFill>
                  <a:srgbClr val="444D6A"/>
                </a:solidFill>
                <a:latin typeface="Calibri"/>
              </a:rPr>
              <a:t>Problem Statement &amp; Goals</a:t>
            </a:r>
          </a:p>
        </p:txBody>
      </p:sp>
      <p:sp>
        <p:nvSpPr>
          <p:cNvPr id="28" name="Rectangle 27"/>
          <p:cNvSpPr/>
          <p:nvPr/>
        </p:nvSpPr>
        <p:spPr>
          <a:xfrm>
            <a:off x="7818120" y="1810512"/>
            <a:ext cx="4069080" cy="475488"/>
          </a:xfrm>
          <a:prstGeom prst="rect">
            <a:avLst/>
          </a:prstGeom>
          <a:solidFill>
            <a:srgbClr val="F4F6FA"/>
          </a:solidFill>
          <a:ln w="381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18120" y="1810512"/>
            <a:ext cx="36576" cy="475488"/>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18704" y="1920240"/>
            <a:ext cx="320040" cy="256032"/>
          </a:xfrm>
          <a:prstGeom prst="rect">
            <a:avLst/>
          </a:prstGeom>
          <a:noFill/>
        </p:spPr>
        <p:txBody>
          <a:bodyPr wrap="square">
            <a:spAutoFit/>
          </a:bodyPr>
          <a:lstStyle/>
          <a:p>
            <a:pPr algn="l"/>
            <a:r>
              <a:rPr sz="900" b="1" i="0">
                <a:solidFill>
                  <a:srgbClr val="1E6FC8"/>
                </a:solidFill>
                <a:latin typeface="Calibri"/>
              </a:rPr>
              <a:t>02</a:t>
            </a:r>
          </a:p>
        </p:txBody>
      </p:sp>
      <p:sp>
        <p:nvSpPr>
          <p:cNvPr id="31" name="TextBox 30"/>
          <p:cNvSpPr txBox="1"/>
          <p:nvPr/>
        </p:nvSpPr>
        <p:spPr>
          <a:xfrm>
            <a:off x="8284464" y="1920240"/>
            <a:ext cx="3547872" cy="256032"/>
          </a:xfrm>
          <a:prstGeom prst="rect">
            <a:avLst/>
          </a:prstGeom>
          <a:noFill/>
        </p:spPr>
        <p:txBody>
          <a:bodyPr wrap="square">
            <a:spAutoFit/>
          </a:bodyPr>
          <a:lstStyle/>
          <a:p>
            <a:pPr algn="l"/>
            <a:r>
              <a:rPr sz="1100" b="0" i="0">
                <a:solidFill>
                  <a:srgbClr val="444D6A"/>
                </a:solidFill>
                <a:latin typeface="Calibri"/>
              </a:rPr>
              <a:t>Why Apache Spark?</a:t>
            </a:r>
          </a:p>
        </p:txBody>
      </p:sp>
      <p:sp>
        <p:nvSpPr>
          <p:cNvPr id="32" name="Rectangle 31"/>
          <p:cNvSpPr/>
          <p:nvPr/>
        </p:nvSpPr>
        <p:spPr>
          <a:xfrm>
            <a:off x="7818120" y="2340864"/>
            <a:ext cx="4069080" cy="475488"/>
          </a:xfrm>
          <a:prstGeom prst="rect">
            <a:avLst/>
          </a:prstGeom>
          <a:solidFill>
            <a:srgbClr val="F4F6FA"/>
          </a:solidFill>
          <a:ln w="381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18120" y="2340864"/>
            <a:ext cx="36576" cy="475488"/>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18704" y="2450592"/>
            <a:ext cx="320040" cy="256032"/>
          </a:xfrm>
          <a:prstGeom prst="rect">
            <a:avLst/>
          </a:prstGeom>
          <a:noFill/>
        </p:spPr>
        <p:txBody>
          <a:bodyPr wrap="square">
            <a:spAutoFit/>
          </a:bodyPr>
          <a:lstStyle/>
          <a:p>
            <a:pPr algn="l"/>
            <a:r>
              <a:rPr sz="900" b="1" i="0">
                <a:solidFill>
                  <a:srgbClr val="087079"/>
                </a:solidFill>
                <a:latin typeface="Calibri"/>
              </a:rPr>
              <a:t>03</a:t>
            </a:r>
          </a:p>
        </p:txBody>
      </p:sp>
      <p:sp>
        <p:nvSpPr>
          <p:cNvPr id="35" name="TextBox 34"/>
          <p:cNvSpPr txBox="1"/>
          <p:nvPr/>
        </p:nvSpPr>
        <p:spPr>
          <a:xfrm>
            <a:off x="8284464" y="2450592"/>
            <a:ext cx="3547872" cy="256032"/>
          </a:xfrm>
          <a:prstGeom prst="rect">
            <a:avLst/>
          </a:prstGeom>
          <a:noFill/>
        </p:spPr>
        <p:txBody>
          <a:bodyPr wrap="square">
            <a:spAutoFit/>
          </a:bodyPr>
          <a:lstStyle/>
          <a:p>
            <a:pPr algn="l"/>
            <a:r>
              <a:rPr sz="1100" b="0" i="0">
                <a:solidFill>
                  <a:srgbClr val="444D6A"/>
                </a:solidFill>
                <a:latin typeface="Calibri"/>
              </a:rPr>
              <a:t>Data &amp; Exploratory Analysis</a:t>
            </a:r>
          </a:p>
        </p:txBody>
      </p:sp>
      <p:sp>
        <p:nvSpPr>
          <p:cNvPr id="36" name="Rectangle 35"/>
          <p:cNvSpPr/>
          <p:nvPr/>
        </p:nvSpPr>
        <p:spPr>
          <a:xfrm>
            <a:off x="7818120" y="2871216"/>
            <a:ext cx="4069080" cy="475488"/>
          </a:xfrm>
          <a:prstGeom prst="rect">
            <a:avLst/>
          </a:prstGeom>
          <a:solidFill>
            <a:srgbClr val="F4F6FA"/>
          </a:solidFill>
          <a:ln w="381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818120" y="2871216"/>
            <a:ext cx="36576" cy="475488"/>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18704" y="2980944"/>
            <a:ext cx="320040" cy="256032"/>
          </a:xfrm>
          <a:prstGeom prst="rect">
            <a:avLst/>
          </a:prstGeom>
          <a:noFill/>
        </p:spPr>
        <p:txBody>
          <a:bodyPr wrap="square">
            <a:spAutoFit/>
          </a:bodyPr>
          <a:lstStyle/>
          <a:p>
            <a:pPr algn="l"/>
            <a:r>
              <a:rPr sz="900" b="1" i="0">
                <a:solidFill>
                  <a:srgbClr val="6C3FC4"/>
                </a:solidFill>
                <a:latin typeface="Calibri"/>
              </a:rPr>
              <a:t>04</a:t>
            </a:r>
          </a:p>
        </p:txBody>
      </p:sp>
      <p:sp>
        <p:nvSpPr>
          <p:cNvPr id="39" name="TextBox 38"/>
          <p:cNvSpPr txBox="1"/>
          <p:nvPr/>
        </p:nvSpPr>
        <p:spPr>
          <a:xfrm>
            <a:off x="8284464" y="2980944"/>
            <a:ext cx="3547872" cy="256032"/>
          </a:xfrm>
          <a:prstGeom prst="rect">
            <a:avLst/>
          </a:prstGeom>
          <a:noFill/>
        </p:spPr>
        <p:txBody>
          <a:bodyPr wrap="square">
            <a:spAutoFit/>
          </a:bodyPr>
          <a:lstStyle/>
          <a:p>
            <a:pPr algn="l"/>
            <a:r>
              <a:rPr sz="1100" b="0" i="0">
                <a:solidFill>
                  <a:srgbClr val="444D6A"/>
                </a:solidFill>
                <a:latin typeface="Calibri"/>
              </a:rPr>
              <a:t>Spark SQL — 6 Advanced Queries</a:t>
            </a:r>
          </a:p>
        </p:txBody>
      </p:sp>
      <p:sp>
        <p:nvSpPr>
          <p:cNvPr id="40" name="Rectangle 39"/>
          <p:cNvSpPr/>
          <p:nvPr/>
        </p:nvSpPr>
        <p:spPr>
          <a:xfrm>
            <a:off x="7818120" y="3401568"/>
            <a:ext cx="4069080" cy="475488"/>
          </a:xfrm>
          <a:prstGeom prst="rect">
            <a:avLst/>
          </a:prstGeom>
          <a:solidFill>
            <a:srgbClr val="F4F6FA"/>
          </a:solidFill>
          <a:ln w="381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18120" y="3401568"/>
            <a:ext cx="36576" cy="475488"/>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18704" y="3511296"/>
            <a:ext cx="320040" cy="256032"/>
          </a:xfrm>
          <a:prstGeom prst="rect">
            <a:avLst/>
          </a:prstGeom>
          <a:noFill/>
        </p:spPr>
        <p:txBody>
          <a:bodyPr wrap="square">
            <a:spAutoFit/>
          </a:bodyPr>
          <a:lstStyle/>
          <a:p>
            <a:pPr algn="l"/>
            <a:r>
              <a:rPr sz="900" b="1" i="0">
                <a:solidFill>
                  <a:srgbClr val="D46B08"/>
                </a:solidFill>
                <a:latin typeface="Calibri"/>
              </a:rPr>
              <a:t>05</a:t>
            </a:r>
          </a:p>
        </p:txBody>
      </p:sp>
      <p:sp>
        <p:nvSpPr>
          <p:cNvPr id="43" name="TextBox 42"/>
          <p:cNvSpPr txBox="1"/>
          <p:nvPr/>
        </p:nvSpPr>
        <p:spPr>
          <a:xfrm>
            <a:off x="8284464" y="3511296"/>
            <a:ext cx="3547872" cy="256032"/>
          </a:xfrm>
          <a:prstGeom prst="rect">
            <a:avLst/>
          </a:prstGeom>
          <a:noFill/>
        </p:spPr>
        <p:txBody>
          <a:bodyPr wrap="square">
            <a:spAutoFit/>
          </a:bodyPr>
          <a:lstStyle/>
          <a:p>
            <a:pPr algn="l"/>
            <a:r>
              <a:rPr sz="1100" b="0" i="0">
                <a:solidFill>
                  <a:srgbClr val="444D6A"/>
                </a:solidFill>
                <a:latin typeface="Calibri"/>
              </a:rPr>
              <a:t>Machine Learning — 3 Models</a:t>
            </a:r>
          </a:p>
        </p:txBody>
      </p:sp>
      <p:sp>
        <p:nvSpPr>
          <p:cNvPr id="44" name="Rectangle 43"/>
          <p:cNvSpPr/>
          <p:nvPr/>
        </p:nvSpPr>
        <p:spPr>
          <a:xfrm>
            <a:off x="7818120" y="3931920"/>
            <a:ext cx="4069080" cy="475488"/>
          </a:xfrm>
          <a:prstGeom prst="rect">
            <a:avLst/>
          </a:prstGeom>
          <a:solidFill>
            <a:srgbClr val="F4F6FA"/>
          </a:solidFill>
          <a:ln w="381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818120" y="3931920"/>
            <a:ext cx="36576" cy="475488"/>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18704" y="4041648"/>
            <a:ext cx="320040" cy="256032"/>
          </a:xfrm>
          <a:prstGeom prst="rect">
            <a:avLst/>
          </a:prstGeom>
          <a:noFill/>
        </p:spPr>
        <p:txBody>
          <a:bodyPr wrap="square">
            <a:spAutoFit/>
          </a:bodyPr>
          <a:lstStyle/>
          <a:p>
            <a:pPr algn="l"/>
            <a:r>
              <a:rPr sz="900" b="1" i="0">
                <a:solidFill>
                  <a:srgbClr val="0F9B56"/>
                </a:solidFill>
                <a:latin typeface="Calibri"/>
              </a:rPr>
              <a:t>06</a:t>
            </a:r>
          </a:p>
        </p:txBody>
      </p:sp>
      <p:sp>
        <p:nvSpPr>
          <p:cNvPr id="47" name="TextBox 46"/>
          <p:cNvSpPr txBox="1"/>
          <p:nvPr/>
        </p:nvSpPr>
        <p:spPr>
          <a:xfrm>
            <a:off x="8284464" y="4041648"/>
            <a:ext cx="3547872" cy="256032"/>
          </a:xfrm>
          <a:prstGeom prst="rect">
            <a:avLst/>
          </a:prstGeom>
          <a:noFill/>
        </p:spPr>
        <p:txBody>
          <a:bodyPr wrap="square">
            <a:spAutoFit/>
          </a:bodyPr>
          <a:lstStyle/>
          <a:p>
            <a:pPr algn="l"/>
            <a:r>
              <a:rPr sz="1100" b="0" i="0">
                <a:solidFill>
                  <a:srgbClr val="444D6A"/>
                </a:solidFill>
                <a:latin typeface="Calibri"/>
              </a:rPr>
              <a:t>Real-Time Streaming</a:t>
            </a:r>
          </a:p>
        </p:txBody>
      </p:sp>
      <p:sp>
        <p:nvSpPr>
          <p:cNvPr id="48" name="Rectangle 47"/>
          <p:cNvSpPr/>
          <p:nvPr/>
        </p:nvSpPr>
        <p:spPr>
          <a:xfrm>
            <a:off x="7818120" y="4462272"/>
            <a:ext cx="4069080" cy="475488"/>
          </a:xfrm>
          <a:prstGeom prst="rect">
            <a:avLst/>
          </a:prstGeom>
          <a:solidFill>
            <a:srgbClr val="F4F6FA"/>
          </a:solidFill>
          <a:ln w="381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818120" y="4462272"/>
            <a:ext cx="36576" cy="475488"/>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18704" y="4572000"/>
            <a:ext cx="320040" cy="256032"/>
          </a:xfrm>
          <a:prstGeom prst="rect">
            <a:avLst/>
          </a:prstGeom>
          <a:noFill/>
        </p:spPr>
        <p:txBody>
          <a:bodyPr wrap="square">
            <a:spAutoFit/>
          </a:bodyPr>
          <a:lstStyle/>
          <a:p>
            <a:pPr algn="l"/>
            <a:r>
              <a:rPr sz="900" b="1" i="0">
                <a:solidFill>
                  <a:srgbClr val="1E6FC8"/>
                </a:solidFill>
                <a:latin typeface="Calibri"/>
              </a:rPr>
              <a:t>07</a:t>
            </a:r>
          </a:p>
        </p:txBody>
      </p:sp>
      <p:sp>
        <p:nvSpPr>
          <p:cNvPr id="51" name="TextBox 50"/>
          <p:cNvSpPr txBox="1"/>
          <p:nvPr/>
        </p:nvSpPr>
        <p:spPr>
          <a:xfrm>
            <a:off x="8284464" y="4572000"/>
            <a:ext cx="3547872" cy="256032"/>
          </a:xfrm>
          <a:prstGeom prst="rect">
            <a:avLst/>
          </a:prstGeom>
          <a:noFill/>
        </p:spPr>
        <p:txBody>
          <a:bodyPr wrap="square">
            <a:spAutoFit/>
          </a:bodyPr>
          <a:lstStyle/>
          <a:p>
            <a:pPr algn="l"/>
            <a:r>
              <a:rPr sz="1100" b="0" i="0">
                <a:solidFill>
                  <a:srgbClr val="444D6A"/>
                </a:solidFill>
                <a:latin typeface="Calibri"/>
              </a:rPr>
              <a:t>Business Dashboard &amp; Simulation</a:t>
            </a:r>
          </a:p>
        </p:txBody>
      </p:sp>
      <p:sp>
        <p:nvSpPr>
          <p:cNvPr id="52" name="Rectangle 51"/>
          <p:cNvSpPr/>
          <p:nvPr/>
        </p:nvSpPr>
        <p:spPr>
          <a:xfrm>
            <a:off x="7818120" y="4992624"/>
            <a:ext cx="4069080" cy="475488"/>
          </a:xfrm>
          <a:prstGeom prst="rect">
            <a:avLst/>
          </a:prstGeom>
          <a:solidFill>
            <a:srgbClr val="F4F6FA"/>
          </a:solidFill>
          <a:ln w="381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818120" y="4992624"/>
            <a:ext cx="36576" cy="475488"/>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18704" y="5102352"/>
            <a:ext cx="320040" cy="256032"/>
          </a:xfrm>
          <a:prstGeom prst="rect">
            <a:avLst/>
          </a:prstGeom>
          <a:noFill/>
        </p:spPr>
        <p:txBody>
          <a:bodyPr wrap="square">
            <a:spAutoFit/>
          </a:bodyPr>
          <a:lstStyle/>
          <a:p>
            <a:pPr algn="l"/>
            <a:r>
              <a:rPr sz="900" b="1" i="0">
                <a:solidFill>
                  <a:srgbClr val="0F9B56"/>
                </a:solidFill>
                <a:latin typeface="Calibri"/>
              </a:rPr>
              <a:t>08</a:t>
            </a:r>
          </a:p>
        </p:txBody>
      </p:sp>
      <p:sp>
        <p:nvSpPr>
          <p:cNvPr id="55" name="TextBox 54"/>
          <p:cNvSpPr txBox="1"/>
          <p:nvPr/>
        </p:nvSpPr>
        <p:spPr>
          <a:xfrm>
            <a:off x="8284464" y="5102352"/>
            <a:ext cx="3547872" cy="256032"/>
          </a:xfrm>
          <a:prstGeom prst="rect">
            <a:avLst/>
          </a:prstGeom>
          <a:noFill/>
        </p:spPr>
        <p:txBody>
          <a:bodyPr wrap="square">
            <a:spAutoFit/>
          </a:bodyPr>
          <a:lstStyle/>
          <a:p>
            <a:pPr algn="l"/>
            <a:r>
              <a:rPr sz="1100" b="0" i="0">
                <a:solidFill>
                  <a:srgbClr val="444D6A"/>
                </a:solidFill>
                <a:latin typeface="Calibri"/>
              </a:rPr>
              <a:t>Outcomes &amp; Business Impact</a:t>
            </a:r>
          </a:p>
        </p:txBody>
      </p:sp>
      <p:sp>
        <p:nvSpPr>
          <p:cNvPr id="56" name="Rectangle 55"/>
          <p:cNvSpPr/>
          <p:nvPr/>
        </p:nvSpPr>
        <p:spPr>
          <a:xfrm>
            <a:off x="7818120" y="5522976"/>
            <a:ext cx="4069080" cy="475488"/>
          </a:xfrm>
          <a:prstGeom prst="rect">
            <a:avLst/>
          </a:prstGeom>
          <a:solidFill>
            <a:srgbClr val="F4F6FA"/>
          </a:solidFill>
          <a:ln w="381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818120" y="5522976"/>
            <a:ext cx="36576" cy="475488"/>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918704" y="5632704"/>
            <a:ext cx="320040" cy="256032"/>
          </a:xfrm>
          <a:prstGeom prst="rect">
            <a:avLst/>
          </a:prstGeom>
          <a:noFill/>
        </p:spPr>
        <p:txBody>
          <a:bodyPr wrap="square">
            <a:spAutoFit/>
          </a:bodyPr>
          <a:lstStyle/>
          <a:p>
            <a:pPr algn="l"/>
            <a:r>
              <a:rPr sz="900" b="1" i="0">
                <a:solidFill>
                  <a:srgbClr val="14235E"/>
                </a:solidFill>
                <a:latin typeface="Calibri"/>
              </a:rPr>
              <a:t>09</a:t>
            </a:r>
          </a:p>
        </p:txBody>
      </p:sp>
      <p:sp>
        <p:nvSpPr>
          <p:cNvPr id="59" name="TextBox 58"/>
          <p:cNvSpPr txBox="1"/>
          <p:nvPr/>
        </p:nvSpPr>
        <p:spPr>
          <a:xfrm>
            <a:off x="8284464" y="5632704"/>
            <a:ext cx="3547872" cy="256032"/>
          </a:xfrm>
          <a:prstGeom prst="rect">
            <a:avLst/>
          </a:prstGeom>
          <a:noFill/>
        </p:spPr>
        <p:txBody>
          <a:bodyPr wrap="square">
            <a:spAutoFit/>
          </a:bodyPr>
          <a:lstStyle/>
          <a:p>
            <a:pPr algn="l"/>
            <a:r>
              <a:rPr sz="1100" b="0" i="0">
                <a:solidFill>
                  <a:srgbClr val="444D6A"/>
                </a:solidFill>
                <a:latin typeface="Calibri"/>
              </a:rPr>
              <a:t>Key Learnings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Problem Statement</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What challenge does this project solve — and why does it matter?</a:t>
            </a:r>
          </a:p>
        </p:txBody>
      </p:sp>
      <p:sp>
        <p:nvSpPr>
          <p:cNvPr id="7" name="Rectangle 6"/>
          <p:cNvSpPr/>
          <p:nvPr/>
        </p:nvSpPr>
        <p:spPr>
          <a:xfrm>
            <a:off x="502920" y="1316736"/>
            <a:ext cx="54864" cy="256032"/>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C0322A"/>
                </a:solidFill>
                <a:latin typeface="Calibri"/>
              </a:rPr>
              <a:t>01  ·  MOTIVATION &amp; GOALS</a:t>
            </a:r>
          </a:p>
        </p:txBody>
      </p:sp>
      <p:sp>
        <p:nvSpPr>
          <p:cNvPr id="9" name="Rectangle 8"/>
          <p:cNvSpPr/>
          <p:nvPr/>
        </p:nvSpPr>
        <p:spPr>
          <a:xfrm>
            <a:off x="502920" y="1664208"/>
            <a:ext cx="11173968" cy="868680"/>
          </a:xfrm>
          <a:prstGeom prst="rect">
            <a:avLst/>
          </a:prstGeom>
          <a:solidFill>
            <a:srgbClr val="FCECEA"/>
          </a:solidFill>
          <a:ln w="6350">
            <a:solidFill>
              <a:srgbClr val="C03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64208"/>
            <a:ext cx="54864" cy="868680"/>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10972800" cy="274320"/>
          </a:xfrm>
          <a:prstGeom prst="rect">
            <a:avLst/>
          </a:prstGeom>
          <a:noFill/>
        </p:spPr>
        <p:txBody>
          <a:bodyPr wrap="square">
            <a:spAutoFit/>
          </a:bodyPr>
          <a:lstStyle/>
          <a:p>
            <a:pPr algn="l"/>
            <a:r>
              <a:rPr sz="1200" b="1" i="0">
                <a:solidFill>
                  <a:srgbClr val="C0322A"/>
                </a:solidFill>
                <a:latin typeface="Calibri"/>
              </a:rPr>
              <a:t>The Core Problem</a:t>
            </a:r>
          </a:p>
        </p:txBody>
      </p:sp>
      <p:sp>
        <p:nvSpPr>
          <p:cNvPr id="12" name="TextBox 11"/>
          <p:cNvSpPr txBox="1"/>
          <p:nvPr/>
        </p:nvSpPr>
        <p:spPr>
          <a:xfrm>
            <a:off x="658368" y="2029968"/>
            <a:ext cx="10972800" cy="438912"/>
          </a:xfrm>
          <a:prstGeom prst="rect">
            <a:avLst/>
          </a:prstGeom>
          <a:noFill/>
        </p:spPr>
        <p:txBody>
          <a:bodyPr wrap="square">
            <a:spAutoFit/>
          </a:bodyPr>
          <a:lstStyle/>
          <a:p>
            <a:pPr algn="l"/>
            <a:r>
              <a:rPr sz="1150" b="0" i="0">
                <a:solidFill>
                  <a:srgbClr val="1A1D2E"/>
                </a:solidFill>
                <a:latin typeface="Calibri"/>
              </a:rPr>
              <a:t>E-commerce platforms generate millions of user events every day — every click, every add-to-cart, every payment. But most companies cannot process this data fast enough to act on it. By the time a report reaches the operations team, the opportunity to intervene has already long passed.</a:t>
            </a:r>
          </a:p>
        </p:txBody>
      </p:sp>
      <p:sp>
        <p:nvSpPr>
          <p:cNvPr id="13" name="Rectangle 12"/>
          <p:cNvSpPr/>
          <p:nvPr/>
        </p:nvSpPr>
        <p:spPr>
          <a:xfrm>
            <a:off x="502920" y="2670048"/>
            <a:ext cx="5376672" cy="1298448"/>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670048"/>
            <a:ext cx="50292" cy="1298448"/>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2761488"/>
            <a:ext cx="5175504" cy="256032"/>
          </a:xfrm>
          <a:prstGeom prst="rect">
            <a:avLst/>
          </a:prstGeom>
          <a:noFill/>
        </p:spPr>
        <p:txBody>
          <a:bodyPr wrap="square">
            <a:spAutoFit/>
          </a:bodyPr>
          <a:lstStyle/>
          <a:p>
            <a:pPr algn="l"/>
            <a:r>
              <a:rPr sz="1150" b="1" i="0">
                <a:solidFill>
                  <a:srgbClr val="1A1D2E"/>
                </a:solidFill>
                <a:latin typeface="Calibri"/>
              </a:rPr>
              <a:t>42% Cart Abandonment — Invisible</a:t>
            </a:r>
          </a:p>
        </p:txBody>
      </p:sp>
      <p:sp>
        <p:nvSpPr>
          <p:cNvPr id="16" name="TextBox 15"/>
          <p:cNvSpPr txBox="1"/>
          <p:nvPr/>
        </p:nvSpPr>
        <p:spPr>
          <a:xfrm>
            <a:off x="630936" y="3072384"/>
            <a:ext cx="5175504" cy="804672"/>
          </a:xfrm>
          <a:prstGeom prst="rect">
            <a:avLst/>
          </a:prstGeom>
          <a:noFill/>
        </p:spPr>
        <p:txBody>
          <a:bodyPr wrap="square">
            <a:spAutoFit/>
          </a:bodyPr>
          <a:lstStyle/>
          <a:p>
            <a:pPr algn="l"/>
            <a:r>
              <a:rPr sz="1050" b="0" i="0">
                <a:solidFill>
                  <a:srgbClr val="444D6A"/>
                </a:solidFill>
                <a:latin typeface="Calibri"/>
              </a:rPr>
              <a:t>Shoppers add items and never check out. Without real-time analytics there is no mechanism to identify who is about to leave and intervene before they do.</a:t>
            </a:r>
          </a:p>
        </p:txBody>
      </p:sp>
      <p:sp>
        <p:nvSpPr>
          <p:cNvPr id="17" name="Rectangle 16"/>
          <p:cNvSpPr/>
          <p:nvPr/>
        </p:nvSpPr>
        <p:spPr>
          <a:xfrm>
            <a:off x="6007608" y="2670048"/>
            <a:ext cx="5376672" cy="1298448"/>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07608" y="2670048"/>
            <a:ext cx="50292" cy="1298448"/>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35624" y="2761488"/>
            <a:ext cx="5175504" cy="256032"/>
          </a:xfrm>
          <a:prstGeom prst="rect">
            <a:avLst/>
          </a:prstGeom>
          <a:noFill/>
        </p:spPr>
        <p:txBody>
          <a:bodyPr wrap="square">
            <a:spAutoFit/>
          </a:bodyPr>
          <a:lstStyle/>
          <a:p>
            <a:pPr algn="l"/>
            <a:r>
              <a:rPr sz="1150" b="1" i="0">
                <a:solidFill>
                  <a:srgbClr val="1A1D2E"/>
                </a:solidFill>
                <a:latin typeface="Calibri"/>
              </a:rPr>
              <a:t>Marketing is One-Size-Fits-All</a:t>
            </a:r>
          </a:p>
        </p:txBody>
      </p:sp>
      <p:sp>
        <p:nvSpPr>
          <p:cNvPr id="20" name="TextBox 19"/>
          <p:cNvSpPr txBox="1"/>
          <p:nvPr/>
        </p:nvSpPr>
        <p:spPr>
          <a:xfrm>
            <a:off x="6135624" y="3072384"/>
            <a:ext cx="5175504" cy="804672"/>
          </a:xfrm>
          <a:prstGeom prst="rect">
            <a:avLst/>
          </a:prstGeom>
          <a:noFill/>
        </p:spPr>
        <p:txBody>
          <a:bodyPr wrap="square">
            <a:spAutoFit/>
          </a:bodyPr>
          <a:lstStyle/>
          <a:p>
            <a:pPr algn="l"/>
            <a:r>
              <a:rPr sz="1050" b="0" i="0">
                <a:solidFill>
                  <a:srgbClr val="444D6A"/>
                </a:solidFill>
                <a:latin typeface="Calibri"/>
              </a:rPr>
              <a:t>All 100,000 customers receive the same promotions. No segmentation, no personalisation — wasted spend and missed conversion opportunities.</a:t>
            </a:r>
          </a:p>
        </p:txBody>
      </p:sp>
      <p:sp>
        <p:nvSpPr>
          <p:cNvPr id="21" name="Rectangle 20"/>
          <p:cNvSpPr/>
          <p:nvPr/>
        </p:nvSpPr>
        <p:spPr>
          <a:xfrm>
            <a:off x="502920" y="4096512"/>
            <a:ext cx="5376672" cy="1298448"/>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096512"/>
            <a:ext cx="50292" cy="1298448"/>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 y="4187952"/>
            <a:ext cx="5175504" cy="256032"/>
          </a:xfrm>
          <a:prstGeom prst="rect">
            <a:avLst/>
          </a:prstGeom>
          <a:noFill/>
        </p:spPr>
        <p:txBody>
          <a:bodyPr wrap="square">
            <a:spAutoFit/>
          </a:bodyPr>
          <a:lstStyle/>
          <a:p>
            <a:pPr algn="l"/>
            <a:r>
              <a:rPr sz="1150" b="1" i="0">
                <a:solidFill>
                  <a:srgbClr val="1A1D2E"/>
                </a:solidFill>
                <a:latin typeface="Calibri"/>
              </a:rPr>
              <a:t>No Product Cross-Sell Intelligence</a:t>
            </a:r>
          </a:p>
        </p:txBody>
      </p:sp>
      <p:sp>
        <p:nvSpPr>
          <p:cNvPr id="24" name="TextBox 23"/>
          <p:cNvSpPr txBox="1"/>
          <p:nvPr/>
        </p:nvSpPr>
        <p:spPr>
          <a:xfrm>
            <a:off x="630936" y="4498848"/>
            <a:ext cx="5175504" cy="804672"/>
          </a:xfrm>
          <a:prstGeom prst="rect">
            <a:avLst/>
          </a:prstGeom>
          <a:noFill/>
        </p:spPr>
        <p:txBody>
          <a:bodyPr wrap="square">
            <a:spAutoFit/>
          </a:bodyPr>
          <a:lstStyle/>
          <a:p>
            <a:pPr algn="l"/>
            <a:r>
              <a:rPr sz="1050" b="0" i="0">
                <a:solidFill>
                  <a:srgbClr val="444D6A"/>
                </a:solidFill>
                <a:latin typeface="Calibri"/>
              </a:rPr>
              <a:t>Which products are bought together? What does a customer browse before they buy? Without this, the platform cannot show relevant cross-sell banners or personalised picks.</a:t>
            </a:r>
          </a:p>
        </p:txBody>
      </p:sp>
      <p:sp>
        <p:nvSpPr>
          <p:cNvPr id="25" name="Rectangle 24"/>
          <p:cNvSpPr/>
          <p:nvPr/>
        </p:nvSpPr>
        <p:spPr>
          <a:xfrm>
            <a:off x="6007608" y="4096512"/>
            <a:ext cx="5376672" cy="1298448"/>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07608" y="4096512"/>
            <a:ext cx="50292" cy="1298448"/>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35624" y="4187952"/>
            <a:ext cx="5175504" cy="256032"/>
          </a:xfrm>
          <a:prstGeom prst="rect">
            <a:avLst/>
          </a:prstGeom>
          <a:noFill/>
        </p:spPr>
        <p:txBody>
          <a:bodyPr wrap="square">
            <a:spAutoFit/>
          </a:bodyPr>
          <a:lstStyle/>
          <a:p>
            <a:pPr algn="l"/>
            <a:r>
              <a:rPr sz="1150" b="1" i="0">
                <a:solidFill>
                  <a:srgbClr val="1A1D2E"/>
                </a:solidFill>
                <a:latin typeface="Calibri"/>
              </a:rPr>
              <a:t>Operations React Hours Too Late</a:t>
            </a:r>
          </a:p>
        </p:txBody>
      </p:sp>
      <p:sp>
        <p:nvSpPr>
          <p:cNvPr id="28" name="TextBox 27"/>
          <p:cNvSpPr txBox="1"/>
          <p:nvPr/>
        </p:nvSpPr>
        <p:spPr>
          <a:xfrm>
            <a:off x="6135624" y="4498848"/>
            <a:ext cx="5175504" cy="804672"/>
          </a:xfrm>
          <a:prstGeom prst="rect">
            <a:avLst/>
          </a:prstGeom>
          <a:noFill/>
        </p:spPr>
        <p:txBody>
          <a:bodyPr wrap="square">
            <a:spAutoFit/>
          </a:bodyPr>
          <a:lstStyle/>
          <a:p>
            <a:pPr algn="l"/>
            <a:r>
              <a:rPr sz="1050" b="0" i="0">
                <a:solidFill>
                  <a:srgbClr val="444D6A"/>
                </a:solidFill>
                <a:latin typeface="Calibri"/>
              </a:rPr>
              <a:t>Payment anomalies and unusual session behaviour are discovered hours later in batch reports — long after the revenue impact has already occurred.</a:t>
            </a:r>
          </a:p>
        </p:txBody>
      </p:sp>
      <p:sp>
        <p:nvSpPr>
          <p:cNvPr id="29" name="Rectangle 28"/>
          <p:cNvSpPr/>
          <p:nvPr/>
        </p:nvSpPr>
        <p:spPr>
          <a:xfrm>
            <a:off x="502920" y="5577840"/>
            <a:ext cx="11173968" cy="16459"/>
          </a:xfrm>
          <a:prstGeom prst="rect">
            <a:avLst/>
          </a:prstGeom>
          <a:solidFill>
            <a:srgbClr val="D0D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650992"/>
            <a:ext cx="11173968" cy="457200"/>
          </a:xfrm>
          <a:prstGeom prst="rect">
            <a:avLst/>
          </a:prstGeom>
          <a:noFill/>
        </p:spPr>
        <p:txBody>
          <a:bodyPr wrap="square">
            <a:spAutoFit/>
          </a:bodyPr>
          <a:lstStyle/>
          <a:p>
            <a:pPr algn="l"/>
            <a:r>
              <a:rPr sz="1150" b="0" i="1">
                <a:solidFill>
                  <a:srgbClr val="14235E"/>
                </a:solidFill>
                <a:latin typeface="Calibri"/>
              </a:rPr>
              <a:t>Goal:  Build an end-to-end Apache Spark pipeline that ingests raw data, runs advanced SQL analytics, trains 3 ML models, and streams real-time predictions — all surfaced in a live BI 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Our Solution — CcMart Analytics Pipeline</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A 6-stage Apache Spark pipeline that turns raw data into real-time business decisions</a:t>
            </a:r>
          </a:p>
        </p:txBody>
      </p:sp>
      <p:sp>
        <p:nvSpPr>
          <p:cNvPr id="7" name="Rectangle 6"/>
          <p:cNvSpPr/>
          <p:nvPr/>
        </p:nvSpPr>
        <p:spPr>
          <a:xfrm>
            <a:off x="502920" y="1316736"/>
            <a:ext cx="54864" cy="256032"/>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1E6FC8"/>
                </a:solidFill>
                <a:latin typeface="Calibri"/>
              </a:rPr>
              <a:t>02  ·  SOLUTION OVERVIEW</a:t>
            </a:r>
          </a:p>
        </p:txBody>
      </p:sp>
      <p:sp>
        <p:nvSpPr>
          <p:cNvPr id="9" name="Rectangle 8"/>
          <p:cNvSpPr/>
          <p:nvPr/>
        </p:nvSpPr>
        <p:spPr>
          <a:xfrm>
            <a:off x="411480" y="1783080"/>
            <a:ext cx="1783080" cy="1737360"/>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83080"/>
            <a:ext cx="1783080" cy="43891"/>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892808"/>
            <a:ext cx="1783080" cy="457200"/>
          </a:xfrm>
          <a:prstGeom prst="rect">
            <a:avLst/>
          </a:prstGeom>
          <a:noFill/>
        </p:spPr>
        <p:txBody>
          <a:bodyPr wrap="square">
            <a:spAutoFit/>
          </a:bodyPr>
          <a:lstStyle/>
          <a:p>
            <a:pPr algn="ctr"/>
            <a:r>
              <a:rPr sz="2600" b="0" i="0">
                <a:solidFill>
                  <a:srgbClr val="1A1D2E"/>
                </a:solidFill>
                <a:latin typeface="Calibri"/>
              </a:rPr>
              <a:t>📥</a:t>
            </a:r>
          </a:p>
        </p:txBody>
      </p:sp>
      <p:sp>
        <p:nvSpPr>
          <p:cNvPr id="12" name="TextBox 11"/>
          <p:cNvSpPr txBox="1"/>
          <p:nvPr/>
        </p:nvSpPr>
        <p:spPr>
          <a:xfrm>
            <a:off x="411480" y="2322576"/>
            <a:ext cx="1783080" cy="274320"/>
          </a:xfrm>
          <a:prstGeom prst="rect">
            <a:avLst/>
          </a:prstGeom>
          <a:noFill/>
        </p:spPr>
        <p:txBody>
          <a:bodyPr wrap="square">
            <a:spAutoFit/>
          </a:bodyPr>
          <a:lstStyle/>
          <a:p>
            <a:pPr algn="ctr"/>
            <a:r>
              <a:rPr sz="1150" b="1" i="0">
                <a:solidFill>
                  <a:srgbClr val="1A1D2E"/>
                </a:solidFill>
                <a:latin typeface="Calibri"/>
              </a:rPr>
              <a:t>1. Ingest</a:t>
            </a:r>
          </a:p>
        </p:txBody>
      </p:sp>
      <p:sp>
        <p:nvSpPr>
          <p:cNvPr id="13" name="TextBox 12"/>
          <p:cNvSpPr txBox="1"/>
          <p:nvPr/>
        </p:nvSpPr>
        <p:spPr>
          <a:xfrm>
            <a:off x="411480" y="2606040"/>
            <a:ext cx="1783080" cy="777240"/>
          </a:xfrm>
          <a:prstGeom prst="rect">
            <a:avLst/>
          </a:prstGeom>
          <a:noFill/>
        </p:spPr>
        <p:txBody>
          <a:bodyPr wrap="square">
            <a:spAutoFit/>
          </a:bodyPr>
          <a:lstStyle/>
          <a:p>
            <a:pPr algn="ctr"/>
            <a:r>
              <a:rPr sz="950" b="0" i="0">
                <a:solidFill>
                  <a:srgbClr val="7A84A8"/>
                </a:solidFill>
                <a:latin typeface="Calibri"/>
              </a:rPr>
              <a:t>CSV → Parquet
4 tables · 13M rows</a:t>
            </a:r>
          </a:p>
        </p:txBody>
      </p:sp>
      <p:sp>
        <p:nvSpPr>
          <p:cNvPr id="14" name="TextBox 13"/>
          <p:cNvSpPr txBox="1"/>
          <p:nvPr/>
        </p:nvSpPr>
        <p:spPr>
          <a:xfrm>
            <a:off x="2194560" y="2377440"/>
            <a:ext cx="117057958416" cy="411480"/>
          </a:xfrm>
          <a:prstGeom prst="rect">
            <a:avLst/>
          </a:prstGeom>
          <a:noFill/>
        </p:spPr>
        <p:txBody>
          <a:bodyPr wrap="square">
            <a:spAutoFit/>
          </a:bodyPr>
          <a:lstStyle/>
          <a:p>
            <a:pPr algn="ctr"/>
            <a:r>
              <a:rPr sz="1400" b="0" i="0">
                <a:solidFill>
                  <a:srgbClr val="7A84A8"/>
                </a:solidFill>
                <a:latin typeface="Calibri"/>
              </a:rPr>
              <a:t>→</a:t>
            </a:r>
          </a:p>
        </p:txBody>
      </p:sp>
      <p:sp>
        <p:nvSpPr>
          <p:cNvPr id="15" name="Rectangle 14"/>
          <p:cNvSpPr/>
          <p:nvPr/>
        </p:nvSpPr>
        <p:spPr>
          <a:xfrm>
            <a:off x="2322576" y="1783080"/>
            <a:ext cx="1783080" cy="1737360"/>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22576" y="1783080"/>
            <a:ext cx="1783080" cy="43891"/>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22576" y="1892808"/>
            <a:ext cx="1783080" cy="457200"/>
          </a:xfrm>
          <a:prstGeom prst="rect">
            <a:avLst/>
          </a:prstGeom>
          <a:noFill/>
        </p:spPr>
        <p:txBody>
          <a:bodyPr wrap="square">
            <a:spAutoFit/>
          </a:bodyPr>
          <a:lstStyle/>
          <a:p>
            <a:pPr algn="ctr"/>
            <a:r>
              <a:rPr sz="2600" b="0" i="0">
                <a:solidFill>
                  <a:srgbClr val="1A1D2E"/>
                </a:solidFill>
                <a:latin typeface="Calibri"/>
              </a:rPr>
              <a:t>🔍</a:t>
            </a:r>
          </a:p>
        </p:txBody>
      </p:sp>
      <p:sp>
        <p:nvSpPr>
          <p:cNvPr id="18" name="TextBox 17"/>
          <p:cNvSpPr txBox="1"/>
          <p:nvPr/>
        </p:nvSpPr>
        <p:spPr>
          <a:xfrm>
            <a:off x="2322576" y="2322576"/>
            <a:ext cx="1783080" cy="274320"/>
          </a:xfrm>
          <a:prstGeom prst="rect">
            <a:avLst/>
          </a:prstGeom>
          <a:noFill/>
        </p:spPr>
        <p:txBody>
          <a:bodyPr wrap="square">
            <a:spAutoFit/>
          </a:bodyPr>
          <a:lstStyle/>
          <a:p>
            <a:pPr algn="ctr"/>
            <a:r>
              <a:rPr sz="1150" b="1" i="0">
                <a:solidFill>
                  <a:srgbClr val="1A1D2E"/>
                </a:solidFill>
                <a:latin typeface="Calibri"/>
              </a:rPr>
              <a:t>2. EDA</a:t>
            </a:r>
          </a:p>
        </p:txBody>
      </p:sp>
      <p:sp>
        <p:nvSpPr>
          <p:cNvPr id="19" name="TextBox 18"/>
          <p:cNvSpPr txBox="1"/>
          <p:nvPr/>
        </p:nvSpPr>
        <p:spPr>
          <a:xfrm>
            <a:off x="2322576" y="2606040"/>
            <a:ext cx="1783080" cy="777240"/>
          </a:xfrm>
          <a:prstGeom prst="rect">
            <a:avLst/>
          </a:prstGeom>
          <a:noFill/>
        </p:spPr>
        <p:txBody>
          <a:bodyPr wrap="square">
            <a:spAutoFit/>
          </a:bodyPr>
          <a:lstStyle/>
          <a:p>
            <a:pPr algn="ctr"/>
            <a:r>
              <a:rPr sz="950" b="0" i="0">
                <a:solidFill>
                  <a:srgbClr val="7A84A8"/>
                </a:solidFill>
                <a:latin typeface="Calibri"/>
              </a:rPr>
              <a:t>5 insight charts
Data profiling</a:t>
            </a:r>
          </a:p>
        </p:txBody>
      </p:sp>
      <p:sp>
        <p:nvSpPr>
          <p:cNvPr id="20" name="TextBox 19"/>
          <p:cNvSpPr txBox="1"/>
          <p:nvPr/>
        </p:nvSpPr>
        <p:spPr>
          <a:xfrm>
            <a:off x="4105656" y="2377440"/>
            <a:ext cx="117057958416" cy="411480"/>
          </a:xfrm>
          <a:prstGeom prst="rect">
            <a:avLst/>
          </a:prstGeom>
          <a:noFill/>
        </p:spPr>
        <p:txBody>
          <a:bodyPr wrap="square">
            <a:spAutoFit/>
          </a:bodyPr>
          <a:lstStyle/>
          <a:p>
            <a:pPr algn="ctr"/>
            <a:r>
              <a:rPr sz="1400" b="0" i="0">
                <a:solidFill>
                  <a:srgbClr val="7A84A8"/>
                </a:solidFill>
                <a:latin typeface="Calibri"/>
              </a:rPr>
              <a:t>→</a:t>
            </a:r>
          </a:p>
        </p:txBody>
      </p:sp>
      <p:sp>
        <p:nvSpPr>
          <p:cNvPr id="21" name="Rectangle 20"/>
          <p:cNvSpPr/>
          <p:nvPr/>
        </p:nvSpPr>
        <p:spPr>
          <a:xfrm>
            <a:off x="4233672" y="1783080"/>
            <a:ext cx="1783080" cy="1737360"/>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33672" y="1783080"/>
            <a:ext cx="1783080" cy="43891"/>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33672" y="1892808"/>
            <a:ext cx="1783080" cy="457200"/>
          </a:xfrm>
          <a:prstGeom prst="rect">
            <a:avLst/>
          </a:prstGeom>
          <a:noFill/>
        </p:spPr>
        <p:txBody>
          <a:bodyPr wrap="square">
            <a:spAutoFit/>
          </a:bodyPr>
          <a:lstStyle/>
          <a:p>
            <a:pPr algn="ctr"/>
            <a:r>
              <a:rPr sz="2600" b="0" i="0">
                <a:solidFill>
                  <a:srgbClr val="1A1D2E"/>
                </a:solidFill>
                <a:latin typeface="Calibri"/>
              </a:rPr>
              <a:t>⚡</a:t>
            </a:r>
          </a:p>
        </p:txBody>
      </p:sp>
      <p:sp>
        <p:nvSpPr>
          <p:cNvPr id="24" name="TextBox 23"/>
          <p:cNvSpPr txBox="1"/>
          <p:nvPr/>
        </p:nvSpPr>
        <p:spPr>
          <a:xfrm>
            <a:off x="4233672" y="2322576"/>
            <a:ext cx="1783080" cy="274320"/>
          </a:xfrm>
          <a:prstGeom prst="rect">
            <a:avLst/>
          </a:prstGeom>
          <a:noFill/>
        </p:spPr>
        <p:txBody>
          <a:bodyPr wrap="square">
            <a:spAutoFit/>
          </a:bodyPr>
          <a:lstStyle/>
          <a:p>
            <a:pPr algn="ctr"/>
            <a:r>
              <a:rPr sz="1150" b="1" i="0">
                <a:solidFill>
                  <a:srgbClr val="1A1D2E"/>
                </a:solidFill>
                <a:latin typeface="Calibri"/>
              </a:rPr>
              <a:t>3. SQL</a:t>
            </a:r>
          </a:p>
        </p:txBody>
      </p:sp>
      <p:sp>
        <p:nvSpPr>
          <p:cNvPr id="25" name="TextBox 24"/>
          <p:cNvSpPr txBox="1"/>
          <p:nvPr/>
        </p:nvSpPr>
        <p:spPr>
          <a:xfrm>
            <a:off x="4233672" y="2606040"/>
            <a:ext cx="1783080" cy="777240"/>
          </a:xfrm>
          <a:prstGeom prst="rect">
            <a:avLst/>
          </a:prstGeom>
          <a:noFill/>
        </p:spPr>
        <p:txBody>
          <a:bodyPr wrap="square">
            <a:spAutoFit/>
          </a:bodyPr>
          <a:lstStyle/>
          <a:p>
            <a:pPr algn="ctr"/>
            <a:r>
              <a:rPr sz="950" b="0" i="0">
                <a:solidFill>
                  <a:srgbClr val="7A84A8"/>
                </a:solidFill>
                <a:latin typeface="Calibri"/>
              </a:rPr>
              <a:t>6 business queries
Window fns · CTEs</a:t>
            </a:r>
          </a:p>
        </p:txBody>
      </p:sp>
      <p:sp>
        <p:nvSpPr>
          <p:cNvPr id="26" name="TextBox 25"/>
          <p:cNvSpPr txBox="1"/>
          <p:nvPr/>
        </p:nvSpPr>
        <p:spPr>
          <a:xfrm>
            <a:off x="6016752" y="2377440"/>
            <a:ext cx="117057958416" cy="411480"/>
          </a:xfrm>
          <a:prstGeom prst="rect">
            <a:avLst/>
          </a:prstGeom>
          <a:noFill/>
        </p:spPr>
        <p:txBody>
          <a:bodyPr wrap="square">
            <a:spAutoFit/>
          </a:bodyPr>
          <a:lstStyle/>
          <a:p>
            <a:pPr algn="ctr"/>
            <a:r>
              <a:rPr sz="1400" b="0" i="0">
                <a:solidFill>
                  <a:srgbClr val="7A84A8"/>
                </a:solidFill>
                <a:latin typeface="Calibri"/>
              </a:rPr>
              <a:t>→</a:t>
            </a:r>
          </a:p>
        </p:txBody>
      </p:sp>
      <p:sp>
        <p:nvSpPr>
          <p:cNvPr id="27" name="Rectangle 26"/>
          <p:cNvSpPr/>
          <p:nvPr/>
        </p:nvSpPr>
        <p:spPr>
          <a:xfrm>
            <a:off x="6144768" y="1783080"/>
            <a:ext cx="1783080" cy="1737360"/>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44768" y="1783080"/>
            <a:ext cx="1783080" cy="43891"/>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44768" y="1892808"/>
            <a:ext cx="1783080" cy="457200"/>
          </a:xfrm>
          <a:prstGeom prst="rect">
            <a:avLst/>
          </a:prstGeom>
          <a:noFill/>
        </p:spPr>
        <p:txBody>
          <a:bodyPr wrap="square">
            <a:spAutoFit/>
          </a:bodyPr>
          <a:lstStyle/>
          <a:p>
            <a:pPr algn="ctr"/>
            <a:r>
              <a:rPr sz="2600" b="0" i="0">
                <a:solidFill>
                  <a:srgbClr val="1A1D2E"/>
                </a:solidFill>
                <a:latin typeface="Calibri"/>
              </a:rPr>
              <a:t>🤖</a:t>
            </a:r>
          </a:p>
        </p:txBody>
      </p:sp>
      <p:sp>
        <p:nvSpPr>
          <p:cNvPr id="30" name="TextBox 29"/>
          <p:cNvSpPr txBox="1"/>
          <p:nvPr/>
        </p:nvSpPr>
        <p:spPr>
          <a:xfrm>
            <a:off x="6144768" y="2322576"/>
            <a:ext cx="1783080" cy="274320"/>
          </a:xfrm>
          <a:prstGeom prst="rect">
            <a:avLst/>
          </a:prstGeom>
          <a:noFill/>
        </p:spPr>
        <p:txBody>
          <a:bodyPr wrap="square">
            <a:spAutoFit/>
          </a:bodyPr>
          <a:lstStyle/>
          <a:p>
            <a:pPr algn="ctr"/>
            <a:r>
              <a:rPr sz="1150" b="1" i="0">
                <a:solidFill>
                  <a:srgbClr val="1A1D2E"/>
                </a:solidFill>
                <a:latin typeface="Calibri"/>
              </a:rPr>
              <a:t>4. ML Models</a:t>
            </a:r>
          </a:p>
        </p:txBody>
      </p:sp>
      <p:sp>
        <p:nvSpPr>
          <p:cNvPr id="31" name="TextBox 30"/>
          <p:cNvSpPr txBox="1"/>
          <p:nvPr/>
        </p:nvSpPr>
        <p:spPr>
          <a:xfrm>
            <a:off x="6144768" y="2606040"/>
            <a:ext cx="1783080" cy="777240"/>
          </a:xfrm>
          <a:prstGeom prst="rect">
            <a:avLst/>
          </a:prstGeom>
          <a:noFill/>
        </p:spPr>
        <p:txBody>
          <a:bodyPr wrap="square">
            <a:spAutoFit/>
          </a:bodyPr>
          <a:lstStyle/>
          <a:p>
            <a:pPr algn="ctr"/>
            <a:r>
              <a:rPr sz="950" b="0" i="0">
                <a:solidFill>
                  <a:srgbClr val="7A84A8"/>
                </a:solidFill>
                <a:latin typeface="Calibri"/>
              </a:rPr>
              <a:t>RF · ALS · KMeans
3 trained models</a:t>
            </a:r>
          </a:p>
        </p:txBody>
      </p:sp>
      <p:sp>
        <p:nvSpPr>
          <p:cNvPr id="32" name="TextBox 31"/>
          <p:cNvSpPr txBox="1"/>
          <p:nvPr/>
        </p:nvSpPr>
        <p:spPr>
          <a:xfrm>
            <a:off x="7927848" y="2377440"/>
            <a:ext cx="117057958416" cy="411480"/>
          </a:xfrm>
          <a:prstGeom prst="rect">
            <a:avLst/>
          </a:prstGeom>
          <a:noFill/>
        </p:spPr>
        <p:txBody>
          <a:bodyPr wrap="square">
            <a:spAutoFit/>
          </a:bodyPr>
          <a:lstStyle/>
          <a:p>
            <a:pPr algn="ctr"/>
            <a:r>
              <a:rPr sz="1400" b="0" i="0">
                <a:solidFill>
                  <a:srgbClr val="7A84A8"/>
                </a:solidFill>
                <a:latin typeface="Calibri"/>
              </a:rPr>
              <a:t>→</a:t>
            </a:r>
          </a:p>
        </p:txBody>
      </p:sp>
      <p:sp>
        <p:nvSpPr>
          <p:cNvPr id="33" name="Rectangle 32"/>
          <p:cNvSpPr/>
          <p:nvPr/>
        </p:nvSpPr>
        <p:spPr>
          <a:xfrm>
            <a:off x="8055864" y="1783080"/>
            <a:ext cx="1783080" cy="1737360"/>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55864" y="1783080"/>
            <a:ext cx="1783080" cy="43891"/>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5864" y="1892808"/>
            <a:ext cx="1783080" cy="457200"/>
          </a:xfrm>
          <a:prstGeom prst="rect">
            <a:avLst/>
          </a:prstGeom>
          <a:noFill/>
        </p:spPr>
        <p:txBody>
          <a:bodyPr wrap="square">
            <a:spAutoFit/>
          </a:bodyPr>
          <a:lstStyle/>
          <a:p>
            <a:pPr algn="ctr"/>
            <a:r>
              <a:rPr sz="2600" b="0" i="0">
                <a:solidFill>
                  <a:srgbClr val="1A1D2E"/>
                </a:solidFill>
                <a:latin typeface="Calibri"/>
              </a:rPr>
              <a:t>🌊</a:t>
            </a:r>
          </a:p>
        </p:txBody>
      </p:sp>
      <p:sp>
        <p:nvSpPr>
          <p:cNvPr id="36" name="TextBox 35"/>
          <p:cNvSpPr txBox="1"/>
          <p:nvPr/>
        </p:nvSpPr>
        <p:spPr>
          <a:xfrm>
            <a:off x="8055864" y="2322576"/>
            <a:ext cx="1783080" cy="274320"/>
          </a:xfrm>
          <a:prstGeom prst="rect">
            <a:avLst/>
          </a:prstGeom>
          <a:noFill/>
        </p:spPr>
        <p:txBody>
          <a:bodyPr wrap="square">
            <a:spAutoFit/>
          </a:bodyPr>
          <a:lstStyle/>
          <a:p>
            <a:pPr algn="ctr"/>
            <a:r>
              <a:rPr sz="1150" b="1" i="0">
                <a:solidFill>
                  <a:srgbClr val="1A1D2E"/>
                </a:solidFill>
                <a:latin typeface="Calibri"/>
              </a:rPr>
              <a:t>5. Streaming</a:t>
            </a:r>
          </a:p>
        </p:txBody>
      </p:sp>
      <p:sp>
        <p:nvSpPr>
          <p:cNvPr id="37" name="TextBox 36"/>
          <p:cNvSpPr txBox="1"/>
          <p:nvPr/>
        </p:nvSpPr>
        <p:spPr>
          <a:xfrm>
            <a:off x="8055864" y="2606040"/>
            <a:ext cx="1783080" cy="777240"/>
          </a:xfrm>
          <a:prstGeom prst="rect">
            <a:avLst/>
          </a:prstGeom>
          <a:noFill/>
        </p:spPr>
        <p:txBody>
          <a:bodyPr wrap="square">
            <a:spAutoFit/>
          </a:bodyPr>
          <a:lstStyle/>
          <a:p>
            <a:pPr algn="ctr"/>
            <a:r>
              <a:rPr sz="950" b="0" i="0">
                <a:solidFill>
                  <a:srgbClr val="7A84A8"/>
                </a:solidFill>
                <a:latin typeface="Calibri"/>
              </a:rPr>
              <a:t>Live scoring
foreachBatch</a:t>
            </a:r>
          </a:p>
        </p:txBody>
      </p:sp>
      <p:sp>
        <p:nvSpPr>
          <p:cNvPr id="38" name="TextBox 37"/>
          <p:cNvSpPr txBox="1"/>
          <p:nvPr/>
        </p:nvSpPr>
        <p:spPr>
          <a:xfrm>
            <a:off x="9838944" y="2377440"/>
            <a:ext cx="117057958416" cy="411480"/>
          </a:xfrm>
          <a:prstGeom prst="rect">
            <a:avLst/>
          </a:prstGeom>
          <a:noFill/>
        </p:spPr>
        <p:txBody>
          <a:bodyPr wrap="square">
            <a:spAutoFit/>
          </a:bodyPr>
          <a:lstStyle/>
          <a:p>
            <a:pPr algn="ctr"/>
            <a:r>
              <a:rPr sz="1400" b="0" i="0">
                <a:solidFill>
                  <a:srgbClr val="7A84A8"/>
                </a:solidFill>
                <a:latin typeface="Calibri"/>
              </a:rPr>
              <a:t>→</a:t>
            </a:r>
          </a:p>
        </p:txBody>
      </p:sp>
      <p:sp>
        <p:nvSpPr>
          <p:cNvPr id="39" name="Rectangle 38"/>
          <p:cNvSpPr/>
          <p:nvPr/>
        </p:nvSpPr>
        <p:spPr>
          <a:xfrm>
            <a:off x="9966960" y="1783080"/>
            <a:ext cx="1783080" cy="1737360"/>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966960" y="1783080"/>
            <a:ext cx="1783080" cy="43891"/>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66960" y="1892808"/>
            <a:ext cx="1783080" cy="457200"/>
          </a:xfrm>
          <a:prstGeom prst="rect">
            <a:avLst/>
          </a:prstGeom>
          <a:noFill/>
        </p:spPr>
        <p:txBody>
          <a:bodyPr wrap="square">
            <a:spAutoFit/>
          </a:bodyPr>
          <a:lstStyle/>
          <a:p>
            <a:pPr algn="ctr"/>
            <a:r>
              <a:rPr sz="2600" b="0" i="0">
                <a:solidFill>
                  <a:srgbClr val="1A1D2E"/>
                </a:solidFill>
                <a:latin typeface="Calibri"/>
              </a:rPr>
              <a:t>📊</a:t>
            </a:r>
          </a:p>
        </p:txBody>
      </p:sp>
      <p:sp>
        <p:nvSpPr>
          <p:cNvPr id="42" name="TextBox 41"/>
          <p:cNvSpPr txBox="1"/>
          <p:nvPr/>
        </p:nvSpPr>
        <p:spPr>
          <a:xfrm>
            <a:off x="9966960" y="2322576"/>
            <a:ext cx="1783080" cy="274320"/>
          </a:xfrm>
          <a:prstGeom prst="rect">
            <a:avLst/>
          </a:prstGeom>
          <a:noFill/>
        </p:spPr>
        <p:txBody>
          <a:bodyPr wrap="square">
            <a:spAutoFit/>
          </a:bodyPr>
          <a:lstStyle/>
          <a:p>
            <a:pPr algn="ctr"/>
            <a:r>
              <a:rPr sz="1150" b="1" i="0">
                <a:solidFill>
                  <a:srgbClr val="1A1D2E"/>
                </a:solidFill>
                <a:latin typeface="Calibri"/>
              </a:rPr>
              <a:t>6. Dashboard</a:t>
            </a:r>
          </a:p>
        </p:txBody>
      </p:sp>
      <p:sp>
        <p:nvSpPr>
          <p:cNvPr id="43" name="TextBox 42"/>
          <p:cNvSpPr txBox="1"/>
          <p:nvPr/>
        </p:nvSpPr>
        <p:spPr>
          <a:xfrm>
            <a:off x="9966960" y="2606040"/>
            <a:ext cx="1783080" cy="777240"/>
          </a:xfrm>
          <a:prstGeom prst="rect">
            <a:avLst/>
          </a:prstGeom>
          <a:noFill/>
        </p:spPr>
        <p:txBody>
          <a:bodyPr wrap="square">
            <a:spAutoFit/>
          </a:bodyPr>
          <a:lstStyle/>
          <a:p>
            <a:pPr algn="ctr"/>
            <a:r>
              <a:rPr sz="950" b="0" i="0">
                <a:solidFill>
                  <a:srgbClr val="7A84A8"/>
                </a:solidFill>
                <a:latin typeface="Calibri"/>
              </a:rPr>
              <a:t>8-page BI
Real-time UI</a:t>
            </a:r>
          </a:p>
        </p:txBody>
      </p:sp>
      <p:sp>
        <p:nvSpPr>
          <p:cNvPr id="44" name="Rectangle 43"/>
          <p:cNvSpPr/>
          <p:nvPr/>
        </p:nvSpPr>
        <p:spPr>
          <a:xfrm>
            <a:off x="502920" y="3749039"/>
            <a:ext cx="2743200" cy="1234440"/>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 y="3749039"/>
            <a:ext cx="50292" cy="1234440"/>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 y="3858767"/>
            <a:ext cx="2542032" cy="274320"/>
          </a:xfrm>
          <a:prstGeom prst="rect">
            <a:avLst/>
          </a:prstGeom>
          <a:noFill/>
        </p:spPr>
        <p:txBody>
          <a:bodyPr wrap="square">
            <a:spAutoFit/>
          </a:bodyPr>
          <a:lstStyle/>
          <a:p>
            <a:pPr algn="l"/>
            <a:r>
              <a:rPr sz="1150" b="1" i="0">
                <a:solidFill>
                  <a:srgbClr val="1A1D2E"/>
                </a:solidFill>
                <a:latin typeface="Calibri"/>
              </a:rPr>
              <a:t>Real-Time Intelligence</a:t>
            </a:r>
          </a:p>
        </p:txBody>
      </p:sp>
      <p:sp>
        <p:nvSpPr>
          <p:cNvPr id="47" name="TextBox 46"/>
          <p:cNvSpPr txBox="1"/>
          <p:nvPr/>
        </p:nvSpPr>
        <p:spPr>
          <a:xfrm>
            <a:off x="630936" y="4169663"/>
            <a:ext cx="2542032" cy="713232"/>
          </a:xfrm>
          <a:prstGeom prst="rect">
            <a:avLst/>
          </a:prstGeom>
          <a:noFill/>
        </p:spPr>
        <p:txBody>
          <a:bodyPr wrap="square">
            <a:spAutoFit/>
          </a:bodyPr>
          <a:lstStyle/>
          <a:p>
            <a:pPr algn="l"/>
            <a:r>
              <a:rPr sz="1050" b="0" i="0">
                <a:solidFill>
                  <a:srgbClr val="444D6A"/>
                </a:solidFill>
                <a:latin typeface="Calibri"/>
              </a:rPr>
              <a:t>Events → business action in &lt;120ms foreachBatch</a:t>
            </a:r>
          </a:p>
        </p:txBody>
      </p:sp>
      <p:sp>
        <p:nvSpPr>
          <p:cNvPr id="48" name="Rectangle 47"/>
          <p:cNvSpPr/>
          <p:nvPr/>
        </p:nvSpPr>
        <p:spPr>
          <a:xfrm>
            <a:off x="3355848" y="3749039"/>
            <a:ext cx="2743200" cy="1234440"/>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355848" y="3749039"/>
            <a:ext cx="50292" cy="123444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83864" y="3858767"/>
            <a:ext cx="2542032" cy="274320"/>
          </a:xfrm>
          <a:prstGeom prst="rect">
            <a:avLst/>
          </a:prstGeom>
          <a:noFill/>
        </p:spPr>
        <p:txBody>
          <a:bodyPr wrap="square">
            <a:spAutoFit/>
          </a:bodyPr>
          <a:lstStyle/>
          <a:p>
            <a:pPr algn="l"/>
            <a:r>
              <a:rPr sz="1150" b="1" i="0">
                <a:solidFill>
                  <a:srgbClr val="1A1D2E"/>
                </a:solidFill>
                <a:latin typeface="Calibri"/>
              </a:rPr>
              <a:t>Personalised at Scale</a:t>
            </a:r>
          </a:p>
        </p:txBody>
      </p:sp>
      <p:sp>
        <p:nvSpPr>
          <p:cNvPr id="51" name="TextBox 50"/>
          <p:cNvSpPr txBox="1"/>
          <p:nvPr/>
        </p:nvSpPr>
        <p:spPr>
          <a:xfrm>
            <a:off x="3483864" y="4169663"/>
            <a:ext cx="2542032" cy="713232"/>
          </a:xfrm>
          <a:prstGeom prst="rect">
            <a:avLst/>
          </a:prstGeom>
          <a:noFill/>
        </p:spPr>
        <p:txBody>
          <a:bodyPr wrap="square">
            <a:spAutoFit/>
          </a:bodyPr>
          <a:lstStyle/>
          <a:p>
            <a:pPr algn="l"/>
            <a:r>
              <a:rPr sz="1050" b="0" i="0">
                <a:solidFill>
                  <a:srgbClr val="444D6A"/>
                </a:solidFill>
                <a:latin typeface="Calibri"/>
              </a:rPr>
              <a:t>ALS gives every 1 of 100K customers unique product picks</a:t>
            </a:r>
          </a:p>
        </p:txBody>
      </p:sp>
      <p:sp>
        <p:nvSpPr>
          <p:cNvPr id="52" name="Rectangle 51"/>
          <p:cNvSpPr/>
          <p:nvPr/>
        </p:nvSpPr>
        <p:spPr>
          <a:xfrm>
            <a:off x="6208776" y="3749039"/>
            <a:ext cx="2743200" cy="1234440"/>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08776" y="3749039"/>
            <a:ext cx="50292" cy="1234440"/>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36792" y="3858767"/>
            <a:ext cx="2542032" cy="274320"/>
          </a:xfrm>
          <a:prstGeom prst="rect">
            <a:avLst/>
          </a:prstGeom>
          <a:noFill/>
        </p:spPr>
        <p:txBody>
          <a:bodyPr wrap="square">
            <a:spAutoFit/>
          </a:bodyPr>
          <a:lstStyle/>
          <a:p>
            <a:pPr algn="l"/>
            <a:r>
              <a:rPr sz="1150" b="1" i="0">
                <a:solidFill>
                  <a:srgbClr val="1A1D2E"/>
                </a:solidFill>
                <a:latin typeface="Calibri"/>
              </a:rPr>
              <a:t>Revenue Protection</a:t>
            </a:r>
          </a:p>
        </p:txBody>
      </p:sp>
      <p:sp>
        <p:nvSpPr>
          <p:cNvPr id="55" name="TextBox 54"/>
          <p:cNvSpPr txBox="1"/>
          <p:nvPr/>
        </p:nvSpPr>
        <p:spPr>
          <a:xfrm>
            <a:off x="6336792" y="4169663"/>
            <a:ext cx="2542032" cy="713232"/>
          </a:xfrm>
          <a:prstGeom prst="rect">
            <a:avLst/>
          </a:prstGeom>
          <a:noFill/>
        </p:spPr>
        <p:txBody>
          <a:bodyPr wrap="square">
            <a:spAutoFit/>
          </a:bodyPr>
          <a:lstStyle/>
          <a:p>
            <a:pPr algn="l"/>
            <a:r>
              <a:rPr sz="1050" b="0" i="0">
                <a:solidFill>
                  <a:srgbClr val="444D6A"/>
                </a:solidFill>
                <a:latin typeface="Calibri"/>
              </a:rPr>
              <a:t>ML flags at-risk sessions → auto-trigger recovery promo</a:t>
            </a:r>
          </a:p>
        </p:txBody>
      </p:sp>
      <p:sp>
        <p:nvSpPr>
          <p:cNvPr id="56" name="Rectangle 55"/>
          <p:cNvSpPr/>
          <p:nvPr/>
        </p:nvSpPr>
        <p:spPr>
          <a:xfrm>
            <a:off x="9061704" y="3749039"/>
            <a:ext cx="2743200" cy="1234440"/>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061704" y="3749039"/>
            <a:ext cx="50292" cy="1234440"/>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89720" y="3858767"/>
            <a:ext cx="2542032" cy="274320"/>
          </a:xfrm>
          <a:prstGeom prst="rect">
            <a:avLst/>
          </a:prstGeom>
          <a:noFill/>
        </p:spPr>
        <p:txBody>
          <a:bodyPr wrap="square">
            <a:spAutoFit/>
          </a:bodyPr>
          <a:lstStyle/>
          <a:p>
            <a:pPr algn="l"/>
            <a:r>
              <a:rPr sz="1150" b="1" i="0">
                <a:solidFill>
                  <a:srgbClr val="1A1D2E"/>
                </a:solidFill>
                <a:latin typeface="Calibri"/>
              </a:rPr>
              <a:t>Horizontally Scalable</a:t>
            </a:r>
          </a:p>
        </p:txBody>
      </p:sp>
      <p:sp>
        <p:nvSpPr>
          <p:cNvPr id="59" name="TextBox 58"/>
          <p:cNvSpPr txBox="1"/>
          <p:nvPr/>
        </p:nvSpPr>
        <p:spPr>
          <a:xfrm>
            <a:off x="9189720" y="4169663"/>
            <a:ext cx="2542032" cy="713232"/>
          </a:xfrm>
          <a:prstGeom prst="rect">
            <a:avLst/>
          </a:prstGeom>
          <a:noFill/>
        </p:spPr>
        <p:txBody>
          <a:bodyPr wrap="square">
            <a:spAutoFit/>
          </a:bodyPr>
          <a:lstStyle/>
          <a:p>
            <a:pPr algn="l"/>
            <a:r>
              <a:rPr sz="1050" b="0" i="0">
                <a:solidFill>
                  <a:srgbClr val="444D6A"/>
                </a:solidFill>
                <a:latin typeface="Calibri"/>
              </a:rPr>
              <a:t>Same code: laptop → 1,000-node AWS EMR, zero changes</a:t>
            </a:r>
          </a:p>
        </p:txBody>
      </p:sp>
      <p:sp>
        <p:nvSpPr>
          <p:cNvPr id="60" name="Rectangle 59"/>
          <p:cNvSpPr/>
          <p:nvPr/>
        </p:nvSpPr>
        <p:spPr>
          <a:xfrm>
            <a:off x="502920" y="5138928"/>
            <a:ext cx="11173968" cy="749808"/>
          </a:xfrm>
          <a:prstGeom prst="rect">
            <a:avLst/>
          </a:prstGeom>
          <a:solidFill>
            <a:srgbClr val="E8F0FB"/>
          </a:solidFill>
          <a:ln w="5080">
            <a:solidFill>
              <a:srgbClr val="1E6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02920" y="5138928"/>
            <a:ext cx="54864" cy="749808"/>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368" y="5212080"/>
            <a:ext cx="3657600" cy="256032"/>
          </a:xfrm>
          <a:prstGeom prst="rect">
            <a:avLst/>
          </a:prstGeom>
          <a:noFill/>
        </p:spPr>
        <p:txBody>
          <a:bodyPr wrap="square">
            <a:spAutoFit/>
          </a:bodyPr>
          <a:lstStyle/>
          <a:p>
            <a:pPr algn="l"/>
            <a:r>
              <a:rPr sz="1150" b="1" i="0">
                <a:solidFill>
                  <a:srgbClr val="1E6FC8"/>
                </a:solidFill>
                <a:latin typeface="Calibri"/>
              </a:rPr>
              <a:t>Why Apache Spark?</a:t>
            </a:r>
          </a:p>
        </p:txBody>
      </p:sp>
      <p:sp>
        <p:nvSpPr>
          <p:cNvPr id="63" name="TextBox 62"/>
          <p:cNvSpPr txBox="1"/>
          <p:nvPr/>
        </p:nvSpPr>
        <p:spPr>
          <a:xfrm>
            <a:off x="658368" y="5486400"/>
            <a:ext cx="10972800" cy="347472"/>
          </a:xfrm>
          <a:prstGeom prst="rect">
            <a:avLst/>
          </a:prstGeom>
          <a:noFill/>
        </p:spPr>
        <p:txBody>
          <a:bodyPr wrap="square">
            <a:spAutoFit/>
          </a:bodyPr>
          <a:lstStyle/>
          <a:p>
            <a:pPr algn="l"/>
            <a:r>
              <a:rPr sz="1050" b="0" i="0">
                <a:solidFill>
                  <a:srgbClr val="444D6A"/>
                </a:solidFill>
                <a:latin typeface="Calibri"/>
              </a:rPr>
              <a:t>Our dataset = 2GB+ and 12.8M events. Pandas would crash (loads all data into one machine's RAM). Spark distributes the workload across CPU cores, uses lazy evaluation to optimise query plans automatically, and scales from a laptop to a cloud cluster — same code, zero changes.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Technology Stack</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Every component chosen for a reason — here's why</a:t>
            </a:r>
          </a:p>
        </p:txBody>
      </p:sp>
      <p:sp>
        <p:nvSpPr>
          <p:cNvPr id="7" name="Rectangle 6"/>
          <p:cNvSpPr/>
          <p:nvPr/>
        </p:nvSpPr>
        <p:spPr>
          <a:xfrm>
            <a:off x="502920" y="1316736"/>
            <a:ext cx="54864" cy="256032"/>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1E6FC8"/>
                </a:solidFill>
                <a:latin typeface="Calibri"/>
              </a:rPr>
              <a:t>03  ·  TECHNOLOGY CHOICES &amp; RATIONALE</a:t>
            </a:r>
          </a:p>
        </p:txBody>
      </p:sp>
      <p:sp>
        <p:nvSpPr>
          <p:cNvPr id="9" name="Rectangle 8"/>
          <p:cNvSpPr/>
          <p:nvPr/>
        </p:nvSpPr>
        <p:spPr>
          <a:xfrm>
            <a:off x="411480" y="1719072"/>
            <a:ext cx="2651760" cy="354787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19072"/>
            <a:ext cx="2651760" cy="43891"/>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1828800"/>
            <a:ext cx="2450592" cy="274320"/>
          </a:xfrm>
          <a:prstGeom prst="rect">
            <a:avLst/>
          </a:prstGeom>
          <a:noFill/>
        </p:spPr>
        <p:txBody>
          <a:bodyPr wrap="square">
            <a:spAutoFit/>
          </a:bodyPr>
          <a:lstStyle/>
          <a:p>
            <a:pPr algn="l"/>
            <a:r>
              <a:rPr sz="1200" b="1" i="0">
                <a:solidFill>
                  <a:srgbClr val="1E6FC8"/>
                </a:solidFill>
                <a:latin typeface="Calibri"/>
              </a:rPr>
              <a:t>Core Engine</a:t>
            </a:r>
          </a:p>
        </p:txBody>
      </p:sp>
      <p:sp>
        <p:nvSpPr>
          <p:cNvPr id="12" name="Rectangle 11"/>
          <p:cNvSpPr/>
          <p:nvPr/>
        </p:nvSpPr>
        <p:spPr>
          <a:xfrm>
            <a:off x="521208" y="221284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267712"/>
            <a:ext cx="2331720" cy="256032"/>
          </a:xfrm>
          <a:prstGeom prst="rect">
            <a:avLst/>
          </a:prstGeom>
          <a:noFill/>
        </p:spPr>
        <p:txBody>
          <a:bodyPr wrap="square">
            <a:spAutoFit/>
          </a:bodyPr>
          <a:lstStyle/>
          <a:p>
            <a:pPr algn="l"/>
            <a:r>
              <a:rPr sz="1050" b="1" i="0">
                <a:solidFill>
                  <a:srgbClr val="1A1D2E"/>
                </a:solidFill>
                <a:latin typeface="Calibri"/>
              </a:rPr>
              <a:t>Apache Spark 3.5</a:t>
            </a:r>
          </a:p>
        </p:txBody>
      </p:sp>
      <p:sp>
        <p:nvSpPr>
          <p:cNvPr id="14" name="TextBox 13"/>
          <p:cNvSpPr txBox="1"/>
          <p:nvPr/>
        </p:nvSpPr>
        <p:spPr>
          <a:xfrm>
            <a:off x="594360" y="2523744"/>
            <a:ext cx="2331720" cy="530352"/>
          </a:xfrm>
          <a:prstGeom prst="rect">
            <a:avLst/>
          </a:prstGeom>
          <a:noFill/>
        </p:spPr>
        <p:txBody>
          <a:bodyPr wrap="square">
            <a:spAutoFit/>
          </a:bodyPr>
          <a:lstStyle/>
          <a:p>
            <a:pPr algn="l"/>
            <a:r>
              <a:rPr sz="1000" b="0" i="0">
                <a:solidFill>
                  <a:srgbClr val="444D6A"/>
                </a:solidFill>
                <a:latin typeface="Calibri"/>
              </a:rPr>
              <a:t>Distributed in-memory processing. 100x faster than Hadoop MapReduce — keeps intermediate results in RAM.</a:t>
            </a:r>
          </a:p>
        </p:txBody>
      </p:sp>
      <p:sp>
        <p:nvSpPr>
          <p:cNvPr id="15" name="Rectangle 14"/>
          <p:cNvSpPr/>
          <p:nvPr/>
        </p:nvSpPr>
        <p:spPr>
          <a:xfrm>
            <a:off x="521208" y="321868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273552"/>
            <a:ext cx="2331720" cy="256032"/>
          </a:xfrm>
          <a:prstGeom prst="rect">
            <a:avLst/>
          </a:prstGeom>
          <a:noFill/>
        </p:spPr>
        <p:txBody>
          <a:bodyPr wrap="square">
            <a:spAutoFit/>
          </a:bodyPr>
          <a:lstStyle/>
          <a:p>
            <a:pPr algn="l"/>
            <a:r>
              <a:rPr sz="1050" b="1" i="0">
                <a:solidFill>
                  <a:srgbClr val="1A1D2E"/>
                </a:solidFill>
                <a:latin typeface="Calibri"/>
              </a:rPr>
              <a:t>PySpark</a:t>
            </a:r>
          </a:p>
        </p:txBody>
      </p:sp>
      <p:sp>
        <p:nvSpPr>
          <p:cNvPr id="17" name="TextBox 16"/>
          <p:cNvSpPr txBox="1"/>
          <p:nvPr/>
        </p:nvSpPr>
        <p:spPr>
          <a:xfrm>
            <a:off x="594360" y="3529584"/>
            <a:ext cx="2331720" cy="530352"/>
          </a:xfrm>
          <a:prstGeom prst="rect">
            <a:avLst/>
          </a:prstGeom>
          <a:noFill/>
        </p:spPr>
        <p:txBody>
          <a:bodyPr wrap="square">
            <a:spAutoFit/>
          </a:bodyPr>
          <a:lstStyle/>
          <a:p>
            <a:pPr algn="l"/>
            <a:r>
              <a:rPr sz="1000" b="0" i="0">
                <a:solidFill>
                  <a:srgbClr val="444D6A"/>
                </a:solidFill>
                <a:latin typeface="Calibri"/>
              </a:rPr>
              <a:t>Python API for Spark — full DataFrame API + SQL engine + MLlib + Streaming, all in one import.</a:t>
            </a:r>
          </a:p>
        </p:txBody>
      </p:sp>
      <p:sp>
        <p:nvSpPr>
          <p:cNvPr id="18" name="Rectangle 17"/>
          <p:cNvSpPr/>
          <p:nvPr/>
        </p:nvSpPr>
        <p:spPr>
          <a:xfrm>
            <a:off x="521208" y="422452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279392"/>
            <a:ext cx="2331720" cy="256032"/>
          </a:xfrm>
          <a:prstGeom prst="rect">
            <a:avLst/>
          </a:prstGeom>
          <a:noFill/>
        </p:spPr>
        <p:txBody>
          <a:bodyPr wrap="square">
            <a:spAutoFit/>
          </a:bodyPr>
          <a:lstStyle/>
          <a:p>
            <a:pPr algn="l"/>
            <a:r>
              <a:rPr sz="1050" b="1" i="0">
                <a:solidFill>
                  <a:srgbClr val="1A1D2E"/>
                </a:solidFill>
                <a:latin typeface="Calibri"/>
              </a:rPr>
              <a:t>Lazy Evaluation</a:t>
            </a:r>
          </a:p>
        </p:txBody>
      </p:sp>
      <p:sp>
        <p:nvSpPr>
          <p:cNvPr id="20" name="TextBox 19"/>
          <p:cNvSpPr txBox="1"/>
          <p:nvPr/>
        </p:nvSpPr>
        <p:spPr>
          <a:xfrm>
            <a:off x="594360" y="4535424"/>
            <a:ext cx="2331720" cy="530352"/>
          </a:xfrm>
          <a:prstGeom prst="rect">
            <a:avLst/>
          </a:prstGeom>
          <a:noFill/>
        </p:spPr>
        <p:txBody>
          <a:bodyPr wrap="square">
            <a:spAutoFit/>
          </a:bodyPr>
          <a:lstStyle/>
          <a:p>
            <a:pPr algn="l"/>
            <a:r>
              <a:rPr sz="1000" b="0" i="0">
                <a:solidFill>
                  <a:srgbClr val="444D6A"/>
                </a:solidFill>
                <a:latin typeface="Calibri"/>
              </a:rPr>
              <a:t>Spark builds a DAG of all operations, then executes the most efficient plan. Auto-optimised by Catalyst.</a:t>
            </a:r>
          </a:p>
        </p:txBody>
      </p:sp>
      <p:sp>
        <p:nvSpPr>
          <p:cNvPr id="21" name="Rectangle 20"/>
          <p:cNvSpPr/>
          <p:nvPr/>
        </p:nvSpPr>
        <p:spPr>
          <a:xfrm>
            <a:off x="3191256" y="1719072"/>
            <a:ext cx="2651760" cy="354787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91256" y="1719072"/>
            <a:ext cx="2651760" cy="43891"/>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19272" y="1828800"/>
            <a:ext cx="2450592" cy="274320"/>
          </a:xfrm>
          <a:prstGeom prst="rect">
            <a:avLst/>
          </a:prstGeom>
          <a:noFill/>
        </p:spPr>
        <p:txBody>
          <a:bodyPr wrap="square">
            <a:spAutoFit/>
          </a:bodyPr>
          <a:lstStyle/>
          <a:p>
            <a:pPr algn="l"/>
            <a:r>
              <a:rPr sz="1200" b="1" i="0">
                <a:solidFill>
                  <a:srgbClr val="6C3FC4"/>
                </a:solidFill>
                <a:latin typeface="Calibri"/>
              </a:rPr>
              <a:t>SQL &amp; Storage</a:t>
            </a:r>
          </a:p>
        </p:txBody>
      </p:sp>
      <p:sp>
        <p:nvSpPr>
          <p:cNvPr id="24" name="Rectangle 23"/>
          <p:cNvSpPr/>
          <p:nvPr/>
        </p:nvSpPr>
        <p:spPr>
          <a:xfrm>
            <a:off x="3300984" y="221284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74136" y="2267712"/>
            <a:ext cx="2331720" cy="256032"/>
          </a:xfrm>
          <a:prstGeom prst="rect">
            <a:avLst/>
          </a:prstGeom>
          <a:noFill/>
        </p:spPr>
        <p:txBody>
          <a:bodyPr wrap="square">
            <a:spAutoFit/>
          </a:bodyPr>
          <a:lstStyle/>
          <a:p>
            <a:pPr algn="l"/>
            <a:r>
              <a:rPr sz="1050" b="1" i="0">
                <a:solidFill>
                  <a:srgbClr val="1A1D2E"/>
                </a:solidFill>
                <a:latin typeface="Calibri"/>
              </a:rPr>
              <a:t>Spark SQL</a:t>
            </a:r>
          </a:p>
        </p:txBody>
      </p:sp>
      <p:sp>
        <p:nvSpPr>
          <p:cNvPr id="26" name="TextBox 25"/>
          <p:cNvSpPr txBox="1"/>
          <p:nvPr/>
        </p:nvSpPr>
        <p:spPr>
          <a:xfrm>
            <a:off x="3374136" y="2523744"/>
            <a:ext cx="2331720" cy="530352"/>
          </a:xfrm>
          <a:prstGeom prst="rect">
            <a:avLst/>
          </a:prstGeom>
          <a:noFill/>
        </p:spPr>
        <p:txBody>
          <a:bodyPr wrap="square">
            <a:spAutoFit/>
          </a:bodyPr>
          <a:lstStyle/>
          <a:p>
            <a:pPr algn="l"/>
            <a:r>
              <a:rPr sz="1000" b="0" i="0">
                <a:solidFill>
                  <a:srgbClr val="444D6A"/>
                </a:solidFill>
                <a:latin typeface="Calibri"/>
              </a:rPr>
              <a:t>ANSI SQL on distributed DataFrames. Supports CTEs, window functions, LATERAL VIEW EXPLODE — at scale.</a:t>
            </a:r>
          </a:p>
        </p:txBody>
      </p:sp>
      <p:sp>
        <p:nvSpPr>
          <p:cNvPr id="27" name="Rectangle 26"/>
          <p:cNvSpPr/>
          <p:nvPr/>
        </p:nvSpPr>
        <p:spPr>
          <a:xfrm>
            <a:off x="3300984" y="321868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74136" y="3273552"/>
            <a:ext cx="2331720" cy="256032"/>
          </a:xfrm>
          <a:prstGeom prst="rect">
            <a:avLst/>
          </a:prstGeom>
          <a:noFill/>
        </p:spPr>
        <p:txBody>
          <a:bodyPr wrap="square">
            <a:spAutoFit/>
          </a:bodyPr>
          <a:lstStyle/>
          <a:p>
            <a:pPr algn="l"/>
            <a:r>
              <a:rPr sz="1050" b="1" i="0">
                <a:solidFill>
                  <a:srgbClr val="1A1D2E"/>
                </a:solidFill>
                <a:latin typeface="Calibri"/>
              </a:rPr>
              <a:t>Parquet Format</a:t>
            </a:r>
          </a:p>
        </p:txBody>
      </p:sp>
      <p:sp>
        <p:nvSpPr>
          <p:cNvPr id="29" name="TextBox 28"/>
          <p:cNvSpPr txBox="1"/>
          <p:nvPr/>
        </p:nvSpPr>
        <p:spPr>
          <a:xfrm>
            <a:off x="3374136" y="3529584"/>
            <a:ext cx="2331720" cy="530352"/>
          </a:xfrm>
          <a:prstGeom prst="rect">
            <a:avLst/>
          </a:prstGeom>
          <a:noFill/>
        </p:spPr>
        <p:txBody>
          <a:bodyPr wrap="square">
            <a:spAutoFit/>
          </a:bodyPr>
          <a:lstStyle/>
          <a:p>
            <a:pPr algn="l"/>
            <a:r>
              <a:rPr sz="1000" b="0" i="0">
                <a:solidFill>
                  <a:srgbClr val="444D6A"/>
                </a:solidFill>
                <a:latin typeface="Calibri"/>
              </a:rPr>
              <a:t>Columnar storage: 10× smaller files, 30× faster reads than CSV. Only reads the columns a query needs.</a:t>
            </a:r>
          </a:p>
        </p:txBody>
      </p:sp>
      <p:sp>
        <p:nvSpPr>
          <p:cNvPr id="30" name="Rectangle 29"/>
          <p:cNvSpPr/>
          <p:nvPr/>
        </p:nvSpPr>
        <p:spPr>
          <a:xfrm>
            <a:off x="3300984" y="422452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74136" y="4279392"/>
            <a:ext cx="2331720" cy="256032"/>
          </a:xfrm>
          <a:prstGeom prst="rect">
            <a:avLst/>
          </a:prstGeom>
          <a:noFill/>
        </p:spPr>
        <p:txBody>
          <a:bodyPr wrap="square">
            <a:spAutoFit/>
          </a:bodyPr>
          <a:lstStyle/>
          <a:p>
            <a:pPr algn="l"/>
            <a:r>
              <a:rPr sz="1050" b="1" i="0">
                <a:solidFill>
                  <a:srgbClr val="1A1D2E"/>
                </a:solidFill>
                <a:latin typeface="Calibri"/>
              </a:rPr>
              <a:t>Catalyst Optimizer</a:t>
            </a:r>
          </a:p>
        </p:txBody>
      </p:sp>
      <p:sp>
        <p:nvSpPr>
          <p:cNvPr id="32" name="TextBox 31"/>
          <p:cNvSpPr txBox="1"/>
          <p:nvPr/>
        </p:nvSpPr>
        <p:spPr>
          <a:xfrm>
            <a:off x="3374136" y="4535424"/>
            <a:ext cx="2331720" cy="530352"/>
          </a:xfrm>
          <a:prstGeom prst="rect">
            <a:avLst/>
          </a:prstGeom>
          <a:noFill/>
        </p:spPr>
        <p:txBody>
          <a:bodyPr wrap="square">
            <a:spAutoFit/>
          </a:bodyPr>
          <a:lstStyle/>
          <a:p>
            <a:pPr algn="l"/>
            <a:r>
              <a:rPr sz="1000" b="0" i="0">
                <a:solidFill>
                  <a:srgbClr val="444D6A"/>
                </a:solidFill>
                <a:latin typeface="Calibri"/>
              </a:rPr>
              <a:t>Spark's query planner. Rewrites your SQL into the most efficient physical execution plan automatically.</a:t>
            </a:r>
          </a:p>
        </p:txBody>
      </p:sp>
      <p:sp>
        <p:nvSpPr>
          <p:cNvPr id="33" name="Rectangle 32"/>
          <p:cNvSpPr/>
          <p:nvPr/>
        </p:nvSpPr>
        <p:spPr>
          <a:xfrm>
            <a:off x="5971032" y="1719072"/>
            <a:ext cx="2651760" cy="354787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71032" y="1719072"/>
            <a:ext cx="2651760" cy="43891"/>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99048" y="1828800"/>
            <a:ext cx="2450592" cy="274320"/>
          </a:xfrm>
          <a:prstGeom prst="rect">
            <a:avLst/>
          </a:prstGeom>
          <a:noFill/>
        </p:spPr>
        <p:txBody>
          <a:bodyPr wrap="square">
            <a:spAutoFit/>
          </a:bodyPr>
          <a:lstStyle/>
          <a:p>
            <a:pPr algn="l"/>
            <a:r>
              <a:rPr sz="1200" b="1" i="0">
                <a:solidFill>
                  <a:srgbClr val="D46B08"/>
                </a:solidFill>
                <a:latin typeface="Calibri"/>
              </a:rPr>
              <a:t>Machine Learning</a:t>
            </a:r>
          </a:p>
        </p:txBody>
      </p:sp>
      <p:sp>
        <p:nvSpPr>
          <p:cNvPr id="36" name="Rectangle 35"/>
          <p:cNvSpPr/>
          <p:nvPr/>
        </p:nvSpPr>
        <p:spPr>
          <a:xfrm>
            <a:off x="6080760" y="221284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53912" y="2267712"/>
            <a:ext cx="2331720" cy="256032"/>
          </a:xfrm>
          <a:prstGeom prst="rect">
            <a:avLst/>
          </a:prstGeom>
          <a:noFill/>
        </p:spPr>
        <p:txBody>
          <a:bodyPr wrap="square">
            <a:spAutoFit/>
          </a:bodyPr>
          <a:lstStyle/>
          <a:p>
            <a:pPr algn="l"/>
            <a:r>
              <a:rPr sz="1050" b="1" i="0">
                <a:solidFill>
                  <a:srgbClr val="1A1D2E"/>
                </a:solidFill>
                <a:latin typeface="Calibri"/>
              </a:rPr>
              <a:t>MLlib Pipeline API</a:t>
            </a:r>
          </a:p>
        </p:txBody>
      </p:sp>
      <p:sp>
        <p:nvSpPr>
          <p:cNvPr id="38" name="TextBox 37"/>
          <p:cNvSpPr txBox="1"/>
          <p:nvPr/>
        </p:nvSpPr>
        <p:spPr>
          <a:xfrm>
            <a:off x="6153912" y="2523744"/>
            <a:ext cx="2331720" cy="530352"/>
          </a:xfrm>
          <a:prstGeom prst="rect">
            <a:avLst/>
          </a:prstGeom>
          <a:noFill/>
        </p:spPr>
        <p:txBody>
          <a:bodyPr wrap="square">
            <a:spAutoFit/>
          </a:bodyPr>
          <a:lstStyle/>
          <a:p>
            <a:pPr algn="l"/>
            <a:r>
              <a:rPr sz="1000" b="0" i="0">
                <a:solidFill>
                  <a:srgbClr val="444D6A"/>
                </a:solidFill>
                <a:latin typeface="Calibri"/>
              </a:rPr>
              <a:t>Stages: Indexer → Assembler → Model. Clean, reproducible ML. The same pipeline works on 1K or 1B rows.</a:t>
            </a:r>
          </a:p>
        </p:txBody>
      </p:sp>
      <p:sp>
        <p:nvSpPr>
          <p:cNvPr id="39" name="Rectangle 38"/>
          <p:cNvSpPr/>
          <p:nvPr/>
        </p:nvSpPr>
        <p:spPr>
          <a:xfrm>
            <a:off x="6080760" y="321868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53912" y="3273552"/>
            <a:ext cx="2331720" cy="256032"/>
          </a:xfrm>
          <a:prstGeom prst="rect">
            <a:avLst/>
          </a:prstGeom>
          <a:noFill/>
        </p:spPr>
        <p:txBody>
          <a:bodyPr wrap="square">
            <a:spAutoFit/>
          </a:bodyPr>
          <a:lstStyle/>
          <a:p>
            <a:pPr algn="l"/>
            <a:r>
              <a:rPr sz="1050" b="1" i="0">
                <a:solidFill>
                  <a:srgbClr val="1A1D2E"/>
                </a:solidFill>
                <a:latin typeface="Calibri"/>
              </a:rPr>
              <a:t>VectorAssembler</a:t>
            </a:r>
          </a:p>
        </p:txBody>
      </p:sp>
      <p:sp>
        <p:nvSpPr>
          <p:cNvPr id="41" name="TextBox 40"/>
          <p:cNvSpPr txBox="1"/>
          <p:nvPr/>
        </p:nvSpPr>
        <p:spPr>
          <a:xfrm>
            <a:off x="6153912" y="3529584"/>
            <a:ext cx="2331720" cy="530352"/>
          </a:xfrm>
          <a:prstGeom prst="rect">
            <a:avLst/>
          </a:prstGeom>
          <a:noFill/>
        </p:spPr>
        <p:txBody>
          <a:bodyPr wrap="square">
            <a:spAutoFit/>
          </a:bodyPr>
          <a:lstStyle/>
          <a:p>
            <a:pPr algn="l"/>
            <a:r>
              <a:rPr sz="1000" b="0" i="0">
                <a:solidFill>
                  <a:srgbClr val="444D6A"/>
                </a:solidFill>
                <a:latin typeface="Calibri"/>
              </a:rPr>
              <a:t>Combines multiple feature columns into one dense vector — required input format for all Spark ML models.</a:t>
            </a:r>
          </a:p>
        </p:txBody>
      </p:sp>
      <p:sp>
        <p:nvSpPr>
          <p:cNvPr id="42" name="Rectangle 41"/>
          <p:cNvSpPr/>
          <p:nvPr/>
        </p:nvSpPr>
        <p:spPr>
          <a:xfrm>
            <a:off x="6080760" y="422452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53912" y="4279392"/>
            <a:ext cx="2331720" cy="256032"/>
          </a:xfrm>
          <a:prstGeom prst="rect">
            <a:avLst/>
          </a:prstGeom>
          <a:noFill/>
        </p:spPr>
        <p:txBody>
          <a:bodyPr wrap="square">
            <a:spAutoFit/>
          </a:bodyPr>
          <a:lstStyle/>
          <a:p>
            <a:pPr algn="l"/>
            <a:r>
              <a:rPr sz="1050" b="1" i="0">
                <a:solidFill>
                  <a:srgbClr val="1A1D2E"/>
                </a:solidFill>
                <a:latin typeface="Calibri"/>
              </a:rPr>
              <a:t>Distributed Training</a:t>
            </a:r>
          </a:p>
        </p:txBody>
      </p:sp>
      <p:sp>
        <p:nvSpPr>
          <p:cNvPr id="44" name="TextBox 43"/>
          <p:cNvSpPr txBox="1"/>
          <p:nvPr/>
        </p:nvSpPr>
        <p:spPr>
          <a:xfrm>
            <a:off x="6153912" y="4535424"/>
            <a:ext cx="2331720" cy="530352"/>
          </a:xfrm>
          <a:prstGeom prst="rect">
            <a:avLst/>
          </a:prstGeom>
          <a:noFill/>
        </p:spPr>
        <p:txBody>
          <a:bodyPr wrap="square">
            <a:spAutoFit/>
          </a:bodyPr>
          <a:lstStyle/>
          <a:p>
            <a:pPr algn="l"/>
            <a:r>
              <a:rPr sz="1000" b="0" i="0">
                <a:solidFill>
                  <a:srgbClr val="444D6A"/>
                </a:solidFill>
                <a:latin typeface="Calibri"/>
              </a:rPr>
              <a:t>MLlib trains models across all CPU cores simultaneously. scikit-learn trains on one core — doesn't scale.</a:t>
            </a:r>
          </a:p>
        </p:txBody>
      </p:sp>
      <p:sp>
        <p:nvSpPr>
          <p:cNvPr id="45" name="Rectangle 44"/>
          <p:cNvSpPr/>
          <p:nvPr/>
        </p:nvSpPr>
        <p:spPr>
          <a:xfrm>
            <a:off x="8750808" y="1719072"/>
            <a:ext cx="2651760" cy="354787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750808" y="1719072"/>
            <a:ext cx="2651760" cy="43891"/>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78824" y="1828800"/>
            <a:ext cx="2450592" cy="274320"/>
          </a:xfrm>
          <a:prstGeom prst="rect">
            <a:avLst/>
          </a:prstGeom>
          <a:noFill/>
        </p:spPr>
        <p:txBody>
          <a:bodyPr wrap="square">
            <a:spAutoFit/>
          </a:bodyPr>
          <a:lstStyle/>
          <a:p>
            <a:pPr algn="l"/>
            <a:r>
              <a:rPr sz="1200" b="1" i="0">
                <a:solidFill>
                  <a:srgbClr val="0F9B56"/>
                </a:solidFill>
                <a:latin typeface="Calibri"/>
              </a:rPr>
              <a:t>Streaming</a:t>
            </a:r>
          </a:p>
        </p:txBody>
      </p:sp>
      <p:sp>
        <p:nvSpPr>
          <p:cNvPr id="48" name="Rectangle 47"/>
          <p:cNvSpPr/>
          <p:nvPr/>
        </p:nvSpPr>
        <p:spPr>
          <a:xfrm>
            <a:off x="8860536" y="221284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33688" y="2267712"/>
            <a:ext cx="2331720" cy="256032"/>
          </a:xfrm>
          <a:prstGeom prst="rect">
            <a:avLst/>
          </a:prstGeom>
          <a:noFill/>
        </p:spPr>
        <p:txBody>
          <a:bodyPr wrap="square">
            <a:spAutoFit/>
          </a:bodyPr>
          <a:lstStyle/>
          <a:p>
            <a:pPr algn="l"/>
            <a:r>
              <a:rPr sz="1050" b="1" i="0">
                <a:solidFill>
                  <a:srgbClr val="1A1D2E"/>
                </a:solidFill>
                <a:latin typeface="Calibri"/>
              </a:rPr>
              <a:t>Structured Streaming</a:t>
            </a:r>
          </a:p>
        </p:txBody>
      </p:sp>
      <p:sp>
        <p:nvSpPr>
          <p:cNvPr id="50" name="TextBox 49"/>
          <p:cNvSpPr txBox="1"/>
          <p:nvPr/>
        </p:nvSpPr>
        <p:spPr>
          <a:xfrm>
            <a:off x="8933688" y="2523744"/>
            <a:ext cx="2331720" cy="530352"/>
          </a:xfrm>
          <a:prstGeom prst="rect">
            <a:avLst/>
          </a:prstGeom>
          <a:noFill/>
        </p:spPr>
        <p:txBody>
          <a:bodyPr wrap="square">
            <a:spAutoFit/>
          </a:bodyPr>
          <a:lstStyle/>
          <a:p>
            <a:pPr algn="l"/>
            <a:r>
              <a:rPr sz="1000" b="0" i="0">
                <a:solidFill>
                  <a:srgbClr val="444D6A"/>
                </a:solidFill>
                <a:latin typeface="Calibri"/>
              </a:rPr>
              <a:t>Treats a live event stream as an unbounded table. Run the same SQL queries and ML on live data.</a:t>
            </a:r>
          </a:p>
        </p:txBody>
      </p:sp>
      <p:sp>
        <p:nvSpPr>
          <p:cNvPr id="51" name="Rectangle 50"/>
          <p:cNvSpPr/>
          <p:nvPr/>
        </p:nvSpPr>
        <p:spPr>
          <a:xfrm>
            <a:off x="8860536" y="321868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33688" y="3273552"/>
            <a:ext cx="2331720" cy="256032"/>
          </a:xfrm>
          <a:prstGeom prst="rect">
            <a:avLst/>
          </a:prstGeom>
          <a:noFill/>
        </p:spPr>
        <p:txBody>
          <a:bodyPr wrap="square">
            <a:spAutoFit/>
          </a:bodyPr>
          <a:lstStyle/>
          <a:p>
            <a:pPr algn="l"/>
            <a:r>
              <a:rPr sz="1050" b="1" i="0">
                <a:solidFill>
                  <a:srgbClr val="1A1D2E"/>
                </a:solidFill>
                <a:latin typeface="Calibri"/>
              </a:rPr>
              <a:t>foreachBatch</a:t>
            </a:r>
          </a:p>
        </p:txBody>
      </p:sp>
      <p:sp>
        <p:nvSpPr>
          <p:cNvPr id="53" name="TextBox 52"/>
          <p:cNvSpPr txBox="1"/>
          <p:nvPr/>
        </p:nvSpPr>
        <p:spPr>
          <a:xfrm>
            <a:off x="8933688" y="3529584"/>
            <a:ext cx="2331720" cy="530352"/>
          </a:xfrm>
          <a:prstGeom prst="rect">
            <a:avLst/>
          </a:prstGeom>
          <a:noFill/>
        </p:spPr>
        <p:txBody>
          <a:bodyPr wrap="square">
            <a:spAutoFit/>
          </a:bodyPr>
          <a:lstStyle/>
          <a:p>
            <a:pPr algn="l"/>
            <a:r>
              <a:rPr sz="1000" b="0" i="0">
                <a:solidFill>
                  <a:srgbClr val="444D6A"/>
                </a:solidFill>
                <a:latin typeface="Calibri"/>
              </a:rPr>
              <a:t>Applies any Python code (including pre-trained ML models) to each micro-batch of streaming events.</a:t>
            </a:r>
          </a:p>
        </p:txBody>
      </p:sp>
      <p:sp>
        <p:nvSpPr>
          <p:cNvPr id="54" name="Rectangle 53"/>
          <p:cNvSpPr/>
          <p:nvPr/>
        </p:nvSpPr>
        <p:spPr>
          <a:xfrm>
            <a:off x="8860536" y="4224528"/>
            <a:ext cx="2432304"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33688" y="4279392"/>
            <a:ext cx="2331720" cy="256032"/>
          </a:xfrm>
          <a:prstGeom prst="rect">
            <a:avLst/>
          </a:prstGeom>
          <a:noFill/>
        </p:spPr>
        <p:txBody>
          <a:bodyPr wrap="square">
            <a:spAutoFit/>
          </a:bodyPr>
          <a:lstStyle/>
          <a:p>
            <a:pPr algn="l"/>
            <a:r>
              <a:rPr sz="1050" b="1" i="0">
                <a:solidFill>
                  <a:srgbClr val="1A1D2E"/>
                </a:solidFill>
                <a:latin typeface="Calibri"/>
              </a:rPr>
              <a:t>Stream-Static JOIN</a:t>
            </a:r>
          </a:p>
        </p:txBody>
      </p:sp>
      <p:sp>
        <p:nvSpPr>
          <p:cNvPr id="56" name="TextBox 55"/>
          <p:cNvSpPr txBox="1"/>
          <p:nvPr/>
        </p:nvSpPr>
        <p:spPr>
          <a:xfrm>
            <a:off x="8933688" y="4535424"/>
            <a:ext cx="2331720" cy="530352"/>
          </a:xfrm>
          <a:prstGeom prst="rect">
            <a:avLst/>
          </a:prstGeom>
          <a:noFill/>
        </p:spPr>
        <p:txBody>
          <a:bodyPr wrap="square">
            <a:spAutoFit/>
          </a:bodyPr>
          <a:lstStyle/>
          <a:p>
            <a:pPr algn="l"/>
            <a:r>
              <a:rPr sz="1000" b="0" i="0">
                <a:solidFill>
                  <a:srgbClr val="444D6A"/>
                </a:solidFill>
                <a:latin typeface="Calibri"/>
              </a:rPr>
              <a:t>Joins live events with a static product catalog. Broadcast join: catalog loaded once, enriches every event.</a:t>
            </a:r>
          </a:p>
        </p:txBody>
      </p:sp>
      <p:sp>
        <p:nvSpPr>
          <p:cNvPr id="57" name="Rectangle 56"/>
          <p:cNvSpPr/>
          <p:nvPr/>
        </p:nvSpPr>
        <p:spPr>
          <a:xfrm>
            <a:off x="502920" y="5394960"/>
            <a:ext cx="11173968" cy="16459"/>
          </a:xfrm>
          <a:prstGeom prst="rect">
            <a:avLst/>
          </a:prstGeom>
          <a:solidFill>
            <a:srgbClr val="D0D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2920" y="5468112"/>
            <a:ext cx="11173968" cy="411480"/>
          </a:xfrm>
          <a:prstGeom prst="rect">
            <a:avLst/>
          </a:prstGeom>
          <a:noFill/>
        </p:spPr>
        <p:txBody>
          <a:bodyPr wrap="square">
            <a:spAutoFit/>
          </a:bodyPr>
          <a:lstStyle/>
          <a:p>
            <a:pPr algn="l"/>
            <a:r>
              <a:rPr sz="1100" b="0" i="1">
                <a:solidFill>
                  <a:srgbClr val="14235E"/>
                </a:solidFill>
                <a:latin typeface="Calibri"/>
              </a:rPr>
              <a:t>Key insight:  Spark provides ONE unified API for batch SQL, machine learning, AND real-time streaming. We did not need three separate tools — one Spark cluster handled all three pipeline stages.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Data &amp; Exploratory Data Analysis (EDA)</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What data we have — and why understanding it first shapes everything downstream</a:t>
            </a:r>
          </a:p>
        </p:txBody>
      </p:sp>
      <p:sp>
        <p:nvSpPr>
          <p:cNvPr id="7" name="Rectangle 6"/>
          <p:cNvSpPr/>
          <p:nvPr/>
        </p:nvSpPr>
        <p:spPr>
          <a:xfrm>
            <a:off x="502920" y="1316736"/>
            <a:ext cx="54864" cy="256032"/>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087079"/>
                </a:solidFill>
                <a:latin typeface="Calibri"/>
              </a:rPr>
              <a:t>04  ·  DATASET OVERVIEW &amp; EDA FINDINGS</a:t>
            </a:r>
          </a:p>
        </p:txBody>
      </p:sp>
      <p:sp>
        <p:nvSpPr>
          <p:cNvPr id="9" name="Rectangle 8"/>
          <p:cNvSpPr/>
          <p:nvPr/>
        </p:nvSpPr>
        <p:spPr>
          <a:xfrm>
            <a:off x="502920" y="1719072"/>
            <a:ext cx="5394960" cy="3218688"/>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810512"/>
            <a:ext cx="5120640" cy="274320"/>
          </a:xfrm>
          <a:prstGeom prst="rect">
            <a:avLst/>
          </a:prstGeom>
          <a:noFill/>
        </p:spPr>
        <p:txBody>
          <a:bodyPr wrap="square">
            <a:spAutoFit/>
          </a:bodyPr>
          <a:lstStyle/>
          <a:p>
            <a:pPr algn="l"/>
            <a:r>
              <a:rPr sz="1200" b="1" i="0">
                <a:solidFill>
                  <a:srgbClr val="14235E"/>
                </a:solidFill>
                <a:latin typeface="Calibri"/>
              </a:rPr>
              <a:t>Dataset: 4 Interconnected Tables</a:t>
            </a:r>
          </a:p>
        </p:txBody>
      </p:sp>
      <p:sp>
        <p:nvSpPr>
          <p:cNvPr id="11" name="Rectangle 10"/>
          <p:cNvSpPr/>
          <p:nvPr/>
        </p:nvSpPr>
        <p:spPr>
          <a:xfrm>
            <a:off x="566928" y="2212848"/>
            <a:ext cx="5266944" cy="2743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249424"/>
            <a:ext cx="1024128" cy="219456"/>
          </a:xfrm>
          <a:prstGeom prst="rect">
            <a:avLst/>
          </a:prstGeom>
          <a:noFill/>
        </p:spPr>
        <p:txBody>
          <a:bodyPr wrap="square">
            <a:spAutoFit/>
          </a:bodyPr>
          <a:lstStyle/>
          <a:p>
            <a:pPr algn="l"/>
            <a:r>
              <a:rPr sz="900" b="1" i="0">
                <a:solidFill>
                  <a:srgbClr val="7A84A8"/>
                </a:solidFill>
                <a:latin typeface="Calibri"/>
              </a:rPr>
              <a:t>Table</a:t>
            </a:r>
          </a:p>
        </p:txBody>
      </p:sp>
      <p:sp>
        <p:nvSpPr>
          <p:cNvPr id="13" name="TextBox 12"/>
          <p:cNvSpPr txBox="1"/>
          <p:nvPr/>
        </p:nvSpPr>
        <p:spPr>
          <a:xfrm>
            <a:off x="1737360" y="2249424"/>
            <a:ext cx="960120" cy="219456"/>
          </a:xfrm>
          <a:prstGeom prst="rect">
            <a:avLst/>
          </a:prstGeom>
          <a:noFill/>
        </p:spPr>
        <p:txBody>
          <a:bodyPr wrap="square">
            <a:spAutoFit/>
          </a:bodyPr>
          <a:lstStyle/>
          <a:p>
            <a:pPr algn="l"/>
            <a:r>
              <a:rPr sz="900" b="1" i="0">
                <a:solidFill>
                  <a:srgbClr val="7A84A8"/>
                </a:solidFill>
                <a:latin typeface="Calibri"/>
              </a:rPr>
              <a:t>Rows</a:t>
            </a:r>
          </a:p>
        </p:txBody>
      </p:sp>
      <p:sp>
        <p:nvSpPr>
          <p:cNvPr id="14" name="TextBox 13"/>
          <p:cNvSpPr txBox="1"/>
          <p:nvPr/>
        </p:nvSpPr>
        <p:spPr>
          <a:xfrm>
            <a:off x="2743200" y="2249424"/>
            <a:ext cx="2121408" cy="219456"/>
          </a:xfrm>
          <a:prstGeom prst="rect">
            <a:avLst/>
          </a:prstGeom>
          <a:noFill/>
        </p:spPr>
        <p:txBody>
          <a:bodyPr wrap="square">
            <a:spAutoFit/>
          </a:bodyPr>
          <a:lstStyle/>
          <a:p>
            <a:pPr algn="l"/>
            <a:r>
              <a:rPr sz="900" b="1" i="0">
                <a:solidFill>
                  <a:srgbClr val="7A84A8"/>
                </a:solidFill>
                <a:latin typeface="Calibri"/>
              </a:rPr>
              <a:t>Key Columns</a:t>
            </a:r>
          </a:p>
        </p:txBody>
      </p:sp>
      <p:sp>
        <p:nvSpPr>
          <p:cNvPr id="15" name="Rectangle 14"/>
          <p:cNvSpPr/>
          <p:nvPr/>
        </p:nvSpPr>
        <p:spPr>
          <a:xfrm>
            <a:off x="566928" y="2505456"/>
            <a:ext cx="5266944" cy="40233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69464"/>
            <a:ext cx="1024128" cy="274320"/>
          </a:xfrm>
          <a:prstGeom prst="rect">
            <a:avLst/>
          </a:prstGeom>
          <a:noFill/>
        </p:spPr>
        <p:txBody>
          <a:bodyPr wrap="square">
            <a:spAutoFit/>
          </a:bodyPr>
          <a:lstStyle/>
          <a:p>
            <a:pPr algn="l"/>
            <a:r>
              <a:rPr sz="1050" b="0" i="0">
                <a:solidFill>
                  <a:srgbClr val="444D6A"/>
                </a:solidFill>
                <a:latin typeface="Calibri"/>
              </a:rPr>
              <a:t>customers.csv</a:t>
            </a:r>
          </a:p>
        </p:txBody>
      </p:sp>
      <p:sp>
        <p:nvSpPr>
          <p:cNvPr id="17" name="TextBox 16"/>
          <p:cNvSpPr txBox="1"/>
          <p:nvPr/>
        </p:nvSpPr>
        <p:spPr>
          <a:xfrm>
            <a:off x="1737360" y="2569464"/>
            <a:ext cx="960120" cy="274320"/>
          </a:xfrm>
          <a:prstGeom prst="rect">
            <a:avLst/>
          </a:prstGeom>
          <a:noFill/>
        </p:spPr>
        <p:txBody>
          <a:bodyPr wrap="square">
            <a:spAutoFit/>
          </a:bodyPr>
          <a:lstStyle/>
          <a:p>
            <a:pPr algn="l"/>
            <a:r>
              <a:rPr sz="1050" b="0" i="0">
                <a:solidFill>
                  <a:srgbClr val="444D6A"/>
                </a:solidFill>
                <a:latin typeface="Calibri"/>
              </a:rPr>
              <a:t>100,000</a:t>
            </a:r>
          </a:p>
        </p:txBody>
      </p:sp>
      <p:sp>
        <p:nvSpPr>
          <p:cNvPr id="18" name="TextBox 17"/>
          <p:cNvSpPr txBox="1"/>
          <p:nvPr/>
        </p:nvSpPr>
        <p:spPr>
          <a:xfrm>
            <a:off x="2743200" y="2569464"/>
            <a:ext cx="2121408" cy="274320"/>
          </a:xfrm>
          <a:prstGeom prst="rect">
            <a:avLst/>
          </a:prstGeom>
          <a:noFill/>
        </p:spPr>
        <p:txBody>
          <a:bodyPr wrap="square">
            <a:spAutoFit/>
          </a:bodyPr>
          <a:lstStyle/>
          <a:p>
            <a:pPr algn="l"/>
            <a:r>
              <a:rPr sz="1050" b="0" i="0">
                <a:solidFill>
                  <a:srgbClr val="444D6A"/>
                </a:solidFill>
                <a:latin typeface="Calibri"/>
              </a:rPr>
              <a:t>gender, device, city, DOB</a:t>
            </a:r>
          </a:p>
        </p:txBody>
      </p:sp>
      <p:sp>
        <p:nvSpPr>
          <p:cNvPr id="19" name="Rectangle 18"/>
          <p:cNvSpPr/>
          <p:nvPr/>
        </p:nvSpPr>
        <p:spPr>
          <a:xfrm>
            <a:off x="566928" y="2907792"/>
            <a:ext cx="5266944"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971800"/>
            <a:ext cx="1024128" cy="274320"/>
          </a:xfrm>
          <a:prstGeom prst="rect">
            <a:avLst/>
          </a:prstGeom>
          <a:noFill/>
        </p:spPr>
        <p:txBody>
          <a:bodyPr wrap="square">
            <a:spAutoFit/>
          </a:bodyPr>
          <a:lstStyle/>
          <a:p>
            <a:pPr algn="l"/>
            <a:r>
              <a:rPr sz="1050" b="0" i="0">
                <a:solidFill>
                  <a:srgbClr val="444D6A"/>
                </a:solidFill>
                <a:latin typeface="Calibri"/>
              </a:rPr>
              <a:t>products.csv</a:t>
            </a:r>
          </a:p>
        </p:txBody>
      </p:sp>
      <p:sp>
        <p:nvSpPr>
          <p:cNvPr id="21" name="TextBox 20"/>
          <p:cNvSpPr txBox="1"/>
          <p:nvPr/>
        </p:nvSpPr>
        <p:spPr>
          <a:xfrm>
            <a:off x="1737360" y="2971800"/>
            <a:ext cx="960120" cy="274320"/>
          </a:xfrm>
          <a:prstGeom prst="rect">
            <a:avLst/>
          </a:prstGeom>
          <a:noFill/>
        </p:spPr>
        <p:txBody>
          <a:bodyPr wrap="square">
            <a:spAutoFit/>
          </a:bodyPr>
          <a:lstStyle/>
          <a:p>
            <a:pPr algn="l"/>
            <a:r>
              <a:rPr sz="1050" b="0" i="0">
                <a:solidFill>
                  <a:srgbClr val="444D6A"/>
                </a:solidFill>
                <a:latin typeface="Calibri"/>
              </a:rPr>
              <a:t>44,000</a:t>
            </a:r>
          </a:p>
        </p:txBody>
      </p:sp>
      <p:sp>
        <p:nvSpPr>
          <p:cNvPr id="22" name="TextBox 21"/>
          <p:cNvSpPr txBox="1"/>
          <p:nvPr/>
        </p:nvSpPr>
        <p:spPr>
          <a:xfrm>
            <a:off x="2743200" y="2971800"/>
            <a:ext cx="2121408" cy="274320"/>
          </a:xfrm>
          <a:prstGeom prst="rect">
            <a:avLst/>
          </a:prstGeom>
          <a:noFill/>
        </p:spPr>
        <p:txBody>
          <a:bodyPr wrap="square">
            <a:spAutoFit/>
          </a:bodyPr>
          <a:lstStyle/>
          <a:p>
            <a:pPr algn="l"/>
            <a:r>
              <a:rPr sz="1050" b="0" i="0">
                <a:solidFill>
                  <a:srgbClr val="444D6A"/>
                </a:solidFill>
                <a:latin typeface="Calibri"/>
              </a:rPr>
              <a:t>category, brand, colour, season</a:t>
            </a:r>
          </a:p>
        </p:txBody>
      </p:sp>
      <p:sp>
        <p:nvSpPr>
          <p:cNvPr id="23" name="Rectangle 22"/>
          <p:cNvSpPr/>
          <p:nvPr/>
        </p:nvSpPr>
        <p:spPr>
          <a:xfrm>
            <a:off x="566928" y="3310128"/>
            <a:ext cx="5266944" cy="40233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374136"/>
            <a:ext cx="1024128" cy="274320"/>
          </a:xfrm>
          <a:prstGeom prst="rect">
            <a:avLst/>
          </a:prstGeom>
          <a:noFill/>
        </p:spPr>
        <p:txBody>
          <a:bodyPr wrap="square">
            <a:spAutoFit/>
          </a:bodyPr>
          <a:lstStyle/>
          <a:p>
            <a:pPr algn="l"/>
            <a:r>
              <a:rPr sz="1050" b="0" i="0">
                <a:solidFill>
                  <a:srgbClr val="444D6A"/>
                </a:solidFill>
                <a:latin typeface="Calibri"/>
              </a:rPr>
              <a:t>transactions.csv</a:t>
            </a:r>
          </a:p>
        </p:txBody>
      </p:sp>
      <p:sp>
        <p:nvSpPr>
          <p:cNvPr id="25" name="TextBox 24"/>
          <p:cNvSpPr txBox="1"/>
          <p:nvPr/>
        </p:nvSpPr>
        <p:spPr>
          <a:xfrm>
            <a:off x="1737360" y="3374136"/>
            <a:ext cx="960120" cy="274320"/>
          </a:xfrm>
          <a:prstGeom prst="rect">
            <a:avLst/>
          </a:prstGeom>
          <a:noFill/>
        </p:spPr>
        <p:txBody>
          <a:bodyPr wrap="square">
            <a:spAutoFit/>
          </a:bodyPr>
          <a:lstStyle/>
          <a:p>
            <a:pPr algn="l"/>
            <a:r>
              <a:rPr sz="1050" b="0" i="0">
                <a:solidFill>
                  <a:srgbClr val="444D6A"/>
                </a:solidFill>
                <a:latin typeface="Calibri"/>
              </a:rPr>
              <a:t>850,000</a:t>
            </a:r>
          </a:p>
        </p:txBody>
      </p:sp>
      <p:sp>
        <p:nvSpPr>
          <p:cNvPr id="26" name="TextBox 25"/>
          <p:cNvSpPr txBox="1"/>
          <p:nvPr/>
        </p:nvSpPr>
        <p:spPr>
          <a:xfrm>
            <a:off x="2743200" y="3374136"/>
            <a:ext cx="2121408" cy="274320"/>
          </a:xfrm>
          <a:prstGeom prst="rect">
            <a:avLst/>
          </a:prstGeom>
          <a:noFill/>
        </p:spPr>
        <p:txBody>
          <a:bodyPr wrap="square">
            <a:spAutoFit/>
          </a:bodyPr>
          <a:lstStyle/>
          <a:p>
            <a:pPr algn="l"/>
            <a:r>
              <a:rPr sz="1050" b="0" i="0">
                <a:solidFill>
                  <a:srgbClr val="444D6A"/>
                </a:solidFill>
                <a:latin typeface="Calibri"/>
              </a:rPr>
              <a:t>amount, status, promo, payment_method</a:t>
            </a:r>
          </a:p>
        </p:txBody>
      </p:sp>
      <p:sp>
        <p:nvSpPr>
          <p:cNvPr id="27" name="Rectangle 26"/>
          <p:cNvSpPr/>
          <p:nvPr/>
        </p:nvSpPr>
        <p:spPr>
          <a:xfrm>
            <a:off x="566928" y="3712464"/>
            <a:ext cx="5266944"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776472"/>
            <a:ext cx="1024128" cy="274320"/>
          </a:xfrm>
          <a:prstGeom prst="rect">
            <a:avLst/>
          </a:prstGeom>
          <a:noFill/>
        </p:spPr>
        <p:txBody>
          <a:bodyPr wrap="square">
            <a:spAutoFit/>
          </a:bodyPr>
          <a:lstStyle/>
          <a:p>
            <a:pPr algn="l"/>
            <a:r>
              <a:rPr sz="1050" b="0" i="0">
                <a:solidFill>
                  <a:srgbClr val="444D6A"/>
                </a:solidFill>
                <a:latin typeface="Calibri"/>
              </a:rPr>
              <a:t>click_stream.csv</a:t>
            </a:r>
          </a:p>
        </p:txBody>
      </p:sp>
      <p:sp>
        <p:nvSpPr>
          <p:cNvPr id="29" name="TextBox 28"/>
          <p:cNvSpPr txBox="1"/>
          <p:nvPr/>
        </p:nvSpPr>
        <p:spPr>
          <a:xfrm>
            <a:off x="1737360" y="3776472"/>
            <a:ext cx="960120" cy="274320"/>
          </a:xfrm>
          <a:prstGeom prst="rect">
            <a:avLst/>
          </a:prstGeom>
          <a:noFill/>
        </p:spPr>
        <p:txBody>
          <a:bodyPr wrap="square">
            <a:spAutoFit/>
          </a:bodyPr>
          <a:lstStyle/>
          <a:p>
            <a:pPr algn="l"/>
            <a:r>
              <a:rPr sz="1050" b="0" i="0">
                <a:solidFill>
                  <a:srgbClr val="444D6A"/>
                </a:solidFill>
                <a:latin typeface="Calibri"/>
              </a:rPr>
              <a:t>12.8 Million</a:t>
            </a:r>
          </a:p>
        </p:txBody>
      </p:sp>
      <p:sp>
        <p:nvSpPr>
          <p:cNvPr id="30" name="TextBox 29"/>
          <p:cNvSpPr txBox="1"/>
          <p:nvPr/>
        </p:nvSpPr>
        <p:spPr>
          <a:xfrm>
            <a:off x="2743200" y="3776472"/>
            <a:ext cx="2121408" cy="274320"/>
          </a:xfrm>
          <a:prstGeom prst="rect">
            <a:avLst/>
          </a:prstGeom>
          <a:noFill/>
        </p:spPr>
        <p:txBody>
          <a:bodyPr wrap="square">
            <a:spAutoFit/>
          </a:bodyPr>
          <a:lstStyle/>
          <a:p>
            <a:pPr algn="l"/>
            <a:r>
              <a:rPr sz="1050" b="0" i="0">
                <a:solidFill>
                  <a:srgbClr val="444D6A"/>
                </a:solidFill>
                <a:latin typeface="Calibri"/>
              </a:rPr>
              <a:t>event_type, session_id, timestamp</a:t>
            </a:r>
          </a:p>
        </p:txBody>
      </p:sp>
      <p:sp>
        <p:nvSpPr>
          <p:cNvPr id="31" name="Rectangle 30"/>
          <p:cNvSpPr/>
          <p:nvPr/>
        </p:nvSpPr>
        <p:spPr>
          <a:xfrm>
            <a:off x="502920" y="5047488"/>
            <a:ext cx="5394960" cy="1426464"/>
          </a:xfrm>
          <a:prstGeom prst="rect">
            <a:avLst/>
          </a:prstGeom>
          <a:solidFill>
            <a:srgbClr val="E0F4F5"/>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047488"/>
            <a:ext cx="50292" cy="1426464"/>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138928"/>
            <a:ext cx="5120640" cy="274320"/>
          </a:xfrm>
          <a:prstGeom prst="rect">
            <a:avLst/>
          </a:prstGeom>
          <a:noFill/>
        </p:spPr>
        <p:txBody>
          <a:bodyPr wrap="square">
            <a:spAutoFit/>
          </a:bodyPr>
          <a:lstStyle/>
          <a:p>
            <a:pPr algn="l"/>
            <a:r>
              <a:rPr sz="1150" b="1" i="0">
                <a:solidFill>
                  <a:srgbClr val="087079"/>
                </a:solidFill>
                <a:latin typeface="Calibri"/>
              </a:rPr>
              <a:t>Why EDA Before Anything Else?</a:t>
            </a:r>
          </a:p>
        </p:txBody>
      </p:sp>
      <p:sp>
        <p:nvSpPr>
          <p:cNvPr id="34" name="TextBox 33"/>
          <p:cNvSpPr txBox="1"/>
          <p:nvPr/>
        </p:nvSpPr>
        <p:spPr>
          <a:xfrm>
            <a:off x="658368" y="5468112"/>
            <a:ext cx="5120640" cy="896112"/>
          </a:xfrm>
          <a:prstGeom prst="rect">
            <a:avLst/>
          </a:prstGeom>
          <a:noFill/>
        </p:spPr>
        <p:txBody>
          <a:bodyPr wrap="square">
            <a:spAutoFit/>
          </a:bodyPr>
          <a:lstStyle/>
          <a:p>
            <a:pPr algn="l"/>
            <a:r>
              <a:rPr sz="1050" b="0" i="0">
                <a:solidFill>
                  <a:srgbClr val="444D6A"/>
                </a:solidFill>
                <a:latin typeface="Calibri"/>
              </a:rPr>
              <a:t>EDA prevents building the wrong thing. Charting distributions and correlations before writing any ML code revealed: 77% Android users (shaped dashboard priority), payment failures are random/external (changed our ML question entirely), and a clear June–July seasonal spike (shaped SQL query design).</a:t>
            </a:r>
          </a:p>
        </p:txBody>
      </p:sp>
      <p:sp>
        <p:nvSpPr>
          <p:cNvPr id="35" name="Rectangle 34"/>
          <p:cNvSpPr/>
          <p:nvPr/>
        </p:nvSpPr>
        <p:spPr>
          <a:xfrm>
            <a:off x="6053328" y="1719072"/>
            <a:ext cx="5614416" cy="4754880"/>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1810512"/>
            <a:ext cx="5358384" cy="274320"/>
          </a:xfrm>
          <a:prstGeom prst="rect">
            <a:avLst/>
          </a:prstGeom>
          <a:noFill/>
        </p:spPr>
        <p:txBody>
          <a:bodyPr wrap="square">
            <a:spAutoFit/>
          </a:bodyPr>
          <a:lstStyle/>
          <a:p>
            <a:pPr algn="l"/>
            <a:r>
              <a:rPr sz="1200" b="1" i="0">
                <a:solidFill>
                  <a:srgbClr val="14235E"/>
                </a:solidFill>
                <a:latin typeface="Calibri"/>
              </a:rPr>
              <a:t>6 Key EDA Findings &amp; Their Impact</a:t>
            </a:r>
          </a:p>
        </p:txBody>
      </p:sp>
      <p:sp>
        <p:nvSpPr>
          <p:cNvPr id="37" name="Rectangle 36"/>
          <p:cNvSpPr/>
          <p:nvPr/>
        </p:nvSpPr>
        <p:spPr>
          <a:xfrm>
            <a:off x="6144768" y="2212848"/>
            <a:ext cx="5431536" cy="67665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44768" y="2212848"/>
            <a:ext cx="45720" cy="676656"/>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54496" y="2267712"/>
            <a:ext cx="5212080" cy="256032"/>
          </a:xfrm>
          <a:prstGeom prst="rect">
            <a:avLst/>
          </a:prstGeom>
          <a:noFill/>
        </p:spPr>
        <p:txBody>
          <a:bodyPr wrap="square">
            <a:spAutoFit/>
          </a:bodyPr>
          <a:lstStyle/>
          <a:p>
            <a:pPr algn="l"/>
            <a:r>
              <a:rPr sz="1100" b="1" i="0">
                <a:solidFill>
                  <a:srgbClr val="1A1D2E"/>
                </a:solidFill>
                <a:latin typeface="Calibri"/>
              </a:rPr>
              <a:t>77% Android Users</a:t>
            </a:r>
          </a:p>
        </p:txBody>
      </p:sp>
      <p:sp>
        <p:nvSpPr>
          <p:cNvPr id="40" name="TextBox 39"/>
          <p:cNvSpPr txBox="1"/>
          <p:nvPr/>
        </p:nvSpPr>
        <p:spPr>
          <a:xfrm>
            <a:off x="6254496" y="2523744"/>
            <a:ext cx="5212080" cy="310896"/>
          </a:xfrm>
          <a:prstGeom prst="rect">
            <a:avLst/>
          </a:prstGeom>
          <a:noFill/>
        </p:spPr>
        <p:txBody>
          <a:bodyPr wrap="square">
            <a:spAutoFit/>
          </a:bodyPr>
          <a:lstStyle/>
          <a:p>
            <a:pPr algn="l"/>
            <a:r>
              <a:rPr sz="1000" b="0" i="0">
                <a:solidFill>
                  <a:srgbClr val="444D6A"/>
                </a:solidFill>
                <a:latin typeface="Calibri"/>
              </a:rPr>
              <a:t>→ Mobile-first dashboard priority · device_type added as ML feature</a:t>
            </a:r>
          </a:p>
        </p:txBody>
      </p:sp>
      <p:sp>
        <p:nvSpPr>
          <p:cNvPr id="41" name="Rectangle 40"/>
          <p:cNvSpPr/>
          <p:nvPr/>
        </p:nvSpPr>
        <p:spPr>
          <a:xfrm>
            <a:off x="6144768" y="2990088"/>
            <a:ext cx="5431536" cy="67665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44768" y="2990088"/>
            <a:ext cx="45720" cy="676656"/>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54496" y="3044952"/>
            <a:ext cx="5212080" cy="256032"/>
          </a:xfrm>
          <a:prstGeom prst="rect">
            <a:avLst/>
          </a:prstGeom>
          <a:noFill/>
        </p:spPr>
        <p:txBody>
          <a:bodyPr wrap="square">
            <a:spAutoFit/>
          </a:bodyPr>
          <a:lstStyle/>
          <a:p>
            <a:pPr algn="l"/>
            <a:r>
              <a:rPr sz="1100" b="1" i="0">
                <a:solidFill>
                  <a:srgbClr val="1A1D2E"/>
                </a:solidFill>
                <a:latin typeface="Calibri"/>
              </a:rPr>
              <a:t>Payment Success 95.7%</a:t>
            </a:r>
          </a:p>
        </p:txBody>
      </p:sp>
      <p:sp>
        <p:nvSpPr>
          <p:cNvPr id="44" name="TextBox 43"/>
          <p:cNvSpPr txBox="1"/>
          <p:nvPr/>
        </p:nvSpPr>
        <p:spPr>
          <a:xfrm>
            <a:off x="6254496" y="3300984"/>
            <a:ext cx="5212080" cy="310896"/>
          </a:xfrm>
          <a:prstGeom prst="rect">
            <a:avLst/>
          </a:prstGeom>
          <a:noFill/>
        </p:spPr>
        <p:txBody>
          <a:bodyPr wrap="square">
            <a:spAutoFit/>
          </a:bodyPr>
          <a:lstStyle/>
          <a:p>
            <a:pPr algn="l"/>
            <a:r>
              <a:rPr sz="1000" b="0" i="0">
                <a:solidFill>
                  <a:srgbClr val="444D6A"/>
                </a:solidFill>
                <a:latin typeface="Calibri"/>
              </a:rPr>
              <a:t>→ Failures are EXTERNAL (bank/network), not platform — AUC ≈ 0.5 is honest</a:t>
            </a:r>
          </a:p>
        </p:txBody>
      </p:sp>
      <p:sp>
        <p:nvSpPr>
          <p:cNvPr id="45" name="Rectangle 44"/>
          <p:cNvSpPr/>
          <p:nvPr/>
        </p:nvSpPr>
        <p:spPr>
          <a:xfrm>
            <a:off x="6144768" y="3767328"/>
            <a:ext cx="5431536" cy="67665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44768" y="3767328"/>
            <a:ext cx="45720" cy="676656"/>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54496" y="3822192"/>
            <a:ext cx="5212080" cy="256032"/>
          </a:xfrm>
          <a:prstGeom prst="rect">
            <a:avLst/>
          </a:prstGeom>
          <a:noFill/>
        </p:spPr>
        <p:txBody>
          <a:bodyPr wrap="square">
            <a:spAutoFit/>
          </a:bodyPr>
          <a:lstStyle/>
          <a:p>
            <a:pPr algn="l"/>
            <a:r>
              <a:rPr sz="1100" b="1" i="0">
                <a:solidFill>
                  <a:srgbClr val="1A1D2E"/>
                </a:solidFill>
                <a:latin typeface="Calibri"/>
              </a:rPr>
              <a:t>10am–8pm Peak Activity</a:t>
            </a:r>
          </a:p>
        </p:txBody>
      </p:sp>
      <p:sp>
        <p:nvSpPr>
          <p:cNvPr id="48" name="TextBox 47"/>
          <p:cNvSpPr txBox="1"/>
          <p:nvPr/>
        </p:nvSpPr>
        <p:spPr>
          <a:xfrm>
            <a:off x="6254496" y="4078224"/>
            <a:ext cx="5212080" cy="310896"/>
          </a:xfrm>
          <a:prstGeom prst="rect">
            <a:avLst/>
          </a:prstGeom>
          <a:noFill/>
        </p:spPr>
        <p:txBody>
          <a:bodyPr wrap="square">
            <a:spAutoFit/>
          </a:bodyPr>
          <a:lstStyle/>
          <a:p>
            <a:pPr algn="l"/>
            <a:r>
              <a:rPr sz="1000" b="0" i="0">
                <a:solidFill>
                  <a:srgbClr val="444D6A"/>
                </a:solidFill>
                <a:latin typeface="Calibri"/>
              </a:rPr>
              <a:t>→ Streaming alerts most critical in this window · flash sale timing</a:t>
            </a:r>
          </a:p>
        </p:txBody>
      </p:sp>
      <p:sp>
        <p:nvSpPr>
          <p:cNvPr id="49" name="Rectangle 48"/>
          <p:cNvSpPr/>
          <p:nvPr/>
        </p:nvSpPr>
        <p:spPr>
          <a:xfrm>
            <a:off x="6144768" y="4544568"/>
            <a:ext cx="5431536" cy="67665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44768" y="4544568"/>
            <a:ext cx="45720" cy="676656"/>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54496" y="4599432"/>
            <a:ext cx="5212080" cy="256032"/>
          </a:xfrm>
          <a:prstGeom prst="rect">
            <a:avLst/>
          </a:prstGeom>
          <a:noFill/>
        </p:spPr>
        <p:txBody>
          <a:bodyPr wrap="square">
            <a:spAutoFit/>
          </a:bodyPr>
          <a:lstStyle/>
          <a:p>
            <a:pPr algn="l"/>
            <a:r>
              <a:rPr sz="1100" b="1" i="0">
                <a:solidFill>
                  <a:srgbClr val="1A1D2E"/>
                </a:solidFill>
                <a:latin typeface="Calibri"/>
              </a:rPr>
              <a:t>5 Distinct Behaviour Patterns</a:t>
            </a:r>
          </a:p>
        </p:txBody>
      </p:sp>
      <p:sp>
        <p:nvSpPr>
          <p:cNvPr id="52" name="TextBox 51"/>
          <p:cNvSpPr txBox="1"/>
          <p:nvPr/>
        </p:nvSpPr>
        <p:spPr>
          <a:xfrm>
            <a:off x="6254496" y="4855464"/>
            <a:ext cx="5212080" cy="310896"/>
          </a:xfrm>
          <a:prstGeom prst="rect">
            <a:avLst/>
          </a:prstGeom>
          <a:noFill/>
        </p:spPr>
        <p:txBody>
          <a:bodyPr wrap="square">
            <a:spAutoFit/>
          </a:bodyPr>
          <a:lstStyle/>
          <a:p>
            <a:pPr algn="l"/>
            <a:r>
              <a:rPr sz="1000" b="0" i="0">
                <a:solidFill>
                  <a:srgbClr val="444D6A"/>
                </a:solidFill>
                <a:latin typeface="Calibri"/>
              </a:rPr>
              <a:t>→ Confirmed KMeans segmentation was necessary · one-size marketing fails</a:t>
            </a:r>
          </a:p>
        </p:txBody>
      </p:sp>
      <p:sp>
        <p:nvSpPr>
          <p:cNvPr id="53" name="Rectangle 52"/>
          <p:cNvSpPr/>
          <p:nvPr/>
        </p:nvSpPr>
        <p:spPr>
          <a:xfrm>
            <a:off x="6144768" y="5321808"/>
            <a:ext cx="5431536" cy="67665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44768" y="5321808"/>
            <a:ext cx="45720" cy="676656"/>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254496" y="5376672"/>
            <a:ext cx="5212080" cy="256032"/>
          </a:xfrm>
          <a:prstGeom prst="rect">
            <a:avLst/>
          </a:prstGeom>
          <a:noFill/>
        </p:spPr>
        <p:txBody>
          <a:bodyPr wrap="square">
            <a:spAutoFit/>
          </a:bodyPr>
          <a:lstStyle/>
          <a:p>
            <a:pPr algn="l"/>
            <a:r>
              <a:rPr sz="1100" b="1" i="0">
                <a:solidFill>
                  <a:srgbClr val="1A1D2E"/>
                </a:solidFill>
                <a:latin typeface="Calibri"/>
              </a:rPr>
              <a:t>Top 28% → 94.5% Revenue</a:t>
            </a:r>
          </a:p>
        </p:txBody>
      </p:sp>
      <p:sp>
        <p:nvSpPr>
          <p:cNvPr id="56" name="TextBox 55"/>
          <p:cNvSpPr txBox="1"/>
          <p:nvPr/>
        </p:nvSpPr>
        <p:spPr>
          <a:xfrm>
            <a:off x="6254496" y="5632704"/>
            <a:ext cx="5212080" cy="310896"/>
          </a:xfrm>
          <a:prstGeom prst="rect">
            <a:avLst/>
          </a:prstGeom>
          <a:noFill/>
        </p:spPr>
        <p:txBody>
          <a:bodyPr wrap="square">
            <a:spAutoFit/>
          </a:bodyPr>
          <a:lstStyle/>
          <a:p>
            <a:pPr algn="l"/>
            <a:r>
              <a:rPr sz="1000" b="0" i="0">
                <a:solidFill>
                  <a:srgbClr val="444D6A"/>
                </a:solidFill>
                <a:latin typeface="Calibri"/>
              </a:rPr>
              <a:t>→ VIP protection became a core feature · real-time alert for Power Buyers</a:t>
            </a:r>
          </a:p>
        </p:txBody>
      </p:sp>
      <p:sp>
        <p:nvSpPr>
          <p:cNvPr id="57" name="Rectangle 56"/>
          <p:cNvSpPr/>
          <p:nvPr/>
        </p:nvSpPr>
        <p:spPr>
          <a:xfrm>
            <a:off x="6144768" y="6099048"/>
            <a:ext cx="5431536" cy="67665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44768" y="6099048"/>
            <a:ext cx="45720" cy="676656"/>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54496" y="6153912"/>
            <a:ext cx="5212080" cy="256032"/>
          </a:xfrm>
          <a:prstGeom prst="rect">
            <a:avLst/>
          </a:prstGeom>
          <a:noFill/>
        </p:spPr>
        <p:txBody>
          <a:bodyPr wrap="square">
            <a:spAutoFit/>
          </a:bodyPr>
          <a:lstStyle/>
          <a:p>
            <a:pPr algn="l"/>
            <a:r>
              <a:rPr sz="1100" b="1" i="0">
                <a:solidFill>
                  <a:srgbClr val="1A1D2E"/>
                </a:solidFill>
                <a:latin typeface="Calibri"/>
              </a:rPr>
              <a:t>42% Cart Abandonment</a:t>
            </a:r>
          </a:p>
        </p:txBody>
      </p:sp>
      <p:sp>
        <p:nvSpPr>
          <p:cNvPr id="60" name="TextBox 59"/>
          <p:cNvSpPr txBox="1"/>
          <p:nvPr/>
        </p:nvSpPr>
        <p:spPr>
          <a:xfrm>
            <a:off x="6254496" y="6409944"/>
            <a:ext cx="5212080" cy="310896"/>
          </a:xfrm>
          <a:prstGeom prst="rect">
            <a:avLst/>
          </a:prstGeom>
          <a:noFill/>
        </p:spPr>
        <p:txBody>
          <a:bodyPr wrap="square">
            <a:spAutoFit/>
          </a:bodyPr>
          <a:lstStyle/>
          <a:p>
            <a:pPr algn="l"/>
            <a:r>
              <a:rPr sz="1000" b="0" i="0">
                <a:solidFill>
                  <a:srgbClr val="444D6A"/>
                </a:solidFill>
                <a:latin typeface="Calibri"/>
              </a:rPr>
              <a:t>→ Highest-impact fix identified · ML scorer targets this session state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Spark SQL — 6 Advanced Business Queries</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Each query answers a critical business question using specific SQL concepts — here's why each concept was chosen</a:t>
            </a:r>
          </a:p>
        </p:txBody>
      </p:sp>
      <p:sp>
        <p:nvSpPr>
          <p:cNvPr id="7" name="Rectangle 6"/>
          <p:cNvSpPr/>
          <p:nvPr/>
        </p:nvSpPr>
        <p:spPr>
          <a:xfrm>
            <a:off x="502920" y="1316736"/>
            <a:ext cx="54864" cy="256032"/>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6C3FC4"/>
                </a:solidFill>
                <a:latin typeface="Calibri"/>
              </a:rPr>
              <a:t>05  ·  SQL CONCEPTS &amp; RATIONALE</a:t>
            </a:r>
          </a:p>
        </p:txBody>
      </p:sp>
      <p:sp>
        <p:nvSpPr>
          <p:cNvPr id="9" name="Rectangle 8"/>
          <p:cNvSpPr/>
          <p:nvPr/>
        </p:nvSpPr>
        <p:spPr>
          <a:xfrm>
            <a:off x="411480" y="1810512"/>
            <a:ext cx="3593592" cy="226771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10512"/>
            <a:ext cx="3593592" cy="43891"/>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810512"/>
            <a:ext cx="36576" cy="2267712"/>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1901952"/>
            <a:ext cx="3410712" cy="256032"/>
          </a:xfrm>
          <a:prstGeom prst="rect">
            <a:avLst/>
          </a:prstGeom>
          <a:noFill/>
        </p:spPr>
        <p:txBody>
          <a:bodyPr wrap="square">
            <a:spAutoFit/>
          </a:bodyPr>
          <a:lstStyle/>
          <a:p>
            <a:pPr algn="l"/>
            <a:r>
              <a:rPr sz="1150" b="1" i="0">
                <a:solidFill>
                  <a:srgbClr val="1A1D2E"/>
                </a:solidFill>
                <a:latin typeface="Calibri"/>
              </a:rPr>
              <a:t>Q1 · Q1: Conversion Funnel</a:t>
            </a:r>
          </a:p>
        </p:txBody>
      </p:sp>
      <p:sp>
        <p:nvSpPr>
          <p:cNvPr id="13" name="TextBox 12"/>
          <p:cNvSpPr txBox="1"/>
          <p:nvPr/>
        </p:nvSpPr>
        <p:spPr>
          <a:xfrm>
            <a:off x="521208" y="2157984"/>
            <a:ext cx="3410712" cy="201168"/>
          </a:xfrm>
          <a:prstGeom prst="rect">
            <a:avLst/>
          </a:prstGeom>
          <a:noFill/>
        </p:spPr>
        <p:txBody>
          <a:bodyPr wrap="square">
            <a:spAutoFit/>
          </a:bodyPr>
          <a:lstStyle/>
          <a:p>
            <a:pPr algn="l"/>
            <a:r>
              <a:rPr sz="1000" b="0" i="1">
                <a:solidFill>
                  <a:srgbClr val="7A84A8"/>
                </a:solidFill>
                <a:latin typeface="Calibri"/>
              </a:rPr>
              <a:t>Where do customers drop off?</a:t>
            </a:r>
          </a:p>
        </p:txBody>
      </p:sp>
      <p:sp>
        <p:nvSpPr>
          <p:cNvPr id="14" name="TextBox 13"/>
          <p:cNvSpPr txBox="1"/>
          <p:nvPr/>
        </p:nvSpPr>
        <p:spPr>
          <a:xfrm>
            <a:off x="521208" y="2377440"/>
            <a:ext cx="3410712" cy="219456"/>
          </a:xfrm>
          <a:prstGeom prst="rect">
            <a:avLst/>
          </a:prstGeom>
          <a:noFill/>
        </p:spPr>
        <p:txBody>
          <a:bodyPr wrap="square">
            <a:spAutoFit/>
          </a:bodyPr>
          <a:lstStyle/>
          <a:p>
            <a:pPr algn="l"/>
            <a:r>
              <a:rPr sz="1000" b="1" i="0">
                <a:solidFill>
                  <a:srgbClr val="1E6FC8"/>
                </a:solidFill>
                <a:latin typeface="Calibri"/>
              </a:rPr>
              <a:t>SQL: 4-table JOIN · 2 CTEs · ROW_NUMBER()</a:t>
            </a:r>
          </a:p>
        </p:txBody>
      </p:sp>
      <p:sp>
        <p:nvSpPr>
          <p:cNvPr id="15" name="Rectangle 14"/>
          <p:cNvSpPr/>
          <p:nvPr/>
        </p:nvSpPr>
        <p:spPr>
          <a:xfrm>
            <a:off x="502920" y="2651760"/>
            <a:ext cx="3410712" cy="12984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2706624"/>
            <a:ext cx="3300984" cy="1197864"/>
          </a:xfrm>
          <a:prstGeom prst="rect">
            <a:avLst/>
          </a:prstGeom>
          <a:noFill/>
        </p:spPr>
        <p:txBody>
          <a:bodyPr wrap="square">
            <a:spAutoFit/>
          </a:bodyPr>
          <a:lstStyle/>
          <a:p>
            <a:pPr algn="l"/>
            <a:r>
              <a:rPr sz="1000" b="0" i="0">
                <a:solidFill>
                  <a:srgbClr val="444D6A"/>
                </a:solidFill>
                <a:latin typeface="Calibri"/>
              </a:rPr>
              <a:t>WHY: CTEs build the funnel step-by-step. ROW_NUMBER() finds last event per session — impossible with a simple COUNT.</a:t>
            </a:r>
          </a:p>
        </p:txBody>
      </p:sp>
      <p:sp>
        <p:nvSpPr>
          <p:cNvPr id="17" name="Rectangle 16"/>
          <p:cNvSpPr/>
          <p:nvPr/>
        </p:nvSpPr>
        <p:spPr>
          <a:xfrm>
            <a:off x="4133088" y="1810512"/>
            <a:ext cx="3593592" cy="226771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33088" y="1810512"/>
            <a:ext cx="3593592" cy="43891"/>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33088" y="1810512"/>
            <a:ext cx="36576" cy="2267712"/>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1901952"/>
            <a:ext cx="3410712" cy="256032"/>
          </a:xfrm>
          <a:prstGeom prst="rect">
            <a:avLst/>
          </a:prstGeom>
          <a:noFill/>
        </p:spPr>
        <p:txBody>
          <a:bodyPr wrap="square">
            <a:spAutoFit/>
          </a:bodyPr>
          <a:lstStyle/>
          <a:p>
            <a:pPr algn="l"/>
            <a:r>
              <a:rPr sz="1150" b="1" i="0">
                <a:solidFill>
                  <a:srgbClr val="1A1D2E"/>
                </a:solidFill>
                <a:latin typeface="Calibri"/>
              </a:rPr>
              <a:t>Q2 · Q2: Market Basket Analysis</a:t>
            </a:r>
          </a:p>
        </p:txBody>
      </p:sp>
      <p:sp>
        <p:nvSpPr>
          <p:cNvPr id="21" name="TextBox 20"/>
          <p:cNvSpPr txBox="1"/>
          <p:nvPr/>
        </p:nvSpPr>
        <p:spPr>
          <a:xfrm>
            <a:off x="4242816" y="2157984"/>
            <a:ext cx="3410712" cy="201168"/>
          </a:xfrm>
          <a:prstGeom prst="rect">
            <a:avLst/>
          </a:prstGeom>
          <a:noFill/>
        </p:spPr>
        <p:txBody>
          <a:bodyPr wrap="square">
            <a:spAutoFit/>
          </a:bodyPr>
          <a:lstStyle/>
          <a:p>
            <a:pPr algn="l"/>
            <a:r>
              <a:rPr sz="1000" b="0" i="1">
                <a:solidFill>
                  <a:srgbClr val="7A84A8"/>
                </a:solidFill>
                <a:latin typeface="Calibri"/>
              </a:rPr>
              <a:t>What products sell together?</a:t>
            </a:r>
          </a:p>
        </p:txBody>
      </p:sp>
      <p:sp>
        <p:nvSpPr>
          <p:cNvPr id="22" name="TextBox 21"/>
          <p:cNvSpPr txBox="1"/>
          <p:nvPr/>
        </p:nvSpPr>
        <p:spPr>
          <a:xfrm>
            <a:off x="4242816" y="2377440"/>
            <a:ext cx="3410712" cy="219456"/>
          </a:xfrm>
          <a:prstGeom prst="rect">
            <a:avLst/>
          </a:prstGeom>
          <a:noFill/>
        </p:spPr>
        <p:txBody>
          <a:bodyPr wrap="square">
            <a:spAutoFit/>
          </a:bodyPr>
          <a:lstStyle/>
          <a:p>
            <a:pPr algn="l"/>
            <a:r>
              <a:rPr sz="1000" b="1" i="0">
                <a:solidFill>
                  <a:srgbClr val="6C3FC4"/>
                </a:solidFill>
                <a:latin typeface="Calibri"/>
              </a:rPr>
              <a:t>SQL: LATERAL VIEW EXPLODE · Self-JOIN · Lift</a:t>
            </a:r>
          </a:p>
        </p:txBody>
      </p:sp>
      <p:sp>
        <p:nvSpPr>
          <p:cNvPr id="23" name="Rectangle 22"/>
          <p:cNvSpPr/>
          <p:nvPr/>
        </p:nvSpPr>
        <p:spPr>
          <a:xfrm>
            <a:off x="4224528" y="2651760"/>
            <a:ext cx="3410712" cy="12984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0" y="2706624"/>
            <a:ext cx="3300984" cy="1197864"/>
          </a:xfrm>
          <a:prstGeom prst="rect">
            <a:avLst/>
          </a:prstGeom>
          <a:noFill/>
        </p:spPr>
        <p:txBody>
          <a:bodyPr wrap="square">
            <a:spAutoFit/>
          </a:bodyPr>
          <a:lstStyle/>
          <a:p>
            <a:pPr algn="l"/>
            <a:r>
              <a:rPr sz="1000" b="0" i="0">
                <a:solidFill>
                  <a:srgbClr val="444D6A"/>
                </a:solidFill>
                <a:latin typeface="Calibri"/>
              </a:rPr>
              <a:t>WHY: Products stored as arrays. EXPLODE flattens to rows for self-JOIN. Lift = conf/baseline — tells us if correlation is real.</a:t>
            </a:r>
          </a:p>
        </p:txBody>
      </p:sp>
      <p:sp>
        <p:nvSpPr>
          <p:cNvPr id="25" name="Rectangle 24"/>
          <p:cNvSpPr/>
          <p:nvPr/>
        </p:nvSpPr>
        <p:spPr>
          <a:xfrm>
            <a:off x="7854696" y="4206240"/>
            <a:ext cx="3593592" cy="226771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54696" y="4206240"/>
            <a:ext cx="3593592" cy="43891"/>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54696" y="4206240"/>
            <a:ext cx="36576" cy="2267712"/>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64424" y="4297680"/>
            <a:ext cx="3410712" cy="256032"/>
          </a:xfrm>
          <a:prstGeom prst="rect">
            <a:avLst/>
          </a:prstGeom>
          <a:noFill/>
        </p:spPr>
        <p:txBody>
          <a:bodyPr wrap="square">
            <a:spAutoFit/>
          </a:bodyPr>
          <a:lstStyle/>
          <a:p>
            <a:pPr algn="l"/>
            <a:r>
              <a:rPr sz="1150" b="1" i="0">
                <a:solidFill>
                  <a:srgbClr val="1A1D2E"/>
                </a:solidFill>
                <a:latin typeface="Calibri"/>
              </a:rPr>
              <a:t>Q3 · Q3: Cohort Retention</a:t>
            </a:r>
          </a:p>
        </p:txBody>
      </p:sp>
      <p:sp>
        <p:nvSpPr>
          <p:cNvPr id="29" name="TextBox 28"/>
          <p:cNvSpPr txBox="1"/>
          <p:nvPr/>
        </p:nvSpPr>
        <p:spPr>
          <a:xfrm>
            <a:off x="7964424" y="4553712"/>
            <a:ext cx="3410712" cy="201168"/>
          </a:xfrm>
          <a:prstGeom prst="rect">
            <a:avLst/>
          </a:prstGeom>
          <a:noFill/>
        </p:spPr>
        <p:txBody>
          <a:bodyPr wrap="square">
            <a:spAutoFit/>
          </a:bodyPr>
          <a:lstStyle/>
          <a:p>
            <a:pPr algn="l"/>
            <a:r>
              <a:rPr sz="1000" b="0" i="1">
                <a:solidFill>
                  <a:srgbClr val="7A84A8"/>
                </a:solidFill>
                <a:latin typeface="Calibri"/>
              </a:rPr>
              <a:t>How long do customers stay active?</a:t>
            </a:r>
          </a:p>
        </p:txBody>
      </p:sp>
      <p:sp>
        <p:nvSpPr>
          <p:cNvPr id="30" name="TextBox 29"/>
          <p:cNvSpPr txBox="1"/>
          <p:nvPr/>
        </p:nvSpPr>
        <p:spPr>
          <a:xfrm>
            <a:off x="7964424" y="4773168"/>
            <a:ext cx="3410712" cy="219456"/>
          </a:xfrm>
          <a:prstGeom prst="rect">
            <a:avLst/>
          </a:prstGeom>
          <a:noFill/>
        </p:spPr>
        <p:txBody>
          <a:bodyPr wrap="square">
            <a:spAutoFit/>
          </a:bodyPr>
          <a:lstStyle/>
          <a:p>
            <a:pPr algn="l"/>
            <a:r>
              <a:rPr sz="1000" b="1" i="0">
                <a:solidFill>
                  <a:srgbClr val="087079"/>
                </a:solidFill>
                <a:latin typeface="Calibri"/>
              </a:rPr>
              <a:t>SQL: MONTHS_BETWEEN() · Pivot CASE · NULLIF</a:t>
            </a:r>
          </a:p>
        </p:txBody>
      </p:sp>
      <p:sp>
        <p:nvSpPr>
          <p:cNvPr id="31" name="Rectangle 30"/>
          <p:cNvSpPr/>
          <p:nvPr/>
        </p:nvSpPr>
        <p:spPr>
          <a:xfrm>
            <a:off x="7946136" y="5047488"/>
            <a:ext cx="3410712" cy="12984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19288" y="5102352"/>
            <a:ext cx="3300984" cy="1197864"/>
          </a:xfrm>
          <a:prstGeom prst="rect">
            <a:avLst/>
          </a:prstGeom>
          <a:noFill/>
        </p:spPr>
        <p:txBody>
          <a:bodyPr wrap="square">
            <a:spAutoFit/>
          </a:bodyPr>
          <a:lstStyle/>
          <a:p>
            <a:pPr algn="l"/>
            <a:r>
              <a:rPr sz="1000" b="0" i="0">
                <a:solidFill>
                  <a:srgbClr val="444D6A"/>
                </a:solidFill>
                <a:latin typeface="Calibri"/>
              </a:rPr>
              <a:t>WHY: MONTHS_BETWEEN tracks activity gaps per cohort. NULLIF prevents divide-by-zero as cohorts shrink at later months.</a:t>
            </a:r>
          </a:p>
        </p:txBody>
      </p:sp>
      <p:sp>
        <p:nvSpPr>
          <p:cNvPr id="33" name="Rectangle 32"/>
          <p:cNvSpPr/>
          <p:nvPr/>
        </p:nvSpPr>
        <p:spPr>
          <a:xfrm>
            <a:off x="411480" y="4206240"/>
            <a:ext cx="3593592" cy="226771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4206240"/>
            <a:ext cx="3593592" cy="43891"/>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4206240"/>
            <a:ext cx="36576" cy="2267712"/>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297680"/>
            <a:ext cx="3410712" cy="256032"/>
          </a:xfrm>
          <a:prstGeom prst="rect">
            <a:avLst/>
          </a:prstGeom>
          <a:noFill/>
        </p:spPr>
        <p:txBody>
          <a:bodyPr wrap="square">
            <a:spAutoFit/>
          </a:bodyPr>
          <a:lstStyle/>
          <a:p>
            <a:pPr algn="l"/>
            <a:r>
              <a:rPr sz="1150" b="1" i="0">
                <a:solidFill>
                  <a:srgbClr val="1A1D2E"/>
                </a:solidFill>
                <a:latin typeface="Calibri"/>
              </a:rPr>
              <a:t>Q4 · Q4: RFM Scoring</a:t>
            </a:r>
          </a:p>
        </p:txBody>
      </p:sp>
      <p:sp>
        <p:nvSpPr>
          <p:cNvPr id="37" name="TextBox 36"/>
          <p:cNvSpPr txBox="1"/>
          <p:nvPr/>
        </p:nvSpPr>
        <p:spPr>
          <a:xfrm>
            <a:off x="521208" y="4553712"/>
            <a:ext cx="3410712" cy="201168"/>
          </a:xfrm>
          <a:prstGeom prst="rect">
            <a:avLst/>
          </a:prstGeom>
          <a:noFill/>
        </p:spPr>
        <p:txBody>
          <a:bodyPr wrap="square">
            <a:spAutoFit/>
          </a:bodyPr>
          <a:lstStyle/>
          <a:p>
            <a:pPr algn="l"/>
            <a:r>
              <a:rPr sz="1000" b="0" i="1">
                <a:solidFill>
                  <a:srgbClr val="7A84A8"/>
                </a:solidFill>
                <a:latin typeface="Calibri"/>
              </a:rPr>
              <a:t>Who are the most valuable customers now?</a:t>
            </a:r>
          </a:p>
        </p:txBody>
      </p:sp>
      <p:sp>
        <p:nvSpPr>
          <p:cNvPr id="38" name="TextBox 37"/>
          <p:cNvSpPr txBox="1"/>
          <p:nvPr/>
        </p:nvSpPr>
        <p:spPr>
          <a:xfrm>
            <a:off x="521208" y="4773168"/>
            <a:ext cx="3410712" cy="219456"/>
          </a:xfrm>
          <a:prstGeom prst="rect">
            <a:avLst/>
          </a:prstGeom>
          <a:noFill/>
        </p:spPr>
        <p:txBody>
          <a:bodyPr wrap="square">
            <a:spAutoFit/>
          </a:bodyPr>
          <a:lstStyle/>
          <a:p>
            <a:pPr algn="l"/>
            <a:r>
              <a:rPr sz="1000" b="1" i="0">
                <a:solidFill>
                  <a:srgbClr val="0F9B56"/>
                </a:solidFill>
                <a:latin typeface="Calibri"/>
              </a:rPr>
              <a:t>SQL: NTILE(5) · 3 nested CTEs · Composite score</a:t>
            </a:r>
          </a:p>
        </p:txBody>
      </p:sp>
      <p:sp>
        <p:nvSpPr>
          <p:cNvPr id="39" name="Rectangle 38"/>
          <p:cNvSpPr/>
          <p:nvPr/>
        </p:nvSpPr>
        <p:spPr>
          <a:xfrm>
            <a:off x="502920" y="5047488"/>
            <a:ext cx="3410712" cy="12984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6072" y="5102352"/>
            <a:ext cx="3300984" cy="1197864"/>
          </a:xfrm>
          <a:prstGeom prst="rect">
            <a:avLst/>
          </a:prstGeom>
          <a:noFill/>
        </p:spPr>
        <p:txBody>
          <a:bodyPr wrap="square">
            <a:spAutoFit/>
          </a:bodyPr>
          <a:lstStyle/>
          <a:p>
            <a:pPr algn="l"/>
            <a:r>
              <a:rPr sz="1000" b="0" i="0">
                <a:solidFill>
                  <a:srgbClr val="444D6A"/>
                </a:solidFill>
                <a:latin typeface="Calibri"/>
              </a:rPr>
              <a:t>WHY: NTILE splits customers into 5 equal buckets per RFM dimension. Composite score feeds directly into KMeans clustering.</a:t>
            </a:r>
          </a:p>
        </p:txBody>
      </p:sp>
      <p:sp>
        <p:nvSpPr>
          <p:cNvPr id="41" name="Rectangle 40"/>
          <p:cNvSpPr/>
          <p:nvPr/>
        </p:nvSpPr>
        <p:spPr>
          <a:xfrm>
            <a:off x="4133088" y="6601968"/>
            <a:ext cx="3593592" cy="226771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133088" y="6601968"/>
            <a:ext cx="3593592" cy="43891"/>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33088" y="6601968"/>
            <a:ext cx="36576" cy="226771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42816" y="6693408"/>
            <a:ext cx="3410712" cy="256032"/>
          </a:xfrm>
          <a:prstGeom prst="rect">
            <a:avLst/>
          </a:prstGeom>
          <a:noFill/>
        </p:spPr>
        <p:txBody>
          <a:bodyPr wrap="square">
            <a:spAutoFit/>
          </a:bodyPr>
          <a:lstStyle/>
          <a:p>
            <a:pPr algn="l"/>
            <a:r>
              <a:rPr sz="1150" b="1" i="0">
                <a:solidFill>
                  <a:srgbClr val="1A1D2E"/>
                </a:solidFill>
                <a:latin typeface="Calibri"/>
              </a:rPr>
              <a:t>Q5 · Q5: Purchase Velocity</a:t>
            </a:r>
          </a:p>
        </p:txBody>
      </p:sp>
      <p:sp>
        <p:nvSpPr>
          <p:cNvPr id="45" name="TextBox 44"/>
          <p:cNvSpPr txBox="1"/>
          <p:nvPr/>
        </p:nvSpPr>
        <p:spPr>
          <a:xfrm>
            <a:off x="4242816" y="6949440"/>
            <a:ext cx="3410712" cy="201168"/>
          </a:xfrm>
          <a:prstGeom prst="rect">
            <a:avLst/>
          </a:prstGeom>
          <a:noFill/>
        </p:spPr>
        <p:txBody>
          <a:bodyPr wrap="square">
            <a:spAutoFit/>
          </a:bodyPr>
          <a:lstStyle/>
          <a:p>
            <a:pPr algn="l"/>
            <a:r>
              <a:rPr sz="1000" b="0" i="1">
                <a:solidFill>
                  <a:srgbClr val="7A84A8"/>
                </a:solidFill>
                <a:latin typeface="Calibri"/>
              </a:rPr>
              <a:t>How fast do customers re-purchase?</a:t>
            </a:r>
          </a:p>
        </p:txBody>
      </p:sp>
      <p:sp>
        <p:nvSpPr>
          <p:cNvPr id="46" name="TextBox 45"/>
          <p:cNvSpPr txBox="1"/>
          <p:nvPr/>
        </p:nvSpPr>
        <p:spPr>
          <a:xfrm>
            <a:off x="4242816" y="7168896"/>
            <a:ext cx="3410712" cy="219456"/>
          </a:xfrm>
          <a:prstGeom prst="rect">
            <a:avLst/>
          </a:prstGeom>
          <a:noFill/>
        </p:spPr>
        <p:txBody>
          <a:bodyPr wrap="square">
            <a:spAutoFit/>
          </a:bodyPr>
          <a:lstStyle/>
          <a:p>
            <a:pPr algn="l"/>
            <a:r>
              <a:rPr sz="1000" b="1" i="0">
                <a:solidFill>
                  <a:srgbClr val="D46B08"/>
                </a:solidFill>
                <a:latin typeface="Calibri"/>
              </a:rPr>
              <a:t>SQL: LAG() · LEAD() · DATEDIFF() · Running aggs</a:t>
            </a:r>
          </a:p>
        </p:txBody>
      </p:sp>
      <p:sp>
        <p:nvSpPr>
          <p:cNvPr id="47" name="Rectangle 46"/>
          <p:cNvSpPr/>
          <p:nvPr/>
        </p:nvSpPr>
        <p:spPr>
          <a:xfrm>
            <a:off x="4224528" y="7443216"/>
            <a:ext cx="3410712" cy="12984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97680" y="7498080"/>
            <a:ext cx="3300984" cy="1197864"/>
          </a:xfrm>
          <a:prstGeom prst="rect">
            <a:avLst/>
          </a:prstGeom>
          <a:noFill/>
        </p:spPr>
        <p:txBody>
          <a:bodyPr wrap="square">
            <a:spAutoFit/>
          </a:bodyPr>
          <a:lstStyle/>
          <a:p>
            <a:pPr algn="l"/>
            <a:r>
              <a:rPr sz="1000" b="0" i="0">
                <a:solidFill>
                  <a:srgbClr val="444D6A"/>
                </a:solidFill>
                <a:latin typeface="Calibri"/>
              </a:rPr>
              <a:t>WHY: LAG() gives previous purchase date per customer. DATEDIFF calculates the gap. Identifies Power Buyers vs Casual shoppers.</a:t>
            </a:r>
          </a:p>
        </p:txBody>
      </p:sp>
      <p:sp>
        <p:nvSpPr>
          <p:cNvPr id="49" name="Rectangle 48"/>
          <p:cNvSpPr/>
          <p:nvPr/>
        </p:nvSpPr>
        <p:spPr>
          <a:xfrm>
            <a:off x="7854696" y="6601968"/>
            <a:ext cx="3593592" cy="226771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854696" y="6601968"/>
            <a:ext cx="3593592" cy="43891"/>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854696" y="6601968"/>
            <a:ext cx="36576" cy="2267712"/>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964424" y="6693408"/>
            <a:ext cx="3410712" cy="256032"/>
          </a:xfrm>
          <a:prstGeom prst="rect">
            <a:avLst/>
          </a:prstGeom>
          <a:noFill/>
        </p:spPr>
        <p:txBody>
          <a:bodyPr wrap="square">
            <a:spAutoFit/>
          </a:bodyPr>
          <a:lstStyle/>
          <a:p>
            <a:pPr algn="l"/>
            <a:r>
              <a:rPr sz="1150" b="1" i="0">
                <a:solidFill>
                  <a:srgbClr val="1A1D2E"/>
                </a:solidFill>
                <a:latin typeface="Calibri"/>
              </a:rPr>
              <a:t>Q6 · Q6: Product Affinity</a:t>
            </a:r>
          </a:p>
        </p:txBody>
      </p:sp>
      <p:sp>
        <p:nvSpPr>
          <p:cNvPr id="53" name="TextBox 52"/>
          <p:cNvSpPr txBox="1"/>
          <p:nvPr/>
        </p:nvSpPr>
        <p:spPr>
          <a:xfrm>
            <a:off x="7964424" y="6949440"/>
            <a:ext cx="3410712" cy="201168"/>
          </a:xfrm>
          <a:prstGeom prst="rect">
            <a:avLst/>
          </a:prstGeom>
          <a:noFill/>
        </p:spPr>
        <p:txBody>
          <a:bodyPr wrap="square">
            <a:spAutoFit/>
          </a:bodyPr>
          <a:lstStyle/>
          <a:p>
            <a:pPr algn="l"/>
            <a:r>
              <a:rPr sz="1000" b="0" i="1">
                <a:solidFill>
                  <a:srgbClr val="7A84A8"/>
                </a:solidFill>
                <a:latin typeface="Calibri"/>
              </a:rPr>
              <a:t>What do customers browse before they buy?</a:t>
            </a:r>
          </a:p>
        </p:txBody>
      </p:sp>
      <p:sp>
        <p:nvSpPr>
          <p:cNvPr id="54" name="TextBox 53"/>
          <p:cNvSpPr txBox="1"/>
          <p:nvPr/>
        </p:nvSpPr>
        <p:spPr>
          <a:xfrm>
            <a:off x="7964424" y="7168896"/>
            <a:ext cx="3410712" cy="219456"/>
          </a:xfrm>
          <a:prstGeom prst="rect">
            <a:avLst/>
          </a:prstGeom>
          <a:noFill/>
        </p:spPr>
        <p:txBody>
          <a:bodyPr wrap="square">
            <a:spAutoFit/>
          </a:bodyPr>
          <a:lstStyle/>
          <a:p>
            <a:pPr algn="l"/>
            <a:r>
              <a:rPr sz="1000" b="1" i="0">
                <a:solidFill>
                  <a:srgbClr val="C0322A"/>
                </a:solidFill>
                <a:latin typeface="Calibri"/>
              </a:rPr>
              <a:t>SQL: 4-table JOIN · EXPLODE · Browse-to-buy lift</a:t>
            </a:r>
          </a:p>
        </p:txBody>
      </p:sp>
      <p:sp>
        <p:nvSpPr>
          <p:cNvPr id="55" name="Rectangle 54"/>
          <p:cNvSpPr/>
          <p:nvPr/>
        </p:nvSpPr>
        <p:spPr>
          <a:xfrm>
            <a:off x="7946136" y="7443216"/>
            <a:ext cx="3410712" cy="12984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19288" y="7498080"/>
            <a:ext cx="3300984" cy="1197864"/>
          </a:xfrm>
          <a:prstGeom prst="rect">
            <a:avLst/>
          </a:prstGeom>
          <a:noFill/>
        </p:spPr>
        <p:txBody>
          <a:bodyPr wrap="square">
            <a:spAutoFit/>
          </a:bodyPr>
          <a:lstStyle/>
          <a:p>
            <a:pPr algn="l"/>
            <a:r>
              <a:rPr sz="1000" b="0" i="0">
                <a:solidFill>
                  <a:srgbClr val="444D6A"/>
                </a:solidFill>
                <a:latin typeface="Calibri"/>
              </a:rPr>
              <a:t>WHY: Joins clickstream with transactions to find browse-before-buy paths. Lift &gt;1 means browsing Cat A predicts buying Cat 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Machine Learning — Three Models, Three Problems</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Which algorithm, why we chose it over alternatives, and what it tells the business</a:t>
            </a:r>
          </a:p>
        </p:txBody>
      </p:sp>
      <p:sp>
        <p:nvSpPr>
          <p:cNvPr id="7" name="Rectangle 6"/>
          <p:cNvSpPr/>
          <p:nvPr/>
        </p:nvSpPr>
        <p:spPr>
          <a:xfrm>
            <a:off x="502920" y="1316736"/>
            <a:ext cx="54864" cy="2560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D46B08"/>
                </a:solidFill>
                <a:latin typeface="Calibri"/>
              </a:rPr>
              <a:t>06  ·  ML CONCEPTS &amp; ALGORITHM SELECTION RATIONALE</a:t>
            </a:r>
          </a:p>
        </p:txBody>
      </p:sp>
      <p:sp>
        <p:nvSpPr>
          <p:cNvPr id="9" name="Rectangle 8"/>
          <p:cNvSpPr/>
          <p:nvPr/>
        </p:nvSpPr>
        <p:spPr>
          <a:xfrm>
            <a:off x="411480" y="1719072"/>
            <a:ext cx="3611880" cy="482803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19072"/>
            <a:ext cx="3611880" cy="43891"/>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1828800"/>
            <a:ext cx="3410712" cy="256032"/>
          </a:xfrm>
          <a:prstGeom prst="rect">
            <a:avLst/>
          </a:prstGeom>
          <a:noFill/>
        </p:spPr>
        <p:txBody>
          <a:bodyPr wrap="square">
            <a:spAutoFit/>
          </a:bodyPr>
          <a:lstStyle/>
          <a:p>
            <a:pPr algn="l"/>
            <a:r>
              <a:rPr sz="1250" b="1" i="0">
                <a:solidFill>
                  <a:srgbClr val="1A1D2E"/>
                </a:solidFill>
                <a:latin typeface="Calibri"/>
              </a:rPr>
              <a:t>Model 1: Payment Classifier</a:t>
            </a:r>
          </a:p>
        </p:txBody>
      </p:sp>
      <p:sp>
        <p:nvSpPr>
          <p:cNvPr id="12" name="TextBox 11"/>
          <p:cNvSpPr txBox="1"/>
          <p:nvPr/>
        </p:nvSpPr>
        <p:spPr>
          <a:xfrm>
            <a:off x="539496" y="2103120"/>
            <a:ext cx="3410712" cy="219456"/>
          </a:xfrm>
          <a:prstGeom prst="rect">
            <a:avLst/>
          </a:prstGeom>
          <a:noFill/>
        </p:spPr>
        <p:txBody>
          <a:bodyPr wrap="square">
            <a:spAutoFit/>
          </a:bodyPr>
          <a:lstStyle/>
          <a:p>
            <a:pPr algn="l"/>
            <a:r>
              <a:rPr sz="1000" b="0" i="1">
                <a:solidFill>
                  <a:srgbClr val="7A84A8"/>
                </a:solidFill>
                <a:latin typeface="Calibri"/>
              </a:rPr>
              <a:t>Can we predict if a payment will fail?</a:t>
            </a:r>
          </a:p>
        </p:txBody>
      </p:sp>
      <p:sp>
        <p:nvSpPr>
          <p:cNvPr id="13" name="Rectangle 12"/>
          <p:cNvSpPr/>
          <p:nvPr/>
        </p:nvSpPr>
        <p:spPr>
          <a:xfrm>
            <a:off x="521208" y="2395728"/>
            <a:ext cx="3392424" cy="56692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441448"/>
            <a:ext cx="3264408" cy="201168"/>
          </a:xfrm>
          <a:prstGeom prst="rect">
            <a:avLst/>
          </a:prstGeom>
          <a:noFill/>
        </p:spPr>
        <p:txBody>
          <a:bodyPr wrap="square">
            <a:spAutoFit/>
          </a:bodyPr>
          <a:lstStyle/>
          <a:p>
            <a:pPr algn="l"/>
            <a:r>
              <a:rPr sz="850" b="1" i="0">
                <a:solidFill>
                  <a:srgbClr val="7A84A8"/>
                </a:solidFill>
                <a:latin typeface="Calibri"/>
              </a:rPr>
              <a:t>Algorithm</a:t>
            </a:r>
          </a:p>
        </p:txBody>
      </p:sp>
      <p:sp>
        <p:nvSpPr>
          <p:cNvPr id="15" name="TextBox 14"/>
          <p:cNvSpPr txBox="1"/>
          <p:nvPr/>
        </p:nvSpPr>
        <p:spPr>
          <a:xfrm>
            <a:off x="594360" y="2642616"/>
            <a:ext cx="3264408" cy="310896"/>
          </a:xfrm>
          <a:prstGeom prst="rect">
            <a:avLst/>
          </a:prstGeom>
          <a:noFill/>
        </p:spPr>
        <p:txBody>
          <a:bodyPr wrap="square">
            <a:spAutoFit/>
          </a:bodyPr>
          <a:lstStyle/>
          <a:p>
            <a:pPr algn="l"/>
            <a:r>
              <a:rPr sz="1000" b="0" i="0">
                <a:solidFill>
                  <a:srgbClr val="1A1D2E"/>
                </a:solidFill>
                <a:latin typeface="Calibri"/>
              </a:rPr>
              <a:t>Random Forest (Logistic Regression + GBT also tested)</a:t>
            </a:r>
          </a:p>
        </p:txBody>
      </p:sp>
      <p:sp>
        <p:nvSpPr>
          <p:cNvPr id="16" name="Rectangle 15"/>
          <p:cNvSpPr/>
          <p:nvPr/>
        </p:nvSpPr>
        <p:spPr>
          <a:xfrm>
            <a:off x="521208" y="3008376"/>
            <a:ext cx="3392424" cy="56692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054096"/>
            <a:ext cx="3264408" cy="201168"/>
          </a:xfrm>
          <a:prstGeom prst="rect">
            <a:avLst/>
          </a:prstGeom>
          <a:noFill/>
        </p:spPr>
        <p:txBody>
          <a:bodyPr wrap="square">
            <a:spAutoFit/>
          </a:bodyPr>
          <a:lstStyle/>
          <a:p>
            <a:pPr algn="l"/>
            <a:r>
              <a:rPr sz="850" b="1" i="0">
                <a:solidFill>
                  <a:srgbClr val="7A84A8"/>
                </a:solidFill>
                <a:latin typeface="Calibri"/>
              </a:rPr>
              <a:t>Features</a:t>
            </a:r>
          </a:p>
        </p:txBody>
      </p:sp>
      <p:sp>
        <p:nvSpPr>
          <p:cNvPr id="18" name="TextBox 17"/>
          <p:cNvSpPr txBox="1"/>
          <p:nvPr/>
        </p:nvSpPr>
        <p:spPr>
          <a:xfrm>
            <a:off x="594360" y="3255264"/>
            <a:ext cx="3264408" cy="310896"/>
          </a:xfrm>
          <a:prstGeom prst="rect">
            <a:avLst/>
          </a:prstGeom>
          <a:noFill/>
        </p:spPr>
        <p:txBody>
          <a:bodyPr wrap="square">
            <a:spAutoFit/>
          </a:bodyPr>
          <a:lstStyle/>
          <a:p>
            <a:pPr algn="l"/>
            <a:r>
              <a:rPr sz="1000" b="0" i="0">
                <a:solidFill>
                  <a:srgbClr val="1A1D2E"/>
                </a:solidFill>
                <a:latin typeface="Calibri"/>
              </a:rPr>
              <a:t>15: transaction (4) + clickstream (8) + demographics (3)</a:t>
            </a:r>
          </a:p>
        </p:txBody>
      </p:sp>
      <p:sp>
        <p:nvSpPr>
          <p:cNvPr id="19" name="Rectangle 18"/>
          <p:cNvSpPr/>
          <p:nvPr/>
        </p:nvSpPr>
        <p:spPr>
          <a:xfrm>
            <a:off x="521208" y="3621024"/>
            <a:ext cx="3392424" cy="685800"/>
          </a:xfrm>
          <a:prstGeom prst="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666744"/>
            <a:ext cx="3264408" cy="201168"/>
          </a:xfrm>
          <a:prstGeom prst="rect">
            <a:avLst/>
          </a:prstGeom>
          <a:noFill/>
        </p:spPr>
        <p:txBody>
          <a:bodyPr wrap="square">
            <a:spAutoFit/>
          </a:bodyPr>
          <a:lstStyle/>
          <a:p>
            <a:pPr algn="l"/>
            <a:r>
              <a:rPr sz="850" b="1" i="0">
                <a:solidFill>
                  <a:srgbClr val="7A84A8"/>
                </a:solidFill>
                <a:latin typeface="Calibri"/>
              </a:rPr>
              <a:t>Why Random Forest?</a:t>
            </a:r>
          </a:p>
        </p:txBody>
      </p:sp>
      <p:sp>
        <p:nvSpPr>
          <p:cNvPr id="21" name="TextBox 20"/>
          <p:cNvSpPr txBox="1"/>
          <p:nvPr/>
        </p:nvSpPr>
        <p:spPr>
          <a:xfrm>
            <a:off x="594360" y="3867912"/>
            <a:ext cx="3264408" cy="429768"/>
          </a:xfrm>
          <a:prstGeom prst="rect">
            <a:avLst/>
          </a:prstGeom>
          <a:noFill/>
        </p:spPr>
        <p:txBody>
          <a:bodyPr wrap="square">
            <a:spAutoFit/>
          </a:bodyPr>
          <a:lstStyle/>
          <a:p>
            <a:pPr algn="l"/>
            <a:r>
              <a:rPr sz="1000" b="0" i="0">
                <a:solidFill>
                  <a:srgbClr val="1A1D2E"/>
                </a:solidFill>
                <a:latin typeface="Calibri"/>
              </a:rPr>
              <a:t>RF builds many trees in parallel, each on a random subset. Majority vote reduces overfitting. Captures non-linear feature interactions LR cannot.</a:t>
            </a:r>
          </a:p>
        </p:txBody>
      </p:sp>
      <p:sp>
        <p:nvSpPr>
          <p:cNvPr id="22" name="Rectangle 21"/>
          <p:cNvSpPr/>
          <p:nvPr/>
        </p:nvSpPr>
        <p:spPr>
          <a:xfrm>
            <a:off x="521208" y="4352544"/>
            <a:ext cx="3392424" cy="685800"/>
          </a:xfrm>
          <a:prstGeom prst="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398264"/>
            <a:ext cx="3264408" cy="201168"/>
          </a:xfrm>
          <a:prstGeom prst="rect">
            <a:avLst/>
          </a:prstGeom>
          <a:noFill/>
        </p:spPr>
        <p:txBody>
          <a:bodyPr wrap="square">
            <a:spAutoFit/>
          </a:bodyPr>
          <a:lstStyle/>
          <a:p>
            <a:pPr algn="l"/>
            <a:r>
              <a:rPr sz="850" b="1" i="0">
                <a:solidFill>
                  <a:srgbClr val="7A84A8"/>
                </a:solidFill>
                <a:latin typeface="Calibri"/>
              </a:rPr>
              <a:t>Why NOT Neural Network?</a:t>
            </a:r>
          </a:p>
        </p:txBody>
      </p:sp>
      <p:sp>
        <p:nvSpPr>
          <p:cNvPr id="24" name="TextBox 23"/>
          <p:cNvSpPr txBox="1"/>
          <p:nvPr/>
        </p:nvSpPr>
        <p:spPr>
          <a:xfrm>
            <a:off x="594360" y="4599432"/>
            <a:ext cx="3264408" cy="429768"/>
          </a:xfrm>
          <a:prstGeom prst="rect">
            <a:avLst/>
          </a:prstGeom>
          <a:noFill/>
        </p:spPr>
        <p:txBody>
          <a:bodyPr wrap="square">
            <a:spAutoFit/>
          </a:bodyPr>
          <a:lstStyle/>
          <a:p>
            <a:pPr algn="l"/>
            <a:r>
              <a:rPr sz="1000" b="0" i="0">
                <a:solidFill>
                  <a:srgbClr val="1A1D2E"/>
                </a:solidFill>
                <a:latin typeface="Calibri"/>
              </a:rPr>
              <a:t>With 15 features and 850K rows, NN would overfit and needs GPU. RF is faster, more interpretable, sufficient.</a:t>
            </a:r>
          </a:p>
        </p:txBody>
      </p:sp>
      <p:sp>
        <p:nvSpPr>
          <p:cNvPr id="25" name="Rectangle 24"/>
          <p:cNvSpPr/>
          <p:nvPr/>
        </p:nvSpPr>
        <p:spPr>
          <a:xfrm>
            <a:off x="521208" y="5084064"/>
            <a:ext cx="3392424" cy="566928"/>
          </a:xfrm>
          <a:prstGeom prst="rect">
            <a:avLst/>
          </a:prstGeom>
          <a:solidFill>
            <a:srgbClr val="E5F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5129784"/>
            <a:ext cx="3264408" cy="201168"/>
          </a:xfrm>
          <a:prstGeom prst="rect">
            <a:avLst/>
          </a:prstGeom>
          <a:noFill/>
        </p:spPr>
        <p:txBody>
          <a:bodyPr wrap="square">
            <a:spAutoFit/>
          </a:bodyPr>
          <a:lstStyle/>
          <a:p>
            <a:pPr algn="l"/>
            <a:r>
              <a:rPr sz="850" b="1" i="0">
                <a:solidFill>
                  <a:srgbClr val="7A84A8"/>
                </a:solidFill>
                <a:latin typeface="Calibri"/>
              </a:rPr>
              <a:t>Result</a:t>
            </a:r>
          </a:p>
        </p:txBody>
      </p:sp>
      <p:sp>
        <p:nvSpPr>
          <p:cNvPr id="27" name="TextBox 26"/>
          <p:cNvSpPr txBox="1"/>
          <p:nvPr/>
        </p:nvSpPr>
        <p:spPr>
          <a:xfrm>
            <a:off x="594360" y="5330952"/>
            <a:ext cx="3264408" cy="310896"/>
          </a:xfrm>
          <a:prstGeom prst="rect">
            <a:avLst/>
          </a:prstGeom>
          <a:noFill/>
        </p:spPr>
        <p:txBody>
          <a:bodyPr wrap="square">
            <a:spAutoFit/>
          </a:bodyPr>
          <a:lstStyle/>
          <a:p>
            <a:pPr algn="l"/>
            <a:r>
              <a:rPr sz="1000" b="0" i="0">
                <a:solidFill>
                  <a:srgbClr val="1A1D2E"/>
                </a:solidFill>
                <a:latin typeface="Calibri"/>
              </a:rPr>
              <a:t>Accuracy: 95.4%   F1: 0.931   AUC ≈ 0.5</a:t>
            </a:r>
          </a:p>
        </p:txBody>
      </p:sp>
      <p:sp>
        <p:nvSpPr>
          <p:cNvPr id="28" name="Rectangle 27"/>
          <p:cNvSpPr/>
          <p:nvPr/>
        </p:nvSpPr>
        <p:spPr>
          <a:xfrm>
            <a:off x="521208" y="5696712"/>
            <a:ext cx="3392424" cy="566928"/>
          </a:xfrm>
          <a:prstGeom prst="rect">
            <a:avLst/>
          </a:prstGeom>
          <a:solidFill>
            <a:srgbClr val="E5F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742432"/>
            <a:ext cx="3264408" cy="201168"/>
          </a:xfrm>
          <a:prstGeom prst="rect">
            <a:avLst/>
          </a:prstGeom>
          <a:noFill/>
        </p:spPr>
        <p:txBody>
          <a:bodyPr wrap="square">
            <a:spAutoFit/>
          </a:bodyPr>
          <a:lstStyle/>
          <a:p>
            <a:pPr algn="l"/>
            <a:r>
              <a:rPr sz="850" b="1" i="0">
                <a:solidFill>
                  <a:srgbClr val="7A84A8"/>
                </a:solidFill>
                <a:latin typeface="Calibri"/>
              </a:rPr>
              <a:t>Business insight</a:t>
            </a:r>
          </a:p>
        </p:txBody>
      </p:sp>
      <p:sp>
        <p:nvSpPr>
          <p:cNvPr id="30" name="TextBox 29"/>
          <p:cNvSpPr txBox="1"/>
          <p:nvPr/>
        </p:nvSpPr>
        <p:spPr>
          <a:xfrm>
            <a:off x="594360" y="5943600"/>
            <a:ext cx="3264408" cy="310896"/>
          </a:xfrm>
          <a:prstGeom prst="rect">
            <a:avLst/>
          </a:prstGeom>
          <a:noFill/>
        </p:spPr>
        <p:txBody>
          <a:bodyPr wrap="square">
            <a:spAutoFit/>
          </a:bodyPr>
          <a:lstStyle/>
          <a:p>
            <a:pPr algn="l"/>
            <a:r>
              <a:rPr sz="1000" b="0" i="0">
                <a:solidFill>
                  <a:srgbClr val="1A1D2E"/>
                </a:solidFill>
                <a:latin typeface="Calibri"/>
              </a:rPr>
              <a:t>AUC ≈ 0.5 is an HONEST result: payment failures are external (bank/network), NOT caused by the platform.</a:t>
            </a:r>
          </a:p>
        </p:txBody>
      </p:sp>
      <p:sp>
        <p:nvSpPr>
          <p:cNvPr id="31" name="Rectangle 30"/>
          <p:cNvSpPr/>
          <p:nvPr/>
        </p:nvSpPr>
        <p:spPr>
          <a:xfrm>
            <a:off x="4133088" y="1719072"/>
            <a:ext cx="3611880" cy="482803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33088" y="1719072"/>
            <a:ext cx="3611880" cy="43891"/>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61104" y="1828800"/>
            <a:ext cx="3410712" cy="256032"/>
          </a:xfrm>
          <a:prstGeom prst="rect">
            <a:avLst/>
          </a:prstGeom>
          <a:noFill/>
        </p:spPr>
        <p:txBody>
          <a:bodyPr wrap="square">
            <a:spAutoFit/>
          </a:bodyPr>
          <a:lstStyle/>
          <a:p>
            <a:pPr algn="l"/>
            <a:r>
              <a:rPr sz="1250" b="1" i="0">
                <a:solidFill>
                  <a:srgbClr val="1A1D2E"/>
                </a:solidFill>
                <a:latin typeface="Calibri"/>
              </a:rPr>
              <a:t>Model 2: KMeans Segmentation</a:t>
            </a:r>
          </a:p>
        </p:txBody>
      </p:sp>
      <p:sp>
        <p:nvSpPr>
          <p:cNvPr id="34" name="TextBox 33"/>
          <p:cNvSpPr txBox="1"/>
          <p:nvPr/>
        </p:nvSpPr>
        <p:spPr>
          <a:xfrm>
            <a:off x="4261104" y="2103120"/>
            <a:ext cx="3410712" cy="219456"/>
          </a:xfrm>
          <a:prstGeom prst="rect">
            <a:avLst/>
          </a:prstGeom>
          <a:noFill/>
        </p:spPr>
        <p:txBody>
          <a:bodyPr wrap="square">
            <a:spAutoFit/>
          </a:bodyPr>
          <a:lstStyle/>
          <a:p>
            <a:pPr algn="l"/>
            <a:r>
              <a:rPr sz="1000" b="0" i="1">
                <a:solidFill>
                  <a:srgbClr val="7A84A8"/>
                </a:solidFill>
                <a:latin typeface="Calibri"/>
              </a:rPr>
              <a:t>What are the distinct customer types?</a:t>
            </a:r>
          </a:p>
        </p:txBody>
      </p:sp>
      <p:sp>
        <p:nvSpPr>
          <p:cNvPr id="35" name="Rectangle 34"/>
          <p:cNvSpPr/>
          <p:nvPr/>
        </p:nvSpPr>
        <p:spPr>
          <a:xfrm>
            <a:off x="4242816" y="2395728"/>
            <a:ext cx="3392424" cy="56692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15968" y="2441448"/>
            <a:ext cx="3264408" cy="201168"/>
          </a:xfrm>
          <a:prstGeom prst="rect">
            <a:avLst/>
          </a:prstGeom>
          <a:noFill/>
        </p:spPr>
        <p:txBody>
          <a:bodyPr wrap="square">
            <a:spAutoFit/>
          </a:bodyPr>
          <a:lstStyle/>
          <a:p>
            <a:pPr algn="l"/>
            <a:r>
              <a:rPr sz="850" b="1" i="0">
                <a:solidFill>
                  <a:srgbClr val="7A84A8"/>
                </a:solidFill>
                <a:latin typeface="Calibri"/>
              </a:rPr>
              <a:t>Algorithm</a:t>
            </a:r>
          </a:p>
        </p:txBody>
      </p:sp>
      <p:sp>
        <p:nvSpPr>
          <p:cNvPr id="37" name="TextBox 36"/>
          <p:cNvSpPr txBox="1"/>
          <p:nvPr/>
        </p:nvSpPr>
        <p:spPr>
          <a:xfrm>
            <a:off x="4315968" y="2642616"/>
            <a:ext cx="3264408" cy="310896"/>
          </a:xfrm>
          <a:prstGeom prst="rect">
            <a:avLst/>
          </a:prstGeom>
          <a:noFill/>
        </p:spPr>
        <p:txBody>
          <a:bodyPr wrap="square">
            <a:spAutoFit/>
          </a:bodyPr>
          <a:lstStyle/>
          <a:p>
            <a:pPr algn="l"/>
            <a:r>
              <a:rPr sz="1000" b="0" i="0">
                <a:solidFill>
                  <a:srgbClr val="1A1D2E"/>
                </a:solidFill>
                <a:latin typeface="Calibri"/>
              </a:rPr>
              <a:t>KMeans Clustering (k=5, chosen by Elbow + Silhouette)</a:t>
            </a:r>
          </a:p>
        </p:txBody>
      </p:sp>
      <p:sp>
        <p:nvSpPr>
          <p:cNvPr id="38" name="Rectangle 37"/>
          <p:cNvSpPr/>
          <p:nvPr/>
        </p:nvSpPr>
        <p:spPr>
          <a:xfrm>
            <a:off x="4242816" y="3008376"/>
            <a:ext cx="3392424" cy="56692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15968" y="3054096"/>
            <a:ext cx="3264408" cy="201168"/>
          </a:xfrm>
          <a:prstGeom prst="rect">
            <a:avLst/>
          </a:prstGeom>
          <a:noFill/>
        </p:spPr>
        <p:txBody>
          <a:bodyPr wrap="square">
            <a:spAutoFit/>
          </a:bodyPr>
          <a:lstStyle/>
          <a:p>
            <a:pPr algn="l"/>
            <a:r>
              <a:rPr sz="850" b="1" i="0">
                <a:solidFill>
                  <a:srgbClr val="7A84A8"/>
                </a:solidFill>
                <a:latin typeface="Calibri"/>
              </a:rPr>
              <a:t>Features</a:t>
            </a:r>
          </a:p>
        </p:txBody>
      </p:sp>
      <p:sp>
        <p:nvSpPr>
          <p:cNvPr id="40" name="TextBox 39"/>
          <p:cNvSpPr txBox="1"/>
          <p:nvPr/>
        </p:nvSpPr>
        <p:spPr>
          <a:xfrm>
            <a:off x="4315968" y="3255264"/>
            <a:ext cx="3264408" cy="310896"/>
          </a:xfrm>
          <a:prstGeom prst="rect">
            <a:avLst/>
          </a:prstGeom>
          <a:noFill/>
        </p:spPr>
        <p:txBody>
          <a:bodyPr wrap="square">
            <a:spAutoFit/>
          </a:bodyPr>
          <a:lstStyle/>
          <a:p>
            <a:pPr algn="l"/>
            <a:r>
              <a:rPr sz="1000" b="0" i="0">
                <a:solidFill>
                  <a:srgbClr val="1A1D2E"/>
                </a:solidFill>
                <a:latin typeface="Calibri"/>
              </a:rPr>
              <a:t>10: RFM score (6) + browsing behaviour (4)</a:t>
            </a:r>
          </a:p>
        </p:txBody>
      </p:sp>
      <p:sp>
        <p:nvSpPr>
          <p:cNvPr id="41" name="Rectangle 40"/>
          <p:cNvSpPr/>
          <p:nvPr/>
        </p:nvSpPr>
        <p:spPr>
          <a:xfrm>
            <a:off x="4242816" y="3621024"/>
            <a:ext cx="3392424" cy="685800"/>
          </a:xfrm>
          <a:prstGeom prst="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15968" y="3666744"/>
            <a:ext cx="3264408" cy="201168"/>
          </a:xfrm>
          <a:prstGeom prst="rect">
            <a:avLst/>
          </a:prstGeom>
          <a:noFill/>
        </p:spPr>
        <p:txBody>
          <a:bodyPr wrap="square">
            <a:spAutoFit/>
          </a:bodyPr>
          <a:lstStyle/>
          <a:p>
            <a:pPr algn="l"/>
            <a:r>
              <a:rPr sz="850" b="1" i="0">
                <a:solidFill>
                  <a:srgbClr val="7A84A8"/>
                </a:solidFill>
                <a:latin typeface="Calibri"/>
              </a:rPr>
              <a:t>Why KMeans?</a:t>
            </a:r>
          </a:p>
        </p:txBody>
      </p:sp>
      <p:sp>
        <p:nvSpPr>
          <p:cNvPr id="43" name="TextBox 42"/>
          <p:cNvSpPr txBox="1"/>
          <p:nvPr/>
        </p:nvSpPr>
        <p:spPr>
          <a:xfrm>
            <a:off x="4315968" y="3867912"/>
            <a:ext cx="3264408" cy="429768"/>
          </a:xfrm>
          <a:prstGeom prst="rect">
            <a:avLst/>
          </a:prstGeom>
          <a:noFill/>
        </p:spPr>
        <p:txBody>
          <a:bodyPr wrap="square">
            <a:spAutoFit/>
          </a:bodyPr>
          <a:lstStyle/>
          <a:p>
            <a:pPr algn="l"/>
            <a:r>
              <a:rPr sz="1000" b="0" i="0">
                <a:solidFill>
                  <a:srgbClr val="1A1D2E"/>
                </a:solidFill>
                <a:latin typeface="Calibri"/>
              </a:rPr>
              <a:t>Unsupervised — discovers hidden structure without labels. We don't know in advance what groups exist, KMeans finds them.</a:t>
            </a:r>
          </a:p>
        </p:txBody>
      </p:sp>
      <p:sp>
        <p:nvSpPr>
          <p:cNvPr id="44" name="Rectangle 43"/>
          <p:cNvSpPr/>
          <p:nvPr/>
        </p:nvSpPr>
        <p:spPr>
          <a:xfrm>
            <a:off x="4242816" y="4352544"/>
            <a:ext cx="3392424" cy="685800"/>
          </a:xfrm>
          <a:prstGeom prst="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15968" y="4398264"/>
            <a:ext cx="3264408" cy="201168"/>
          </a:xfrm>
          <a:prstGeom prst="rect">
            <a:avLst/>
          </a:prstGeom>
          <a:noFill/>
        </p:spPr>
        <p:txBody>
          <a:bodyPr wrap="square">
            <a:spAutoFit/>
          </a:bodyPr>
          <a:lstStyle/>
          <a:p>
            <a:pPr algn="l"/>
            <a:r>
              <a:rPr sz="850" b="1" i="0">
                <a:solidFill>
                  <a:srgbClr val="7A84A8"/>
                </a:solidFill>
                <a:latin typeface="Calibri"/>
              </a:rPr>
              <a:t>Why NOT DBSCAN?</a:t>
            </a:r>
          </a:p>
        </p:txBody>
      </p:sp>
      <p:sp>
        <p:nvSpPr>
          <p:cNvPr id="46" name="TextBox 45"/>
          <p:cNvSpPr txBox="1"/>
          <p:nvPr/>
        </p:nvSpPr>
        <p:spPr>
          <a:xfrm>
            <a:off x="4315968" y="4599432"/>
            <a:ext cx="3264408" cy="429768"/>
          </a:xfrm>
          <a:prstGeom prst="rect">
            <a:avLst/>
          </a:prstGeom>
          <a:noFill/>
        </p:spPr>
        <p:txBody>
          <a:bodyPr wrap="square">
            <a:spAutoFit/>
          </a:bodyPr>
          <a:lstStyle/>
          <a:p>
            <a:pPr algn="l"/>
            <a:r>
              <a:rPr sz="1000" b="0" i="0">
                <a:solidFill>
                  <a:srgbClr val="1A1D2E"/>
                </a:solidFill>
                <a:latin typeface="Calibri"/>
              </a:rPr>
              <a:t>DBSCAN struggles with high-dimensional sparse data. KMeans is O(n·k·i) — scales to 50K customers easily.</a:t>
            </a:r>
          </a:p>
        </p:txBody>
      </p:sp>
      <p:sp>
        <p:nvSpPr>
          <p:cNvPr id="47" name="Rectangle 46"/>
          <p:cNvSpPr/>
          <p:nvPr/>
        </p:nvSpPr>
        <p:spPr>
          <a:xfrm>
            <a:off x="4242816" y="5084064"/>
            <a:ext cx="3392424" cy="685800"/>
          </a:xfrm>
          <a:prstGeom prst="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15968" y="5129784"/>
            <a:ext cx="3264408" cy="201168"/>
          </a:xfrm>
          <a:prstGeom prst="rect">
            <a:avLst/>
          </a:prstGeom>
          <a:noFill/>
        </p:spPr>
        <p:txBody>
          <a:bodyPr wrap="square">
            <a:spAutoFit/>
          </a:bodyPr>
          <a:lstStyle/>
          <a:p>
            <a:pPr algn="l"/>
            <a:r>
              <a:rPr sz="850" b="1" i="0">
                <a:solidFill>
                  <a:srgbClr val="7A84A8"/>
                </a:solidFill>
                <a:latin typeface="Calibri"/>
              </a:rPr>
              <a:t>How we chose k=5</a:t>
            </a:r>
          </a:p>
        </p:txBody>
      </p:sp>
      <p:sp>
        <p:nvSpPr>
          <p:cNvPr id="49" name="TextBox 48"/>
          <p:cNvSpPr txBox="1"/>
          <p:nvPr/>
        </p:nvSpPr>
        <p:spPr>
          <a:xfrm>
            <a:off x="4315968" y="5330952"/>
            <a:ext cx="3264408" cy="429768"/>
          </a:xfrm>
          <a:prstGeom prst="rect">
            <a:avLst/>
          </a:prstGeom>
          <a:noFill/>
        </p:spPr>
        <p:txBody>
          <a:bodyPr wrap="square">
            <a:spAutoFit/>
          </a:bodyPr>
          <a:lstStyle/>
          <a:p>
            <a:pPr algn="l"/>
            <a:r>
              <a:rPr sz="1000" b="0" i="0">
                <a:solidFill>
                  <a:srgbClr val="1A1D2E"/>
                </a:solidFill>
                <a:latin typeface="Calibri"/>
              </a:rPr>
              <a:t>Elbow Method plots inertia vs k. Silhouette Score measures separation. Best score: 0.629 at k=5.</a:t>
            </a:r>
          </a:p>
        </p:txBody>
      </p:sp>
      <p:sp>
        <p:nvSpPr>
          <p:cNvPr id="50" name="Rectangle 49"/>
          <p:cNvSpPr/>
          <p:nvPr/>
        </p:nvSpPr>
        <p:spPr>
          <a:xfrm>
            <a:off x="4242816" y="5815584"/>
            <a:ext cx="3392424" cy="566928"/>
          </a:xfrm>
          <a:prstGeom prst="rect">
            <a:avLst/>
          </a:prstGeom>
          <a:solidFill>
            <a:srgbClr val="E5F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15968" y="5861304"/>
            <a:ext cx="3264408" cy="201168"/>
          </a:xfrm>
          <a:prstGeom prst="rect">
            <a:avLst/>
          </a:prstGeom>
          <a:noFill/>
        </p:spPr>
        <p:txBody>
          <a:bodyPr wrap="square">
            <a:spAutoFit/>
          </a:bodyPr>
          <a:lstStyle/>
          <a:p>
            <a:pPr algn="l"/>
            <a:r>
              <a:rPr sz="850" b="1" i="0">
                <a:solidFill>
                  <a:srgbClr val="7A84A8"/>
                </a:solidFill>
                <a:latin typeface="Calibri"/>
              </a:rPr>
              <a:t>Result</a:t>
            </a:r>
          </a:p>
        </p:txBody>
      </p:sp>
      <p:sp>
        <p:nvSpPr>
          <p:cNvPr id="52" name="TextBox 51"/>
          <p:cNvSpPr txBox="1"/>
          <p:nvPr/>
        </p:nvSpPr>
        <p:spPr>
          <a:xfrm>
            <a:off x="4315968" y="6062472"/>
            <a:ext cx="3264408" cy="310896"/>
          </a:xfrm>
          <a:prstGeom prst="rect">
            <a:avLst/>
          </a:prstGeom>
          <a:noFill/>
        </p:spPr>
        <p:txBody>
          <a:bodyPr wrap="square">
            <a:spAutoFit/>
          </a:bodyPr>
          <a:lstStyle/>
          <a:p>
            <a:pPr algn="l"/>
            <a:r>
              <a:rPr sz="1000" b="0" i="0">
                <a:solidFill>
                  <a:srgbClr val="1A1D2E"/>
                </a:solidFill>
                <a:latin typeface="Calibri"/>
              </a:rPr>
              <a:t>5 segments: Casual (31K) · Budget (2.5K) · Power (1.8K) · Regular (12K) · Big-Ticket (2.3K)</a:t>
            </a:r>
          </a:p>
        </p:txBody>
      </p:sp>
      <p:sp>
        <p:nvSpPr>
          <p:cNvPr id="53" name="Rectangle 52"/>
          <p:cNvSpPr/>
          <p:nvPr/>
        </p:nvSpPr>
        <p:spPr>
          <a:xfrm>
            <a:off x="7854696" y="1719072"/>
            <a:ext cx="3611880" cy="482803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854696" y="1719072"/>
            <a:ext cx="3611880" cy="43891"/>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982712" y="1828800"/>
            <a:ext cx="3410712" cy="256032"/>
          </a:xfrm>
          <a:prstGeom prst="rect">
            <a:avLst/>
          </a:prstGeom>
          <a:noFill/>
        </p:spPr>
        <p:txBody>
          <a:bodyPr wrap="square">
            <a:spAutoFit/>
          </a:bodyPr>
          <a:lstStyle/>
          <a:p>
            <a:pPr algn="l"/>
            <a:r>
              <a:rPr sz="1250" b="1" i="0">
                <a:solidFill>
                  <a:srgbClr val="1A1D2E"/>
                </a:solidFill>
                <a:latin typeface="Calibri"/>
              </a:rPr>
              <a:t>Model 3: ALS Recommender</a:t>
            </a:r>
          </a:p>
        </p:txBody>
      </p:sp>
      <p:sp>
        <p:nvSpPr>
          <p:cNvPr id="56" name="TextBox 55"/>
          <p:cNvSpPr txBox="1"/>
          <p:nvPr/>
        </p:nvSpPr>
        <p:spPr>
          <a:xfrm>
            <a:off x="7982712" y="2103120"/>
            <a:ext cx="3410712" cy="219456"/>
          </a:xfrm>
          <a:prstGeom prst="rect">
            <a:avLst/>
          </a:prstGeom>
          <a:noFill/>
        </p:spPr>
        <p:txBody>
          <a:bodyPr wrap="square">
            <a:spAutoFit/>
          </a:bodyPr>
          <a:lstStyle/>
          <a:p>
            <a:pPr algn="l"/>
            <a:r>
              <a:rPr sz="1000" b="0" i="1">
                <a:solidFill>
                  <a:srgbClr val="7A84A8"/>
                </a:solidFill>
                <a:latin typeface="Calibri"/>
              </a:rPr>
              <a:t>What products should each customer see?</a:t>
            </a:r>
          </a:p>
        </p:txBody>
      </p:sp>
      <p:sp>
        <p:nvSpPr>
          <p:cNvPr id="57" name="Rectangle 56"/>
          <p:cNvSpPr/>
          <p:nvPr/>
        </p:nvSpPr>
        <p:spPr>
          <a:xfrm>
            <a:off x="7964424" y="2395728"/>
            <a:ext cx="3392424" cy="56692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37576" y="2441448"/>
            <a:ext cx="3264408" cy="201168"/>
          </a:xfrm>
          <a:prstGeom prst="rect">
            <a:avLst/>
          </a:prstGeom>
          <a:noFill/>
        </p:spPr>
        <p:txBody>
          <a:bodyPr wrap="square">
            <a:spAutoFit/>
          </a:bodyPr>
          <a:lstStyle/>
          <a:p>
            <a:pPr algn="l"/>
            <a:r>
              <a:rPr sz="850" b="1" i="0">
                <a:solidFill>
                  <a:srgbClr val="7A84A8"/>
                </a:solidFill>
                <a:latin typeface="Calibri"/>
              </a:rPr>
              <a:t>Algorithm</a:t>
            </a:r>
          </a:p>
        </p:txBody>
      </p:sp>
      <p:sp>
        <p:nvSpPr>
          <p:cNvPr id="59" name="TextBox 58"/>
          <p:cNvSpPr txBox="1"/>
          <p:nvPr/>
        </p:nvSpPr>
        <p:spPr>
          <a:xfrm>
            <a:off x="8037576" y="2642616"/>
            <a:ext cx="3264408" cy="310896"/>
          </a:xfrm>
          <a:prstGeom prst="rect">
            <a:avLst/>
          </a:prstGeom>
          <a:noFill/>
        </p:spPr>
        <p:txBody>
          <a:bodyPr wrap="square">
            <a:spAutoFit/>
          </a:bodyPr>
          <a:lstStyle/>
          <a:p>
            <a:pPr algn="l"/>
            <a:r>
              <a:rPr sz="1000" b="0" i="0">
                <a:solidFill>
                  <a:srgbClr val="1A1D2E"/>
                </a:solidFill>
                <a:latin typeface="Calibri"/>
              </a:rPr>
              <a:t>ALS — Alternating Least Squares (Collaborative Filtering)</a:t>
            </a:r>
          </a:p>
        </p:txBody>
      </p:sp>
      <p:sp>
        <p:nvSpPr>
          <p:cNvPr id="60" name="Rectangle 59"/>
          <p:cNvSpPr/>
          <p:nvPr/>
        </p:nvSpPr>
        <p:spPr>
          <a:xfrm>
            <a:off x="7964424" y="3008376"/>
            <a:ext cx="3392424" cy="56692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037576" y="3054096"/>
            <a:ext cx="3264408" cy="201168"/>
          </a:xfrm>
          <a:prstGeom prst="rect">
            <a:avLst/>
          </a:prstGeom>
          <a:noFill/>
        </p:spPr>
        <p:txBody>
          <a:bodyPr wrap="square">
            <a:spAutoFit/>
          </a:bodyPr>
          <a:lstStyle/>
          <a:p>
            <a:pPr algn="l"/>
            <a:r>
              <a:rPr sz="850" b="1" i="0">
                <a:solidFill>
                  <a:srgbClr val="7A84A8"/>
                </a:solidFill>
                <a:latin typeface="Calibri"/>
              </a:rPr>
              <a:t>Input</a:t>
            </a:r>
          </a:p>
        </p:txBody>
      </p:sp>
      <p:sp>
        <p:nvSpPr>
          <p:cNvPr id="62" name="TextBox 61"/>
          <p:cNvSpPr txBox="1"/>
          <p:nvPr/>
        </p:nvSpPr>
        <p:spPr>
          <a:xfrm>
            <a:off x="8037576" y="3255264"/>
            <a:ext cx="3264408" cy="310896"/>
          </a:xfrm>
          <a:prstGeom prst="rect">
            <a:avLst/>
          </a:prstGeom>
          <a:noFill/>
        </p:spPr>
        <p:txBody>
          <a:bodyPr wrap="square">
            <a:spAutoFit/>
          </a:bodyPr>
          <a:lstStyle/>
          <a:p>
            <a:pPr algn="l"/>
            <a:r>
              <a:rPr sz="1000" b="0" i="0">
                <a:solidFill>
                  <a:srgbClr val="1A1D2E"/>
                </a:solidFill>
                <a:latin typeface="Calibri"/>
              </a:rPr>
              <a:t>Customer × Product implicit interaction matrix</a:t>
            </a:r>
          </a:p>
        </p:txBody>
      </p:sp>
      <p:sp>
        <p:nvSpPr>
          <p:cNvPr id="63" name="Rectangle 62"/>
          <p:cNvSpPr/>
          <p:nvPr/>
        </p:nvSpPr>
        <p:spPr>
          <a:xfrm>
            <a:off x="7964424" y="3621024"/>
            <a:ext cx="3392424" cy="685800"/>
          </a:xfrm>
          <a:prstGeom prst="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037576" y="3666744"/>
            <a:ext cx="3264408" cy="201168"/>
          </a:xfrm>
          <a:prstGeom prst="rect">
            <a:avLst/>
          </a:prstGeom>
          <a:noFill/>
        </p:spPr>
        <p:txBody>
          <a:bodyPr wrap="square">
            <a:spAutoFit/>
          </a:bodyPr>
          <a:lstStyle/>
          <a:p>
            <a:pPr algn="l"/>
            <a:r>
              <a:rPr sz="850" b="1" i="0">
                <a:solidFill>
                  <a:srgbClr val="7A84A8"/>
                </a:solidFill>
                <a:latin typeface="Calibri"/>
              </a:rPr>
              <a:t>Why ALS?</a:t>
            </a:r>
          </a:p>
        </p:txBody>
      </p:sp>
      <p:sp>
        <p:nvSpPr>
          <p:cNvPr id="65" name="TextBox 64"/>
          <p:cNvSpPr txBox="1"/>
          <p:nvPr/>
        </p:nvSpPr>
        <p:spPr>
          <a:xfrm>
            <a:off x="8037576" y="3867912"/>
            <a:ext cx="3264408" cy="429768"/>
          </a:xfrm>
          <a:prstGeom prst="rect">
            <a:avLst/>
          </a:prstGeom>
          <a:noFill/>
        </p:spPr>
        <p:txBody>
          <a:bodyPr wrap="square">
            <a:spAutoFit/>
          </a:bodyPr>
          <a:lstStyle/>
          <a:p>
            <a:pPr algn="l"/>
            <a:r>
              <a:rPr sz="1000" b="0" i="0">
                <a:solidFill>
                  <a:srgbClr val="1A1D2E"/>
                </a:solidFill>
                <a:latin typeface="Calibri"/>
              </a:rPr>
              <a:t>Learns from implicit signals — checkout (5pts), cart (3pts), wishlist (2pts), view (1pt). Discovers cross-customer patterns (what people like you bought).</a:t>
            </a:r>
          </a:p>
        </p:txBody>
      </p:sp>
      <p:sp>
        <p:nvSpPr>
          <p:cNvPr id="66" name="Rectangle 65"/>
          <p:cNvSpPr/>
          <p:nvPr/>
        </p:nvSpPr>
        <p:spPr>
          <a:xfrm>
            <a:off x="7964424" y="4352544"/>
            <a:ext cx="3392424" cy="685800"/>
          </a:xfrm>
          <a:prstGeom prst="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037576" y="4398264"/>
            <a:ext cx="3264408" cy="201168"/>
          </a:xfrm>
          <a:prstGeom prst="rect">
            <a:avLst/>
          </a:prstGeom>
          <a:noFill/>
        </p:spPr>
        <p:txBody>
          <a:bodyPr wrap="square">
            <a:spAutoFit/>
          </a:bodyPr>
          <a:lstStyle/>
          <a:p>
            <a:pPr algn="l"/>
            <a:r>
              <a:rPr sz="850" b="1" i="0">
                <a:solidFill>
                  <a:srgbClr val="7A84A8"/>
                </a:solidFill>
                <a:latin typeface="Calibri"/>
              </a:rPr>
              <a:t>Why NOT Content-Based?</a:t>
            </a:r>
          </a:p>
        </p:txBody>
      </p:sp>
      <p:sp>
        <p:nvSpPr>
          <p:cNvPr id="68" name="TextBox 67"/>
          <p:cNvSpPr txBox="1"/>
          <p:nvPr/>
        </p:nvSpPr>
        <p:spPr>
          <a:xfrm>
            <a:off x="8037576" y="4599432"/>
            <a:ext cx="3264408" cy="429768"/>
          </a:xfrm>
          <a:prstGeom prst="rect">
            <a:avLst/>
          </a:prstGeom>
          <a:noFill/>
        </p:spPr>
        <p:txBody>
          <a:bodyPr wrap="square">
            <a:spAutoFit/>
          </a:bodyPr>
          <a:lstStyle/>
          <a:p>
            <a:pPr algn="l"/>
            <a:r>
              <a:rPr sz="1000" b="0" i="0">
                <a:solidFill>
                  <a:srgbClr val="1A1D2E"/>
                </a:solidFill>
                <a:latin typeface="Calibri"/>
              </a:rPr>
              <a:t>Content-based uses only product features — cannot discover that customers like you also bought X. ALS learns latent behaviour patterns.</a:t>
            </a:r>
          </a:p>
        </p:txBody>
      </p:sp>
      <p:sp>
        <p:nvSpPr>
          <p:cNvPr id="69" name="Rectangle 68"/>
          <p:cNvSpPr/>
          <p:nvPr/>
        </p:nvSpPr>
        <p:spPr>
          <a:xfrm>
            <a:off x="7964424" y="5084064"/>
            <a:ext cx="3392424" cy="566928"/>
          </a:xfrm>
          <a:prstGeom prst="rect">
            <a:avLst/>
          </a:prstGeom>
          <a:solidFill>
            <a:srgbClr val="E5F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37576" y="5129784"/>
            <a:ext cx="3264408" cy="201168"/>
          </a:xfrm>
          <a:prstGeom prst="rect">
            <a:avLst/>
          </a:prstGeom>
          <a:noFill/>
        </p:spPr>
        <p:txBody>
          <a:bodyPr wrap="square">
            <a:spAutoFit/>
          </a:bodyPr>
          <a:lstStyle/>
          <a:p>
            <a:pPr algn="l"/>
            <a:r>
              <a:rPr sz="850" b="1" i="0">
                <a:solidFill>
                  <a:srgbClr val="7A84A8"/>
                </a:solidFill>
                <a:latin typeface="Calibri"/>
              </a:rPr>
              <a:t>Result</a:t>
            </a:r>
          </a:p>
        </p:txBody>
      </p:sp>
      <p:sp>
        <p:nvSpPr>
          <p:cNvPr id="71" name="TextBox 70"/>
          <p:cNvSpPr txBox="1"/>
          <p:nvPr/>
        </p:nvSpPr>
        <p:spPr>
          <a:xfrm>
            <a:off x="8037576" y="5330952"/>
            <a:ext cx="3264408" cy="310896"/>
          </a:xfrm>
          <a:prstGeom prst="rect">
            <a:avLst/>
          </a:prstGeom>
          <a:noFill/>
        </p:spPr>
        <p:txBody>
          <a:bodyPr wrap="square">
            <a:spAutoFit/>
          </a:bodyPr>
          <a:lstStyle/>
          <a:p>
            <a:pPr algn="l"/>
            <a:r>
              <a:rPr sz="1000" b="0" i="0">
                <a:solidFill>
                  <a:srgbClr val="1A1D2E"/>
                </a:solidFill>
                <a:latin typeface="Calibri"/>
              </a:rPr>
              <a:t>RMSE: 0.8243   Top-5 personalised recs for all 100K customers</a:t>
            </a:r>
          </a:p>
        </p:txBody>
      </p:sp>
      <p:sp>
        <p:nvSpPr>
          <p:cNvPr id="72" name="Rectangle 71"/>
          <p:cNvSpPr/>
          <p:nvPr/>
        </p:nvSpPr>
        <p:spPr>
          <a:xfrm>
            <a:off x="7964424" y="5696712"/>
            <a:ext cx="3392424" cy="566928"/>
          </a:xfrm>
          <a:prstGeom prst="rect">
            <a:avLst/>
          </a:prstGeom>
          <a:solidFill>
            <a:srgbClr val="E5F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037576" y="5742432"/>
            <a:ext cx="3264408" cy="201168"/>
          </a:xfrm>
          <a:prstGeom prst="rect">
            <a:avLst/>
          </a:prstGeom>
          <a:noFill/>
        </p:spPr>
        <p:txBody>
          <a:bodyPr wrap="square">
            <a:spAutoFit/>
          </a:bodyPr>
          <a:lstStyle/>
          <a:p>
            <a:pPr algn="l"/>
            <a:r>
              <a:rPr sz="850" b="1" i="0">
                <a:solidFill>
                  <a:srgbClr val="7A84A8"/>
                </a:solidFill>
                <a:latin typeface="Calibri"/>
              </a:rPr>
              <a:t>Business value</a:t>
            </a:r>
          </a:p>
        </p:txBody>
      </p:sp>
      <p:sp>
        <p:nvSpPr>
          <p:cNvPr id="74" name="TextBox 73"/>
          <p:cNvSpPr txBox="1"/>
          <p:nvPr/>
        </p:nvSpPr>
        <p:spPr>
          <a:xfrm>
            <a:off x="8037576" y="5943600"/>
            <a:ext cx="3264408" cy="310896"/>
          </a:xfrm>
          <a:prstGeom prst="rect">
            <a:avLst/>
          </a:prstGeom>
          <a:noFill/>
        </p:spPr>
        <p:txBody>
          <a:bodyPr wrap="square">
            <a:spAutoFit/>
          </a:bodyPr>
          <a:lstStyle/>
          <a:p>
            <a:pPr algn="l"/>
            <a:r>
              <a:rPr sz="1000" b="0" i="0">
                <a:solidFill>
                  <a:srgbClr val="1A1D2E"/>
                </a:solidFill>
                <a:latin typeface="Calibri"/>
              </a:rPr>
              <a:t>Personalisation that was impossible at scale is now fully automated.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Real-Time Streaming — Spark Structured Streaming</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Why streaming instead of batch — the 2-phase architecture and the engineering challenges we solved</a:t>
            </a:r>
          </a:p>
        </p:txBody>
      </p:sp>
      <p:sp>
        <p:nvSpPr>
          <p:cNvPr id="7" name="Rectangle 6"/>
          <p:cNvSpPr/>
          <p:nvPr/>
        </p:nvSpPr>
        <p:spPr>
          <a:xfrm>
            <a:off x="502920" y="1316736"/>
            <a:ext cx="54864" cy="256032"/>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0F9B56"/>
                </a:solidFill>
                <a:latin typeface="Calibri"/>
              </a:rPr>
              <a:t>07  ·  STREAMING CONCEPTS &amp; DESIGN DECISIONS</a:t>
            </a:r>
          </a:p>
        </p:txBody>
      </p:sp>
      <p:sp>
        <p:nvSpPr>
          <p:cNvPr id="9" name="Rectangle 8"/>
          <p:cNvSpPr/>
          <p:nvPr/>
        </p:nvSpPr>
        <p:spPr>
          <a:xfrm>
            <a:off x="502920" y="1719072"/>
            <a:ext cx="11173968" cy="658368"/>
          </a:xfrm>
          <a:prstGeom prst="rect">
            <a:avLst/>
          </a:prstGeom>
          <a:solidFill>
            <a:srgbClr val="E5F9EE"/>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719072"/>
            <a:ext cx="50292" cy="658368"/>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92224"/>
            <a:ext cx="10972800" cy="256032"/>
          </a:xfrm>
          <a:prstGeom prst="rect">
            <a:avLst/>
          </a:prstGeom>
          <a:noFill/>
        </p:spPr>
        <p:txBody>
          <a:bodyPr wrap="square">
            <a:spAutoFit/>
          </a:bodyPr>
          <a:lstStyle/>
          <a:p>
            <a:pPr algn="l"/>
            <a:r>
              <a:rPr sz="1200" b="1" i="0">
                <a:solidFill>
                  <a:srgbClr val="0F9B56"/>
                </a:solidFill>
                <a:latin typeface="Calibri"/>
              </a:rPr>
              <a:t>Why Streaming — not just a nightly batch job?</a:t>
            </a:r>
          </a:p>
        </p:txBody>
      </p:sp>
      <p:sp>
        <p:nvSpPr>
          <p:cNvPr id="12" name="TextBox 11"/>
          <p:cNvSpPr txBox="1"/>
          <p:nvPr/>
        </p:nvSpPr>
        <p:spPr>
          <a:xfrm>
            <a:off x="658368" y="2066543"/>
            <a:ext cx="10972800" cy="256032"/>
          </a:xfrm>
          <a:prstGeom prst="rect">
            <a:avLst/>
          </a:prstGeom>
          <a:noFill/>
        </p:spPr>
        <p:txBody>
          <a:bodyPr wrap="square">
            <a:spAutoFit/>
          </a:bodyPr>
          <a:lstStyle/>
          <a:p>
            <a:pPr algn="l"/>
            <a:r>
              <a:rPr sz="1100" b="0" i="0">
                <a:solidFill>
                  <a:srgbClr val="444D6A"/>
                </a:solidFill>
                <a:latin typeface="Calibri"/>
              </a:rPr>
              <a:t>A batch job runs once per day. A customer showing HIGH abandonment risk at 2pm gets a discount email at midnight — they already bought from a competitor. Streaming processes each event as it arrives, so interventions happen in the same session while the customer is still on the site.</a:t>
            </a:r>
          </a:p>
        </p:txBody>
      </p:sp>
      <p:sp>
        <p:nvSpPr>
          <p:cNvPr id="13" name="Rectangle 12"/>
          <p:cNvSpPr/>
          <p:nvPr/>
        </p:nvSpPr>
        <p:spPr>
          <a:xfrm>
            <a:off x="411480" y="2542032"/>
            <a:ext cx="3593592" cy="3401568"/>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2542032"/>
            <a:ext cx="3593592" cy="43891"/>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 y="2651760"/>
            <a:ext cx="3392424" cy="274320"/>
          </a:xfrm>
          <a:prstGeom prst="rect">
            <a:avLst/>
          </a:prstGeom>
          <a:noFill/>
        </p:spPr>
        <p:txBody>
          <a:bodyPr wrap="square">
            <a:spAutoFit/>
          </a:bodyPr>
          <a:lstStyle/>
          <a:p>
            <a:pPr algn="l"/>
            <a:r>
              <a:rPr sz="1200" b="1" i="0">
                <a:solidFill>
                  <a:srgbClr val="1A1D2E"/>
                </a:solidFill>
                <a:latin typeface="Calibri"/>
              </a:rPr>
              <a:t>Structured Streaming</a:t>
            </a:r>
          </a:p>
        </p:txBody>
      </p:sp>
      <p:sp>
        <p:nvSpPr>
          <p:cNvPr id="16" name="Rectangle 15"/>
          <p:cNvSpPr/>
          <p:nvPr/>
        </p:nvSpPr>
        <p:spPr>
          <a:xfrm>
            <a:off x="521208" y="2999232"/>
            <a:ext cx="3374136"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044952"/>
            <a:ext cx="3273552" cy="201168"/>
          </a:xfrm>
          <a:prstGeom prst="rect">
            <a:avLst/>
          </a:prstGeom>
          <a:noFill/>
        </p:spPr>
        <p:txBody>
          <a:bodyPr wrap="square">
            <a:spAutoFit/>
          </a:bodyPr>
          <a:lstStyle/>
          <a:p>
            <a:pPr algn="l"/>
            <a:r>
              <a:rPr sz="900" b="1" i="0">
                <a:solidFill>
                  <a:srgbClr val="7A84A8"/>
                </a:solidFill>
                <a:latin typeface="Calibri"/>
              </a:rPr>
              <a:t>What it is:</a:t>
            </a:r>
          </a:p>
        </p:txBody>
      </p:sp>
      <p:sp>
        <p:nvSpPr>
          <p:cNvPr id="18" name="TextBox 17"/>
          <p:cNvSpPr txBox="1"/>
          <p:nvPr/>
        </p:nvSpPr>
        <p:spPr>
          <a:xfrm>
            <a:off x="594360" y="3255264"/>
            <a:ext cx="3273552" cy="868680"/>
          </a:xfrm>
          <a:prstGeom prst="rect">
            <a:avLst/>
          </a:prstGeom>
          <a:noFill/>
        </p:spPr>
        <p:txBody>
          <a:bodyPr wrap="square">
            <a:spAutoFit/>
          </a:bodyPr>
          <a:lstStyle/>
          <a:p>
            <a:pPr algn="l"/>
            <a:r>
              <a:rPr sz="1050" b="0" i="0">
                <a:solidFill>
                  <a:srgbClr val="444D6A"/>
                </a:solidFill>
                <a:latin typeface="Calibri"/>
              </a:rPr>
              <a:t>Spark treats a live data stream as an unbounded table that grows over time. The same SQL queries written for batch processing run continuously on this growing table as new rows arrive.</a:t>
            </a:r>
          </a:p>
        </p:txBody>
      </p:sp>
      <p:sp>
        <p:nvSpPr>
          <p:cNvPr id="19" name="Rectangle 18"/>
          <p:cNvSpPr/>
          <p:nvPr/>
        </p:nvSpPr>
        <p:spPr>
          <a:xfrm>
            <a:off x="521208" y="4251960"/>
            <a:ext cx="3374136" cy="1572768"/>
          </a:xfrm>
          <a:prstGeom prst="rect">
            <a:avLst/>
          </a:prstGeom>
          <a:solidFill>
            <a:srgbClr val="E5F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297680"/>
            <a:ext cx="3273552" cy="201168"/>
          </a:xfrm>
          <a:prstGeom prst="rect">
            <a:avLst/>
          </a:prstGeom>
          <a:noFill/>
        </p:spPr>
        <p:txBody>
          <a:bodyPr wrap="square">
            <a:spAutoFit/>
          </a:bodyPr>
          <a:lstStyle/>
          <a:p>
            <a:pPr algn="l"/>
            <a:r>
              <a:rPr sz="900" b="1" i="0">
                <a:solidFill>
                  <a:srgbClr val="0F9B56"/>
                </a:solidFill>
                <a:latin typeface="Calibri"/>
              </a:rPr>
              <a:t>Why we chose it:</a:t>
            </a:r>
          </a:p>
        </p:txBody>
      </p:sp>
      <p:sp>
        <p:nvSpPr>
          <p:cNvPr id="21" name="TextBox 20"/>
          <p:cNvSpPr txBox="1"/>
          <p:nvPr/>
        </p:nvSpPr>
        <p:spPr>
          <a:xfrm>
            <a:off x="594360" y="4517136"/>
            <a:ext cx="3273552" cy="1234440"/>
          </a:xfrm>
          <a:prstGeom prst="rect">
            <a:avLst/>
          </a:prstGeom>
          <a:noFill/>
        </p:spPr>
        <p:txBody>
          <a:bodyPr wrap="square">
            <a:spAutoFit/>
          </a:bodyPr>
          <a:lstStyle/>
          <a:p>
            <a:pPr algn="l"/>
            <a:r>
              <a:rPr sz="1050" b="0" i="0">
                <a:solidFill>
                  <a:srgbClr val="444D6A"/>
                </a:solidFill>
                <a:latin typeface="Calibri"/>
              </a:rPr>
              <a:t>We already wrote Spark SQL for batch analysis. Structured Streaming reuses the exact same DataFrame API — no new framework needed, minimal learning curve, maximum code reuse across batch and streaming.</a:t>
            </a:r>
          </a:p>
        </p:txBody>
      </p:sp>
      <p:sp>
        <p:nvSpPr>
          <p:cNvPr id="22" name="Rectangle 21"/>
          <p:cNvSpPr/>
          <p:nvPr/>
        </p:nvSpPr>
        <p:spPr>
          <a:xfrm>
            <a:off x="4133088" y="2542032"/>
            <a:ext cx="3593592" cy="3401568"/>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33088" y="2542032"/>
            <a:ext cx="3593592" cy="43891"/>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61104" y="2651760"/>
            <a:ext cx="3392424" cy="274320"/>
          </a:xfrm>
          <a:prstGeom prst="rect">
            <a:avLst/>
          </a:prstGeom>
          <a:noFill/>
        </p:spPr>
        <p:txBody>
          <a:bodyPr wrap="square">
            <a:spAutoFit/>
          </a:bodyPr>
          <a:lstStyle/>
          <a:p>
            <a:pPr algn="l"/>
            <a:r>
              <a:rPr sz="1200" b="1" i="0">
                <a:solidFill>
                  <a:srgbClr val="1A1D2E"/>
                </a:solidFill>
                <a:latin typeface="Calibri"/>
              </a:rPr>
              <a:t>foreachBatch — ML on Streams</a:t>
            </a:r>
          </a:p>
        </p:txBody>
      </p:sp>
      <p:sp>
        <p:nvSpPr>
          <p:cNvPr id="25" name="Rectangle 24"/>
          <p:cNvSpPr/>
          <p:nvPr/>
        </p:nvSpPr>
        <p:spPr>
          <a:xfrm>
            <a:off x="4242816" y="2999232"/>
            <a:ext cx="3374136"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3044952"/>
            <a:ext cx="3273552" cy="201168"/>
          </a:xfrm>
          <a:prstGeom prst="rect">
            <a:avLst/>
          </a:prstGeom>
          <a:noFill/>
        </p:spPr>
        <p:txBody>
          <a:bodyPr wrap="square">
            <a:spAutoFit/>
          </a:bodyPr>
          <a:lstStyle/>
          <a:p>
            <a:pPr algn="l"/>
            <a:r>
              <a:rPr sz="900" b="1" i="0">
                <a:solidFill>
                  <a:srgbClr val="7A84A8"/>
                </a:solidFill>
                <a:latin typeface="Calibri"/>
              </a:rPr>
              <a:t>What it is:</a:t>
            </a:r>
          </a:p>
        </p:txBody>
      </p:sp>
      <p:sp>
        <p:nvSpPr>
          <p:cNvPr id="27" name="TextBox 26"/>
          <p:cNvSpPr txBox="1"/>
          <p:nvPr/>
        </p:nvSpPr>
        <p:spPr>
          <a:xfrm>
            <a:off x="4315968" y="3255264"/>
            <a:ext cx="3273552" cy="868680"/>
          </a:xfrm>
          <a:prstGeom prst="rect">
            <a:avLst/>
          </a:prstGeom>
          <a:noFill/>
        </p:spPr>
        <p:txBody>
          <a:bodyPr wrap="square">
            <a:spAutoFit/>
          </a:bodyPr>
          <a:lstStyle/>
          <a:p>
            <a:pPr algn="l"/>
            <a:r>
              <a:rPr sz="1050" b="0" i="0">
                <a:solidFill>
                  <a:srgbClr val="444D6A"/>
                </a:solidFill>
                <a:latin typeface="Calibri"/>
              </a:rPr>
              <a:t>foreachBatch lets us run arbitrary Python code on each micro-batch of streaming events. We apply our pre-trained RandomForest model to score every session in each batch and emit predictions.</a:t>
            </a:r>
          </a:p>
        </p:txBody>
      </p:sp>
      <p:sp>
        <p:nvSpPr>
          <p:cNvPr id="28" name="Rectangle 27"/>
          <p:cNvSpPr/>
          <p:nvPr/>
        </p:nvSpPr>
        <p:spPr>
          <a:xfrm>
            <a:off x="4242816" y="4251960"/>
            <a:ext cx="3374136" cy="1572768"/>
          </a:xfrm>
          <a:prstGeom prst="rect">
            <a:avLst/>
          </a:prstGeom>
          <a:solidFill>
            <a:srgbClr val="E5F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15968" y="4297680"/>
            <a:ext cx="3273552" cy="201168"/>
          </a:xfrm>
          <a:prstGeom prst="rect">
            <a:avLst/>
          </a:prstGeom>
          <a:noFill/>
        </p:spPr>
        <p:txBody>
          <a:bodyPr wrap="square">
            <a:spAutoFit/>
          </a:bodyPr>
          <a:lstStyle/>
          <a:p>
            <a:pPr algn="l"/>
            <a:r>
              <a:rPr sz="900" b="1" i="0">
                <a:solidFill>
                  <a:srgbClr val="0F9B56"/>
                </a:solidFill>
                <a:latin typeface="Calibri"/>
              </a:rPr>
              <a:t>Why we chose it:</a:t>
            </a:r>
          </a:p>
        </p:txBody>
      </p:sp>
      <p:sp>
        <p:nvSpPr>
          <p:cNvPr id="30" name="TextBox 29"/>
          <p:cNvSpPr txBox="1"/>
          <p:nvPr/>
        </p:nvSpPr>
        <p:spPr>
          <a:xfrm>
            <a:off x="4315968" y="4517136"/>
            <a:ext cx="3273552" cy="1234440"/>
          </a:xfrm>
          <a:prstGeom prst="rect">
            <a:avLst/>
          </a:prstGeom>
          <a:noFill/>
        </p:spPr>
        <p:txBody>
          <a:bodyPr wrap="square">
            <a:spAutoFit/>
          </a:bodyPr>
          <a:lstStyle/>
          <a:p>
            <a:pPr algn="l"/>
            <a:r>
              <a:rPr sz="1050" b="0" i="0">
                <a:solidFill>
                  <a:srgbClr val="444D6A"/>
                </a:solidFill>
                <a:latin typeface="Calibri"/>
              </a:rPr>
              <a:t>Spark ML models cannot natively run inside a continuous streaming query. foreachBatch is the bridge — gives us full Python control over each batch, so we can call model.transform(batch_df) directly.</a:t>
            </a:r>
          </a:p>
        </p:txBody>
      </p:sp>
      <p:sp>
        <p:nvSpPr>
          <p:cNvPr id="31" name="Rectangle 30"/>
          <p:cNvSpPr/>
          <p:nvPr/>
        </p:nvSpPr>
        <p:spPr>
          <a:xfrm>
            <a:off x="7854696" y="2542032"/>
            <a:ext cx="3593592" cy="3401568"/>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854696" y="2542032"/>
            <a:ext cx="3593592" cy="43891"/>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82712" y="2651760"/>
            <a:ext cx="3392424" cy="274320"/>
          </a:xfrm>
          <a:prstGeom prst="rect">
            <a:avLst/>
          </a:prstGeom>
          <a:noFill/>
        </p:spPr>
        <p:txBody>
          <a:bodyPr wrap="square">
            <a:spAutoFit/>
          </a:bodyPr>
          <a:lstStyle/>
          <a:p>
            <a:pPr algn="l"/>
            <a:r>
              <a:rPr sz="1200" b="1" i="0">
                <a:solidFill>
                  <a:srgbClr val="1A1D2E"/>
                </a:solidFill>
                <a:latin typeface="Calibri"/>
              </a:rPr>
              <a:t>Stream-Static JOIN</a:t>
            </a:r>
          </a:p>
        </p:txBody>
      </p:sp>
      <p:sp>
        <p:nvSpPr>
          <p:cNvPr id="34" name="Rectangle 33"/>
          <p:cNvSpPr/>
          <p:nvPr/>
        </p:nvSpPr>
        <p:spPr>
          <a:xfrm>
            <a:off x="7964424" y="2999232"/>
            <a:ext cx="3374136"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37576" y="3044952"/>
            <a:ext cx="3273552" cy="201168"/>
          </a:xfrm>
          <a:prstGeom prst="rect">
            <a:avLst/>
          </a:prstGeom>
          <a:noFill/>
        </p:spPr>
        <p:txBody>
          <a:bodyPr wrap="square">
            <a:spAutoFit/>
          </a:bodyPr>
          <a:lstStyle/>
          <a:p>
            <a:pPr algn="l"/>
            <a:r>
              <a:rPr sz="900" b="1" i="0">
                <a:solidFill>
                  <a:srgbClr val="7A84A8"/>
                </a:solidFill>
                <a:latin typeface="Calibri"/>
              </a:rPr>
              <a:t>What it is:</a:t>
            </a:r>
          </a:p>
        </p:txBody>
      </p:sp>
      <p:sp>
        <p:nvSpPr>
          <p:cNvPr id="36" name="TextBox 35"/>
          <p:cNvSpPr txBox="1"/>
          <p:nvPr/>
        </p:nvSpPr>
        <p:spPr>
          <a:xfrm>
            <a:off x="8037576" y="3255264"/>
            <a:ext cx="3273552" cy="868680"/>
          </a:xfrm>
          <a:prstGeom prst="rect">
            <a:avLst/>
          </a:prstGeom>
          <a:noFill/>
        </p:spPr>
        <p:txBody>
          <a:bodyPr wrap="square">
            <a:spAutoFit/>
          </a:bodyPr>
          <a:lstStyle/>
          <a:p>
            <a:pPr algn="l"/>
            <a:r>
              <a:rPr sz="1050" b="0" i="0">
                <a:solidFill>
                  <a:srgbClr val="444D6A"/>
                </a:solidFill>
                <a:latin typeface="Calibri"/>
              </a:rPr>
              <a:t>We join the live event stream (clickstream) with the static product catalog (44K rows). The static table is broadcast to all cluster nodes once and stays there — enriching every incoming event cheaply.</a:t>
            </a:r>
          </a:p>
        </p:txBody>
      </p:sp>
      <p:sp>
        <p:nvSpPr>
          <p:cNvPr id="37" name="Rectangle 36"/>
          <p:cNvSpPr/>
          <p:nvPr/>
        </p:nvSpPr>
        <p:spPr>
          <a:xfrm>
            <a:off x="7964424" y="4251960"/>
            <a:ext cx="3374136" cy="1572768"/>
          </a:xfrm>
          <a:prstGeom prst="rect">
            <a:avLst/>
          </a:prstGeom>
          <a:solidFill>
            <a:srgbClr val="E5F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37576" y="4297680"/>
            <a:ext cx="3273552" cy="201168"/>
          </a:xfrm>
          <a:prstGeom prst="rect">
            <a:avLst/>
          </a:prstGeom>
          <a:noFill/>
        </p:spPr>
        <p:txBody>
          <a:bodyPr wrap="square">
            <a:spAutoFit/>
          </a:bodyPr>
          <a:lstStyle/>
          <a:p>
            <a:pPr algn="l"/>
            <a:r>
              <a:rPr sz="900" b="1" i="0">
                <a:solidFill>
                  <a:srgbClr val="0F9B56"/>
                </a:solidFill>
                <a:latin typeface="Calibri"/>
              </a:rPr>
              <a:t>Why we chose it:</a:t>
            </a:r>
          </a:p>
        </p:txBody>
      </p:sp>
      <p:sp>
        <p:nvSpPr>
          <p:cNvPr id="39" name="TextBox 38"/>
          <p:cNvSpPr txBox="1"/>
          <p:nvPr/>
        </p:nvSpPr>
        <p:spPr>
          <a:xfrm>
            <a:off x="8037576" y="4517136"/>
            <a:ext cx="3273552" cy="1234440"/>
          </a:xfrm>
          <a:prstGeom prst="rect">
            <a:avLst/>
          </a:prstGeom>
          <a:noFill/>
        </p:spPr>
        <p:txBody>
          <a:bodyPr wrap="square">
            <a:spAutoFit/>
          </a:bodyPr>
          <a:lstStyle/>
          <a:p>
            <a:pPr algn="l"/>
            <a:r>
              <a:rPr sz="1050" b="0" i="0">
                <a:solidFill>
                  <a:srgbClr val="444D6A"/>
                </a:solidFill>
                <a:latin typeface="Calibri"/>
              </a:rPr>
              <a:t>Every click only has a product_id. To know category and price we need the product table. Stream-Static JOIN adds this context to every event in real time, enabling richer session features for the ML scorer.</a:t>
            </a:r>
          </a:p>
        </p:txBody>
      </p:sp>
      <p:sp>
        <p:nvSpPr>
          <p:cNvPr id="40" name="Rectangle 39"/>
          <p:cNvSpPr/>
          <p:nvPr/>
        </p:nvSpPr>
        <p:spPr>
          <a:xfrm>
            <a:off x="502920" y="6035040"/>
            <a:ext cx="11173968" cy="16459"/>
          </a:xfrm>
          <a:prstGeom prst="rect">
            <a:avLst/>
          </a:prstGeom>
          <a:solidFill>
            <a:srgbClr val="D0D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108192"/>
            <a:ext cx="11173968" cy="411480"/>
          </a:xfrm>
          <a:prstGeom prst="rect">
            <a:avLst/>
          </a:prstGeom>
          <a:noFill/>
        </p:spPr>
        <p:txBody>
          <a:bodyPr wrap="square">
            <a:spAutoFit/>
          </a:bodyPr>
          <a:lstStyle/>
          <a:p>
            <a:pPr algn="l"/>
            <a:r>
              <a:rPr sz="1050" b="0" i="1">
                <a:solidFill>
                  <a:srgbClr val="14235E"/>
                </a:solidFill>
                <a:latin typeface="Calibri"/>
              </a:rPr>
              <a:t>Engineering wins:   ① Windows NativeIO crash (UnsatisfiedLinkError) → solved by keeping RF model in Python memory, no disk save needed.   ② Python UDF EOFException in streaming → solved by replacing UDFs with Spark-native vector_to_array() function.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Business Dashboard &amp; E-Commerce Simulation</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The front-end face of the pipeline — 8-page BI command centre + live user simulation</a:t>
            </a:r>
          </a:p>
        </p:txBody>
      </p:sp>
      <p:sp>
        <p:nvSpPr>
          <p:cNvPr id="7" name="Rectangle 6"/>
          <p:cNvSpPr/>
          <p:nvPr/>
        </p:nvSpPr>
        <p:spPr>
          <a:xfrm>
            <a:off x="502920" y="1316736"/>
            <a:ext cx="54864" cy="256032"/>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1E6FC8"/>
                </a:solidFill>
                <a:latin typeface="Calibri"/>
              </a:rPr>
              <a:t>08  ·  DASHBOARD FEATURES &amp; SIMULATION DEMO</a:t>
            </a:r>
          </a:p>
        </p:txBody>
      </p:sp>
      <p:sp>
        <p:nvSpPr>
          <p:cNvPr id="9" name="Rectangle 8"/>
          <p:cNvSpPr/>
          <p:nvPr/>
        </p:nvSpPr>
        <p:spPr>
          <a:xfrm>
            <a:off x="411480" y="1719072"/>
            <a:ext cx="2697480" cy="1170432"/>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19072"/>
            <a:ext cx="50292" cy="1170432"/>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1792224"/>
            <a:ext cx="365760" cy="411480"/>
          </a:xfrm>
          <a:prstGeom prst="rect">
            <a:avLst/>
          </a:prstGeom>
          <a:noFill/>
        </p:spPr>
        <p:txBody>
          <a:bodyPr wrap="square">
            <a:spAutoFit/>
          </a:bodyPr>
          <a:lstStyle/>
          <a:p>
            <a:pPr algn="l"/>
            <a:r>
              <a:rPr sz="2000" b="0" i="0">
                <a:solidFill>
                  <a:srgbClr val="1A1D2E"/>
                </a:solidFill>
                <a:latin typeface="Calibri"/>
              </a:rPr>
              <a:t>⚡</a:t>
            </a:r>
          </a:p>
        </p:txBody>
      </p:sp>
      <p:sp>
        <p:nvSpPr>
          <p:cNvPr id="12" name="TextBox 11"/>
          <p:cNvSpPr txBox="1"/>
          <p:nvPr/>
        </p:nvSpPr>
        <p:spPr>
          <a:xfrm>
            <a:off x="539496" y="2157984"/>
            <a:ext cx="2496312" cy="237744"/>
          </a:xfrm>
          <a:prstGeom prst="rect">
            <a:avLst/>
          </a:prstGeom>
          <a:noFill/>
        </p:spPr>
        <p:txBody>
          <a:bodyPr wrap="square">
            <a:spAutoFit/>
          </a:bodyPr>
          <a:lstStyle/>
          <a:p>
            <a:pPr algn="l"/>
            <a:r>
              <a:rPr sz="1150" b="1" i="0">
                <a:solidFill>
                  <a:srgbClr val="1A1D2E"/>
                </a:solidFill>
                <a:latin typeface="Calibri"/>
              </a:rPr>
              <a:t>Live Operations</a:t>
            </a:r>
          </a:p>
        </p:txBody>
      </p:sp>
      <p:sp>
        <p:nvSpPr>
          <p:cNvPr id="13" name="TextBox 12"/>
          <p:cNvSpPr txBox="1"/>
          <p:nvPr/>
        </p:nvSpPr>
        <p:spPr>
          <a:xfrm>
            <a:off x="539496" y="2414016"/>
            <a:ext cx="2496312" cy="402336"/>
          </a:xfrm>
          <a:prstGeom prst="rect">
            <a:avLst/>
          </a:prstGeom>
          <a:noFill/>
        </p:spPr>
        <p:txBody>
          <a:bodyPr wrap="square">
            <a:spAutoFit/>
          </a:bodyPr>
          <a:lstStyle/>
          <a:p>
            <a:pPr algn="l"/>
            <a:r>
              <a:rPr sz="950" b="0" i="0">
                <a:solidFill>
                  <a:srgbClr val="7A84A8"/>
                </a:solidFill>
                <a:latin typeface="Calibri"/>
              </a:rPr>
              <a:t>Real-time order feed · revenue counter · ML high-risk session flags</a:t>
            </a:r>
          </a:p>
        </p:txBody>
      </p:sp>
      <p:sp>
        <p:nvSpPr>
          <p:cNvPr id="14" name="Rectangle 13"/>
          <p:cNvSpPr/>
          <p:nvPr/>
        </p:nvSpPr>
        <p:spPr>
          <a:xfrm>
            <a:off x="3200400" y="1719072"/>
            <a:ext cx="2697480" cy="1170432"/>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0" y="1719072"/>
            <a:ext cx="50292" cy="1170432"/>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28416" y="1792224"/>
            <a:ext cx="365760" cy="411480"/>
          </a:xfrm>
          <a:prstGeom prst="rect">
            <a:avLst/>
          </a:prstGeom>
          <a:noFill/>
        </p:spPr>
        <p:txBody>
          <a:bodyPr wrap="square">
            <a:spAutoFit/>
          </a:bodyPr>
          <a:lstStyle/>
          <a:p>
            <a:pPr algn="l"/>
            <a:r>
              <a:rPr sz="2000" b="0" i="0">
                <a:solidFill>
                  <a:srgbClr val="1A1D2E"/>
                </a:solidFill>
                <a:latin typeface="Calibri"/>
              </a:rPr>
              <a:t>💰</a:t>
            </a:r>
          </a:p>
        </p:txBody>
      </p:sp>
      <p:sp>
        <p:nvSpPr>
          <p:cNvPr id="17" name="TextBox 16"/>
          <p:cNvSpPr txBox="1"/>
          <p:nvPr/>
        </p:nvSpPr>
        <p:spPr>
          <a:xfrm>
            <a:off x="3328416" y="2157984"/>
            <a:ext cx="2496312" cy="237744"/>
          </a:xfrm>
          <a:prstGeom prst="rect">
            <a:avLst/>
          </a:prstGeom>
          <a:noFill/>
        </p:spPr>
        <p:txBody>
          <a:bodyPr wrap="square">
            <a:spAutoFit/>
          </a:bodyPr>
          <a:lstStyle/>
          <a:p>
            <a:pPr algn="l"/>
            <a:r>
              <a:rPr sz="1150" b="1" i="0">
                <a:solidFill>
                  <a:srgbClr val="1A1D2E"/>
                </a:solidFill>
                <a:latin typeface="Calibri"/>
              </a:rPr>
              <a:t>Revenue &amp; Sales</a:t>
            </a:r>
          </a:p>
        </p:txBody>
      </p:sp>
      <p:sp>
        <p:nvSpPr>
          <p:cNvPr id="18" name="TextBox 17"/>
          <p:cNvSpPr txBox="1"/>
          <p:nvPr/>
        </p:nvSpPr>
        <p:spPr>
          <a:xfrm>
            <a:off x="3328416" y="2414016"/>
            <a:ext cx="2496312" cy="402336"/>
          </a:xfrm>
          <a:prstGeom prst="rect">
            <a:avLst/>
          </a:prstGeom>
          <a:noFill/>
        </p:spPr>
        <p:txBody>
          <a:bodyPr wrap="square">
            <a:spAutoFit/>
          </a:bodyPr>
          <a:lstStyle/>
          <a:p>
            <a:pPr algn="l"/>
            <a:r>
              <a:rPr sz="950" b="0" i="0">
                <a:solidFill>
                  <a:srgbClr val="7A84A8"/>
                </a:solidFill>
                <a:latin typeface="Calibri"/>
              </a:rPr>
              <a:t>MoM trends · LAG() SQL · payment method mix · VIP segment revenue</a:t>
            </a:r>
          </a:p>
        </p:txBody>
      </p:sp>
      <p:sp>
        <p:nvSpPr>
          <p:cNvPr id="19" name="Rectangle 18"/>
          <p:cNvSpPr/>
          <p:nvPr/>
        </p:nvSpPr>
        <p:spPr>
          <a:xfrm>
            <a:off x="5989320" y="1719072"/>
            <a:ext cx="2697480" cy="1170432"/>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89320" y="1719072"/>
            <a:ext cx="50292" cy="11704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17336" y="1792224"/>
            <a:ext cx="365760" cy="411480"/>
          </a:xfrm>
          <a:prstGeom prst="rect">
            <a:avLst/>
          </a:prstGeom>
          <a:noFill/>
        </p:spPr>
        <p:txBody>
          <a:bodyPr wrap="square">
            <a:spAutoFit/>
          </a:bodyPr>
          <a:lstStyle/>
          <a:p>
            <a:pPr algn="l"/>
            <a:r>
              <a:rPr sz="2000" b="0" i="0">
                <a:solidFill>
                  <a:srgbClr val="1A1D2E"/>
                </a:solidFill>
                <a:latin typeface="Calibri"/>
              </a:rPr>
              <a:t>👥</a:t>
            </a:r>
          </a:p>
        </p:txBody>
      </p:sp>
      <p:sp>
        <p:nvSpPr>
          <p:cNvPr id="22" name="TextBox 21"/>
          <p:cNvSpPr txBox="1"/>
          <p:nvPr/>
        </p:nvSpPr>
        <p:spPr>
          <a:xfrm>
            <a:off x="6117336" y="2157984"/>
            <a:ext cx="2496312" cy="237744"/>
          </a:xfrm>
          <a:prstGeom prst="rect">
            <a:avLst/>
          </a:prstGeom>
          <a:noFill/>
        </p:spPr>
        <p:txBody>
          <a:bodyPr wrap="square">
            <a:spAutoFit/>
          </a:bodyPr>
          <a:lstStyle/>
          <a:p>
            <a:pPr algn="l"/>
            <a:r>
              <a:rPr sz="1150" b="1" i="0">
                <a:solidFill>
                  <a:srgbClr val="1A1D2E"/>
                </a:solidFill>
                <a:latin typeface="Calibri"/>
              </a:rPr>
              <a:t>Customer Intel</a:t>
            </a:r>
          </a:p>
        </p:txBody>
      </p:sp>
      <p:sp>
        <p:nvSpPr>
          <p:cNvPr id="23" name="TextBox 22"/>
          <p:cNvSpPr txBox="1"/>
          <p:nvPr/>
        </p:nvSpPr>
        <p:spPr>
          <a:xfrm>
            <a:off x="6117336" y="2414016"/>
            <a:ext cx="2496312" cy="402336"/>
          </a:xfrm>
          <a:prstGeom prst="rect">
            <a:avLst/>
          </a:prstGeom>
          <a:noFill/>
        </p:spPr>
        <p:txBody>
          <a:bodyPr wrap="square">
            <a:spAutoFit/>
          </a:bodyPr>
          <a:lstStyle/>
          <a:p>
            <a:pPr algn="l"/>
            <a:r>
              <a:rPr sz="950" b="0" i="0">
                <a:solidFill>
                  <a:srgbClr val="7A84A8"/>
                </a:solidFill>
                <a:latin typeface="Calibri"/>
              </a:rPr>
              <a:t>All 5 KMeans segments · Top-15 LTV leaderboard by name</a:t>
            </a:r>
          </a:p>
        </p:txBody>
      </p:sp>
      <p:sp>
        <p:nvSpPr>
          <p:cNvPr id="24" name="Rectangle 23"/>
          <p:cNvSpPr/>
          <p:nvPr/>
        </p:nvSpPr>
        <p:spPr>
          <a:xfrm>
            <a:off x="8778240" y="1719072"/>
            <a:ext cx="2697480" cy="1170432"/>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778240" y="1719072"/>
            <a:ext cx="50292" cy="1170432"/>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06256" y="1792224"/>
            <a:ext cx="365760" cy="411480"/>
          </a:xfrm>
          <a:prstGeom prst="rect">
            <a:avLst/>
          </a:prstGeom>
          <a:noFill/>
        </p:spPr>
        <p:txBody>
          <a:bodyPr wrap="square">
            <a:spAutoFit/>
          </a:bodyPr>
          <a:lstStyle/>
          <a:p>
            <a:pPr algn="l"/>
            <a:r>
              <a:rPr sz="2000" b="0" i="0">
                <a:solidFill>
                  <a:srgbClr val="1A1D2E"/>
                </a:solidFill>
                <a:latin typeface="Calibri"/>
              </a:rPr>
              <a:t>🎯</a:t>
            </a:r>
          </a:p>
        </p:txBody>
      </p:sp>
      <p:sp>
        <p:nvSpPr>
          <p:cNvPr id="27" name="TextBox 26"/>
          <p:cNvSpPr txBox="1"/>
          <p:nvPr/>
        </p:nvSpPr>
        <p:spPr>
          <a:xfrm>
            <a:off x="8906256" y="2157984"/>
            <a:ext cx="2496312" cy="237744"/>
          </a:xfrm>
          <a:prstGeom prst="rect">
            <a:avLst/>
          </a:prstGeom>
          <a:noFill/>
        </p:spPr>
        <p:txBody>
          <a:bodyPr wrap="square">
            <a:spAutoFit/>
          </a:bodyPr>
          <a:lstStyle/>
          <a:p>
            <a:pPr algn="l"/>
            <a:r>
              <a:rPr sz="1150" b="1" i="0">
                <a:solidFill>
                  <a:srgbClr val="1A1D2E"/>
                </a:solidFill>
                <a:latin typeface="Calibri"/>
              </a:rPr>
              <a:t>Conversion Center</a:t>
            </a:r>
          </a:p>
        </p:txBody>
      </p:sp>
      <p:sp>
        <p:nvSpPr>
          <p:cNvPr id="28" name="TextBox 27"/>
          <p:cNvSpPr txBox="1"/>
          <p:nvPr/>
        </p:nvSpPr>
        <p:spPr>
          <a:xfrm>
            <a:off x="8906256" y="2414016"/>
            <a:ext cx="2496312" cy="402336"/>
          </a:xfrm>
          <a:prstGeom prst="rect">
            <a:avLst/>
          </a:prstGeom>
          <a:noFill/>
        </p:spPr>
        <p:txBody>
          <a:bodyPr wrap="square">
            <a:spAutoFit/>
          </a:bodyPr>
          <a:lstStyle/>
          <a:p>
            <a:pPr algn="l"/>
            <a:r>
              <a:rPr sz="950" b="0" i="0">
                <a:solidFill>
                  <a:srgbClr val="7A84A8"/>
                </a:solidFill>
                <a:latin typeface="Calibri"/>
              </a:rPr>
              <a:t>Animated funnel · 42% Cart→Checkout drop · promo effectiveness</a:t>
            </a:r>
          </a:p>
        </p:txBody>
      </p:sp>
      <p:sp>
        <p:nvSpPr>
          <p:cNvPr id="29" name="Rectangle 28"/>
          <p:cNvSpPr/>
          <p:nvPr/>
        </p:nvSpPr>
        <p:spPr>
          <a:xfrm>
            <a:off x="411480" y="2980944"/>
            <a:ext cx="2697480" cy="1170432"/>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 y="2980944"/>
            <a:ext cx="50292" cy="1170432"/>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 y="3054096"/>
            <a:ext cx="365760" cy="411480"/>
          </a:xfrm>
          <a:prstGeom prst="rect">
            <a:avLst/>
          </a:prstGeom>
          <a:noFill/>
        </p:spPr>
        <p:txBody>
          <a:bodyPr wrap="square">
            <a:spAutoFit/>
          </a:bodyPr>
          <a:lstStyle/>
          <a:p>
            <a:pPr algn="l"/>
            <a:r>
              <a:rPr sz="2000" b="0" i="0">
                <a:solidFill>
                  <a:srgbClr val="1A1D2E"/>
                </a:solidFill>
                <a:latin typeface="Calibri"/>
              </a:rPr>
              <a:t>🤖</a:t>
            </a:r>
          </a:p>
        </p:txBody>
      </p:sp>
      <p:sp>
        <p:nvSpPr>
          <p:cNvPr id="32" name="TextBox 31"/>
          <p:cNvSpPr txBox="1"/>
          <p:nvPr/>
        </p:nvSpPr>
        <p:spPr>
          <a:xfrm>
            <a:off x="539496" y="3419856"/>
            <a:ext cx="2496312" cy="237744"/>
          </a:xfrm>
          <a:prstGeom prst="rect">
            <a:avLst/>
          </a:prstGeom>
          <a:noFill/>
        </p:spPr>
        <p:txBody>
          <a:bodyPr wrap="square">
            <a:spAutoFit/>
          </a:bodyPr>
          <a:lstStyle/>
          <a:p>
            <a:pPr algn="l"/>
            <a:r>
              <a:rPr sz="1150" b="1" i="0">
                <a:solidFill>
                  <a:srgbClr val="1A1D2E"/>
                </a:solidFill>
                <a:latin typeface="Calibri"/>
              </a:rPr>
              <a:t>ML Predictions</a:t>
            </a:r>
          </a:p>
        </p:txBody>
      </p:sp>
      <p:sp>
        <p:nvSpPr>
          <p:cNvPr id="33" name="TextBox 32"/>
          <p:cNvSpPr txBox="1"/>
          <p:nvPr/>
        </p:nvSpPr>
        <p:spPr>
          <a:xfrm>
            <a:off x="539496" y="3675888"/>
            <a:ext cx="2496312" cy="402336"/>
          </a:xfrm>
          <a:prstGeom prst="rect">
            <a:avLst/>
          </a:prstGeom>
          <a:noFill/>
        </p:spPr>
        <p:txBody>
          <a:bodyPr wrap="square">
            <a:spAutoFit/>
          </a:bodyPr>
          <a:lstStyle/>
          <a:p>
            <a:pPr algn="l"/>
            <a:r>
              <a:rPr sz="950" b="0" i="0">
                <a:solidFill>
                  <a:srgbClr val="7A84A8"/>
                </a:solidFill>
                <a:latin typeface="Calibri"/>
              </a:rPr>
              <a:t>Live session grid · ALS recommender shelf · model accuracy metrics</a:t>
            </a:r>
          </a:p>
        </p:txBody>
      </p:sp>
      <p:sp>
        <p:nvSpPr>
          <p:cNvPr id="34" name="Rectangle 33"/>
          <p:cNvSpPr/>
          <p:nvPr/>
        </p:nvSpPr>
        <p:spPr>
          <a:xfrm>
            <a:off x="3200400" y="2980944"/>
            <a:ext cx="2697480" cy="1170432"/>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00400" y="2980944"/>
            <a:ext cx="50292" cy="1170432"/>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28416" y="3054096"/>
            <a:ext cx="365760" cy="411480"/>
          </a:xfrm>
          <a:prstGeom prst="rect">
            <a:avLst/>
          </a:prstGeom>
          <a:noFill/>
        </p:spPr>
        <p:txBody>
          <a:bodyPr wrap="square">
            <a:spAutoFit/>
          </a:bodyPr>
          <a:lstStyle/>
          <a:p>
            <a:pPr algn="l"/>
            <a:r>
              <a:rPr sz="2000" b="0" i="0">
                <a:solidFill>
                  <a:srgbClr val="1A1D2E"/>
                </a:solidFill>
                <a:latin typeface="Calibri"/>
              </a:rPr>
              <a:t>📦</a:t>
            </a:r>
          </a:p>
        </p:txBody>
      </p:sp>
      <p:sp>
        <p:nvSpPr>
          <p:cNvPr id="37" name="TextBox 36"/>
          <p:cNvSpPr txBox="1"/>
          <p:nvPr/>
        </p:nvSpPr>
        <p:spPr>
          <a:xfrm>
            <a:off x="3328416" y="3419856"/>
            <a:ext cx="2496312" cy="237744"/>
          </a:xfrm>
          <a:prstGeom prst="rect">
            <a:avLst/>
          </a:prstGeom>
          <a:noFill/>
        </p:spPr>
        <p:txBody>
          <a:bodyPr wrap="square">
            <a:spAutoFit/>
          </a:bodyPr>
          <a:lstStyle/>
          <a:p>
            <a:pPr algn="l"/>
            <a:r>
              <a:rPr sz="1150" b="1" i="0">
                <a:solidFill>
                  <a:srgbClr val="1A1D2E"/>
                </a:solidFill>
                <a:latin typeface="Calibri"/>
              </a:rPr>
              <a:t>Product Analytics</a:t>
            </a:r>
          </a:p>
        </p:txBody>
      </p:sp>
      <p:sp>
        <p:nvSpPr>
          <p:cNvPr id="38" name="TextBox 37"/>
          <p:cNvSpPr txBox="1"/>
          <p:nvPr/>
        </p:nvSpPr>
        <p:spPr>
          <a:xfrm>
            <a:off x="3328416" y="3675888"/>
            <a:ext cx="2496312" cy="402336"/>
          </a:xfrm>
          <a:prstGeom prst="rect">
            <a:avLst/>
          </a:prstGeom>
          <a:noFill/>
        </p:spPr>
        <p:txBody>
          <a:bodyPr wrap="square">
            <a:spAutoFit/>
          </a:bodyPr>
          <a:lstStyle/>
          <a:p>
            <a:pPr algn="l"/>
            <a:r>
              <a:rPr sz="950" b="0" i="0">
                <a:solidFill>
                  <a:srgbClr val="7A84A8"/>
                </a:solidFill>
                <a:latin typeface="Calibri"/>
              </a:rPr>
              <a:t>Market basket table (confidence+lift) · trending products live</a:t>
            </a:r>
          </a:p>
        </p:txBody>
      </p:sp>
      <p:sp>
        <p:nvSpPr>
          <p:cNvPr id="39" name="Rectangle 38"/>
          <p:cNvSpPr/>
          <p:nvPr/>
        </p:nvSpPr>
        <p:spPr>
          <a:xfrm>
            <a:off x="5989320" y="2980944"/>
            <a:ext cx="2697480" cy="1170432"/>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89320" y="2980944"/>
            <a:ext cx="50292" cy="1170432"/>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17336" y="3054096"/>
            <a:ext cx="365760" cy="411480"/>
          </a:xfrm>
          <a:prstGeom prst="rect">
            <a:avLst/>
          </a:prstGeom>
          <a:noFill/>
        </p:spPr>
        <p:txBody>
          <a:bodyPr wrap="square">
            <a:spAutoFit/>
          </a:bodyPr>
          <a:lstStyle/>
          <a:p>
            <a:pPr algn="l"/>
            <a:r>
              <a:rPr sz="2000" b="0" i="0">
                <a:solidFill>
                  <a:srgbClr val="1A1D2E"/>
                </a:solidFill>
                <a:latin typeface="Calibri"/>
              </a:rPr>
              <a:t>🚨</a:t>
            </a:r>
          </a:p>
        </p:txBody>
      </p:sp>
      <p:sp>
        <p:nvSpPr>
          <p:cNvPr id="42" name="TextBox 41"/>
          <p:cNvSpPr txBox="1"/>
          <p:nvPr/>
        </p:nvSpPr>
        <p:spPr>
          <a:xfrm>
            <a:off x="6117336" y="3419856"/>
            <a:ext cx="2496312" cy="237744"/>
          </a:xfrm>
          <a:prstGeom prst="rect">
            <a:avLst/>
          </a:prstGeom>
          <a:noFill/>
        </p:spPr>
        <p:txBody>
          <a:bodyPr wrap="square">
            <a:spAutoFit/>
          </a:bodyPr>
          <a:lstStyle/>
          <a:p>
            <a:pPr algn="l"/>
            <a:r>
              <a:rPr sz="1150" b="1" i="0">
                <a:solidFill>
                  <a:srgbClr val="1A1D2E"/>
                </a:solidFill>
                <a:latin typeface="Calibri"/>
              </a:rPr>
              <a:t>Alerts &amp; Actions</a:t>
            </a:r>
          </a:p>
        </p:txBody>
      </p:sp>
      <p:sp>
        <p:nvSpPr>
          <p:cNvPr id="43" name="TextBox 42"/>
          <p:cNvSpPr txBox="1"/>
          <p:nvPr/>
        </p:nvSpPr>
        <p:spPr>
          <a:xfrm>
            <a:off x="6117336" y="3675888"/>
            <a:ext cx="2496312" cy="402336"/>
          </a:xfrm>
          <a:prstGeom prst="rect">
            <a:avLst/>
          </a:prstGeom>
          <a:noFill/>
        </p:spPr>
        <p:txBody>
          <a:bodyPr wrap="square">
            <a:spAutoFit/>
          </a:bodyPr>
          <a:lstStyle/>
          <a:p>
            <a:pPr algn="l"/>
            <a:r>
              <a:rPr sz="950" b="0" i="0">
                <a:solidFill>
                  <a:srgbClr val="7A84A8"/>
                </a:solidFill>
                <a:latin typeface="Calibri"/>
              </a:rPr>
              <a:t>6 alert types · one-click business responses · anomaly feed</a:t>
            </a:r>
          </a:p>
        </p:txBody>
      </p:sp>
      <p:sp>
        <p:nvSpPr>
          <p:cNvPr id="44" name="Rectangle 43"/>
          <p:cNvSpPr/>
          <p:nvPr/>
        </p:nvSpPr>
        <p:spPr>
          <a:xfrm>
            <a:off x="8778240" y="2980944"/>
            <a:ext cx="2697480" cy="1170432"/>
          </a:xfrm>
          <a:prstGeom prst="rect">
            <a:avLst/>
          </a:prstGeom>
          <a:solidFill>
            <a:srgbClr val="FFFFFF"/>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778240" y="2980944"/>
            <a:ext cx="50292" cy="1170432"/>
          </a:xfrm>
          <a:prstGeom prst="rect">
            <a:avLst/>
          </a:prstGeom>
          <a:solidFill>
            <a:srgbClr val="7A8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06256" y="3054096"/>
            <a:ext cx="365760" cy="411480"/>
          </a:xfrm>
          <a:prstGeom prst="rect">
            <a:avLst/>
          </a:prstGeom>
          <a:noFill/>
        </p:spPr>
        <p:txBody>
          <a:bodyPr wrap="square">
            <a:spAutoFit/>
          </a:bodyPr>
          <a:lstStyle/>
          <a:p>
            <a:pPr algn="l"/>
            <a:r>
              <a:rPr sz="2000" b="0" i="0">
                <a:solidFill>
                  <a:srgbClr val="1A1D2E"/>
                </a:solidFill>
                <a:latin typeface="Calibri"/>
              </a:rPr>
              <a:t>⚙️</a:t>
            </a:r>
          </a:p>
        </p:txBody>
      </p:sp>
      <p:sp>
        <p:nvSpPr>
          <p:cNvPr id="47" name="TextBox 46"/>
          <p:cNvSpPr txBox="1"/>
          <p:nvPr/>
        </p:nvSpPr>
        <p:spPr>
          <a:xfrm>
            <a:off x="8906256" y="3419856"/>
            <a:ext cx="2496312" cy="237744"/>
          </a:xfrm>
          <a:prstGeom prst="rect">
            <a:avLst/>
          </a:prstGeom>
          <a:noFill/>
        </p:spPr>
        <p:txBody>
          <a:bodyPr wrap="square">
            <a:spAutoFit/>
          </a:bodyPr>
          <a:lstStyle/>
          <a:p>
            <a:pPr algn="l"/>
            <a:r>
              <a:rPr sz="1150" b="1" i="0">
                <a:solidFill>
                  <a:srgbClr val="1A1D2E"/>
                </a:solidFill>
                <a:latin typeface="Calibri"/>
              </a:rPr>
              <a:t>Pipeline Control</a:t>
            </a:r>
          </a:p>
        </p:txBody>
      </p:sp>
      <p:sp>
        <p:nvSpPr>
          <p:cNvPr id="48" name="TextBox 47"/>
          <p:cNvSpPr txBox="1"/>
          <p:nvPr/>
        </p:nvSpPr>
        <p:spPr>
          <a:xfrm>
            <a:off x="8906256" y="3675888"/>
            <a:ext cx="2496312" cy="402336"/>
          </a:xfrm>
          <a:prstGeom prst="rect">
            <a:avLst/>
          </a:prstGeom>
          <a:noFill/>
        </p:spPr>
        <p:txBody>
          <a:bodyPr wrap="square">
            <a:spAutoFit/>
          </a:bodyPr>
          <a:lstStyle/>
          <a:p>
            <a:pPr algn="l"/>
            <a:r>
              <a:rPr sz="950" b="0" i="0">
                <a:solidFill>
                  <a:srgbClr val="7A84A8"/>
                </a:solidFill>
                <a:latin typeface="Calibri"/>
              </a:rPr>
              <a:t>Click a module → watch simulated terminal execution in real-time</a:t>
            </a:r>
          </a:p>
        </p:txBody>
      </p:sp>
      <p:sp>
        <p:nvSpPr>
          <p:cNvPr id="49" name="Rectangle 48"/>
          <p:cNvSpPr/>
          <p:nvPr/>
        </p:nvSpPr>
        <p:spPr>
          <a:xfrm>
            <a:off x="502920" y="4206240"/>
            <a:ext cx="11173968" cy="2377440"/>
          </a:xfrm>
          <a:prstGeom prst="rect">
            <a:avLst/>
          </a:prstGeom>
          <a:solidFill>
            <a:srgbClr val="E8F0FB"/>
          </a:solidFill>
          <a:ln w="508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2920" y="4206240"/>
            <a:ext cx="50292" cy="237744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 y="4315968"/>
            <a:ext cx="10972800" cy="274320"/>
          </a:xfrm>
          <a:prstGeom prst="rect">
            <a:avLst/>
          </a:prstGeom>
          <a:noFill/>
        </p:spPr>
        <p:txBody>
          <a:bodyPr wrap="square">
            <a:spAutoFit/>
          </a:bodyPr>
          <a:lstStyle/>
          <a:p>
            <a:pPr algn="l"/>
            <a:r>
              <a:rPr sz="1300" b="1" i="0">
                <a:solidFill>
                  <a:srgbClr val="14235E"/>
                </a:solidFill>
                <a:latin typeface="Calibri"/>
              </a:rPr>
              <a:t>🛒  E-Commerce Simulation — simulation.html</a:t>
            </a:r>
          </a:p>
        </p:txBody>
      </p:sp>
      <p:sp>
        <p:nvSpPr>
          <p:cNvPr id="52" name="TextBox 51"/>
          <p:cNvSpPr txBox="1"/>
          <p:nvPr/>
        </p:nvSpPr>
        <p:spPr>
          <a:xfrm>
            <a:off x="658368" y="4663440"/>
            <a:ext cx="5486400" cy="237744"/>
          </a:xfrm>
          <a:prstGeom prst="rect">
            <a:avLst/>
          </a:prstGeom>
          <a:noFill/>
        </p:spPr>
        <p:txBody>
          <a:bodyPr wrap="square">
            <a:spAutoFit/>
          </a:bodyPr>
          <a:lstStyle/>
          <a:p>
            <a:pPr algn="l"/>
            <a:r>
              <a:rPr sz="1050" b="1" i="0">
                <a:solidFill>
                  <a:srgbClr val="1E6FC8"/>
                </a:solidFill>
                <a:latin typeface="Calibri"/>
              </a:rPr>
              <a:t>→ Spark Streaming Events:</a:t>
            </a:r>
          </a:p>
        </p:txBody>
      </p:sp>
      <p:sp>
        <p:nvSpPr>
          <p:cNvPr id="53" name="TextBox 52"/>
          <p:cNvSpPr txBox="1"/>
          <p:nvPr/>
        </p:nvSpPr>
        <p:spPr>
          <a:xfrm>
            <a:off x="658368" y="4882896"/>
            <a:ext cx="5394960" cy="320040"/>
          </a:xfrm>
          <a:prstGeom prst="rect">
            <a:avLst/>
          </a:prstGeom>
          <a:noFill/>
        </p:spPr>
        <p:txBody>
          <a:bodyPr wrap="square">
            <a:spAutoFit/>
          </a:bodyPr>
          <a:lstStyle/>
          <a:p>
            <a:pPr algn="l"/>
            <a:r>
              <a:rPr sz="1000" b="0" i="0">
                <a:solidFill>
                  <a:srgbClr val="444D6A"/>
                </a:solidFill>
                <a:latin typeface="Calibri"/>
              </a:rPr>
              <a:t>   Every hover, click, add-to-cart logs a real-time event with timestamp in the analytics panel — just like foreachBatch consumes live events.</a:t>
            </a:r>
          </a:p>
        </p:txBody>
      </p:sp>
      <p:sp>
        <p:nvSpPr>
          <p:cNvPr id="54" name="TextBox 53"/>
          <p:cNvSpPr txBox="1"/>
          <p:nvPr/>
        </p:nvSpPr>
        <p:spPr>
          <a:xfrm>
            <a:off x="6144768" y="4663440"/>
            <a:ext cx="5486400" cy="237744"/>
          </a:xfrm>
          <a:prstGeom prst="rect">
            <a:avLst/>
          </a:prstGeom>
          <a:noFill/>
        </p:spPr>
        <p:txBody>
          <a:bodyPr wrap="square">
            <a:spAutoFit/>
          </a:bodyPr>
          <a:lstStyle/>
          <a:p>
            <a:pPr algn="l"/>
            <a:r>
              <a:rPr sz="1050" b="1" i="0">
                <a:solidFill>
                  <a:srgbClr val="1E6FC8"/>
                </a:solidFill>
                <a:latin typeface="Calibri"/>
              </a:rPr>
              <a:t>→ Random Forest Score:</a:t>
            </a:r>
          </a:p>
        </p:txBody>
      </p:sp>
      <p:sp>
        <p:nvSpPr>
          <p:cNvPr id="55" name="TextBox 54"/>
          <p:cNvSpPr txBox="1"/>
          <p:nvPr/>
        </p:nvSpPr>
        <p:spPr>
          <a:xfrm>
            <a:off x="6144768" y="4882896"/>
            <a:ext cx="5394960" cy="320040"/>
          </a:xfrm>
          <a:prstGeom prst="rect">
            <a:avLst/>
          </a:prstGeom>
          <a:noFill/>
        </p:spPr>
        <p:txBody>
          <a:bodyPr wrap="square">
            <a:spAutoFit/>
          </a:bodyPr>
          <a:lstStyle/>
          <a:p>
            <a:pPr algn="l"/>
            <a:r>
              <a:rPr sz="1000" b="0" i="0">
                <a:solidFill>
                  <a:srgbClr val="444D6A"/>
                </a:solidFill>
                <a:latin typeface="Calibri"/>
              </a:rPr>
              <a:t>   A conversion probability gauge updates live as you browse. LOW → MEDIUM → HIGH based on cart items, browse depth, and category variety features.</a:t>
            </a:r>
          </a:p>
        </p:txBody>
      </p:sp>
      <p:sp>
        <p:nvSpPr>
          <p:cNvPr id="56" name="TextBox 55"/>
          <p:cNvSpPr txBox="1"/>
          <p:nvPr/>
        </p:nvSpPr>
        <p:spPr>
          <a:xfrm>
            <a:off x="658368" y="5230368"/>
            <a:ext cx="5486400" cy="237744"/>
          </a:xfrm>
          <a:prstGeom prst="rect">
            <a:avLst/>
          </a:prstGeom>
          <a:noFill/>
        </p:spPr>
        <p:txBody>
          <a:bodyPr wrap="square">
            <a:spAutoFit/>
          </a:bodyPr>
          <a:lstStyle/>
          <a:p>
            <a:pPr algn="l"/>
            <a:r>
              <a:rPr sz="1050" b="1" i="0">
                <a:solidFill>
                  <a:srgbClr val="1E6FC8"/>
                </a:solidFill>
                <a:latin typeface="Calibri"/>
              </a:rPr>
              <a:t>→ KMeans Segment:</a:t>
            </a:r>
          </a:p>
        </p:txBody>
      </p:sp>
      <p:sp>
        <p:nvSpPr>
          <p:cNvPr id="57" name="TextBox 56"/>
          <p:cNvSpPr txBox="1"/>
          <p:nvPr/>
        </p:nvSpPr>
        <p:spPr>
          <a:xfrm>
            <a:off x="658368" y="5449824"/>
            <a:ext cx="5394960" cy="320040"/>
          </a:xfrm>
          <a:prstGeom prst="rect">
            <a:avLst/>
          </a:prstGeom>
          <a:noFill/>
        </p:spPr>
        <p:txBody>
          <a:bodyPr wrap="square">
            <a:spAutoFit/>
          </a:bodyPr>
          <a:lstStyle/>
          <a:p>
            <a:pPr algn="l"/>
            <a:r>
              <a:rPr sz="1000" b="0" i="0">
                <a:solidFill>
                  <a:srgbClr val="444D6A"/>
                </a:solidFill>
                <a:latin typeface="Calibri"/>
              </a:rPr>
              <a:t>   Your customer cluster auto-reassigns — Casual → Regular → Power Buyer — as cart value grows. Matches the real k=5 model's behaviour.</a:t>
            </a:r>
          </a:p>
        </p:txBody>
      </p:sp>
      <p:sp>
        <p:nvSpPr>
          <p:cNvPr id="58" name="TextBox 57"/>
          <p:cNvSpPr txBox="1"/>
          <p:nvPr/>
        </p:nvSpPr>
        <p:spPr>
          <a:xfrm>
            <a:off x="6144768" y="5230368"/>
            <a:ext cx="5486400" cy="237744"/>
          </a:xfrm>
          <a:prstGeom prst="rect">
            <a:avLst/>
          </a:prstGeom>
          <a:noFill/>
        </p:spPr>
        <p:txBody>
          <a:bodyPr wrap="square">
            <a:spAutoFit/>
          </a:bodyPr>
          <a:lstStyle/>
          <a:p>
            <a:pPr algn="l"/>
            <a:r>
              <a:rPr sz="1050" b="1" i="0">
                <a:solidFill>
                  <a:srgbClr val="1E6FC8"/>
                </a:solidFill>
                <a:latin typeface="Calibri"/>
              </a:rPr>
              <a:t>→ ALS Recommendations:</a:t>
            </a:r>
          </a:p>
        </p:txBody>
      </p:sp>
      <p:sp>
        <p:nvSpPr>
          <p:cNvPr id="59" name="TextBox 58"/>
          <p:cNvSpPr txBox="1"/>
          <p:nvPr/>
        </p:nvSpPr>
        <p:spPr>
          <a:xfrm>
            <a:off x="6144768" y="5449824"/>
            <a:ext cx="5394960" cy="320040"/>
          </a:xfrm>
          <a:prstGeom prst="rect">
            <a:avLst/>
          </a:prstGeom>
          <a:noFill/>
        </p:spPr>
        <p:txBody>
          <a:bodyPr wrap="square">
            <a:spAutoFit/>
          </a:bodyPr>
          <a:lstStyle/>
          <a:p>
            <a:pPr algn="l"/>
            <a:r>
              <a:rPr sz="1000" b="0" i="0">
                <a:solidFill>
                  <a:srgbClr val="444D6A"/>
                </a:solidFill>
                <a:latin typeface="Calibri"/>
              </a:rPr>
              <a:t>   When you view a category, the panel updates with 4 personalised picks — simulating ALS latent factor predictions per user-category pair.</a:t>
            </a:r>
          </a:p>
        </p:txBody>
      </p:sp>
      <p:sp>
        <p:nvSpPr>
          <p:cNvPr id="60" name="TextBox 59"/>
          <p:cNvSpPr txBox="1"/>
          <p:nvPr/>
        </p:nvSpPr>
        <p:spPr>
          <a:xfrm>
            <a:off x="658368" y="5797296"/>
            <a:ext cx="5486400" cy="237744"/>
          </a:xfrm>
          <a:prstGeom prst="rect">
            <a:avLst/>
          </a:prstGeom>
          <a:noFill/>
        </p:spPr>
        <p:txBody>
          <a:bodyPr wrap="square">
            <a:spAutoFit/>
          </a:bodyPr>
          <a:lstStyle/>
          <a:p>
            <a:pPr algn="l"/>
            <a:r>
              <a:rPr sz="1050" b="1" i="0">
                <a:solidFill>
                  <a:srgbClr val="1E6FC8"/>
                </a:solidFill>
                <a:latin typeface="Calibri"/>
              </a:rPr>
              <a:t>→ Market Basket SQL:</a:t>
            </a:r>
          </a:p>
        </p:txBody>
      </p:sp>
      <p:sp>
        <p:nvSpPr>
          <p:cNvPr id="61" name="TextBox 60"/>
          <p:cNvSpPr txBox="1"/>
          <p:nvPr/>
        </p:nvSpPr>
        <p:spPr>
          <a:xfrm>
            <a:off x="658368" y="6016752"/>
            <a:ext cx="5394960" cy="320040"/>
          </a:xfrm>
          <a:prstGeom prst="rect">
            <a:avLst/>
          </a:prstGeom>
          <a:noFill/>
        </p:spPr>
        <p:txBody>
          <a:bodyPr wrap="square">
            <a:spAutoFit/>
          </a:bodyPr>
          <a:lstStyle/>
          <a:p>
            <a:pPr algn="l"/>
            <a:r>
              <a:rPr sz="1000" b="0" i="0">
                <a:solidFill>
                  <a:srgbClr val="444D6A"/>
                </a:solidFill>
                <a:latin typeface="Calibri"/>
              </a:rPr>
              <a:t>   Add an Apparel item → 'Complete the Look: Footwear' triggers with 68% confidence and 2.3x lift. The exact output of our SQL Q2 query.</a:t>
            </a:r>
          </a:p>
        </p:txBody>
      </p:sp>
      <p:sp>
        <p:nvSpPr>
          <p:cNvPr id="62" name="TextBox 61"/>
          <p:cNvSpPr txBox="1"/>
          <p:nvPr/>
        </p:nvSpPr>
        <p:spPr>
          <a:xfrm>
            <a:off x="6144768" y="5797296"/>
            <a:ext cx="5486400" cy="237744"/>
          </a:xfrm>
          <a:prstGeom prst="rect">
            <a:avLst/>
          </a:prstGeom>
          <a:noFill/>
        </p:spPr>
        <p:txBody>
          <a:bodyPr wrap="square">
            <a:spAutoFit/>
          </a:bodyPr>
          <a:lstStyle/>
          <a:p>
            <a:pPr algn="l"/>
            <a:r>
              <a:rPr sz="1050" b="1" i="0">
                <a:solidFill>
                  <a:srgbClr val="1E6FC8"/>
                </a:solidFill>
                <a:latin typeface="Calibri"/>
              </a:rPr>
              <a:t>→ ML Promo Trigger:</a:t>
            </a:r>
          </a:p>
        </p:txBody>
      </p:sp>
      <p:sp>
        <p:nvSpPr>
          <p:cNvPr id="63" name="TextBox 62"/>
          <p:cNvSpPr txBox="1"/>
          <p:nvPr/>
        </p:nvSpPr>
        <p:spPr>
          <a:xfrm>
            <a:off x="6144768" y="6016752"/>
            <a:ext cx="5394960" cy="320040"/>
          </a:xfrm>
          <a:prstGeom prst="rect">
            <a:avLst/>
          </a:prstGeom>
          <a:noFill/>
        </p:spPr>
        <p:txBody>
          <a:bodyPr wrap="square">
            <a:spAutoFit/>
          </a:bodyPr>
          <a:lstStyle/>
          <a:p>
            <a:pPr algn="l"/>
            <a:r>
              <a:rPr sz="1000" b="0" i="0">
                <a:solidFill>
                  <a:srgbClr val="444D6A"/>
                </a:solidFill>
                <a:latin typeface="Calibri"/>
              </a:rPr>
              <a:t>   At MEDIUM risk score + cart items, a 10% promo popup fires automatically — simulating the foreachBatch promo dispatch business action.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Outcomes &amp; Business Impact</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What the pipeline proved — measurable results that translate directly into revenue</a:t>
            </a:r>
          </a:p>
        </p:txBody>
      </p:sp>
      <p:sp>
        <p:nvSpPr>
          <p:cNvPr id="7" name="Rectangle 6"/>
          <p:cNvSpPr/>
          <p:nvPr/>
        </p:nvSpPr>
        <p:spPr>
          <a:xfrm>
            <a:off x="502920" y="1316736"/>
            <a:ext cx="54864" cy="256032"/>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0F9B56"/>
                </a:solidFill>
                <a:latin typeface="Calibri"/>
              </a:rPr>
              <a:t>09  ·  RESULTS &amp; BUSINESS VALUE</a:t>
            </a:r>
          </a:p>
        </p:txBody>
      </p:sp>
      <p:sp>
        <p:nvSpPr>
          <p:cNvPr id="9" name="Rectangle 8"/>
          <p:cNvSpPr/>
          <p:nvPr/>
        </p:nvSpPr>
        <p:spPr>
          <a:xfrm>
            <a:off x="502920" y="1664208"/>
            <a:ext cx="1772412" cy="950976"/>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64208"/>
            <a:ext cx="1772412" cy="43891"/>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755648"/>
            <a:ext cx="1772412" cy="475488"/>
          </a:xfrm>
          <a:prstGeom prst="rect">
            <a:avLst/>
          </a:prstGeom>
          <a:noFill/>
        </p:spPr>
        <p:txBody>
          <a:bodyPr wrap="square">
            <a:spAutoFit/>
          </a:bodyPr>
          <a:lstStyle/>
          <a:p>
            <a:pPr algn="ctr"/>
            <a:r>
              <a:rPr sz="2600" b="1" i="0">
                <a:solidFill>
                  <a:srgbClr val="1E6FC8"/>
                </a:solidFill>
                <a:latin typeface="Calibri"/>
              </a:rPr>
              <a:t>95.4%</a:t>
            </a:r>
          </a:p>
        </p:txBody>
      </p:sp>
      <p:sp>
        <p:nvSpPr>
          <p:cNvPr id="12" name="TextBox 11"/>
          <p:cNvSpPr txBox="1"/>
          <p:nvPr/>
        </p:nvSpPr>
        <p:spPr>
          <a:xfrm>
            <a:off x="502920" y="2212848"/>
            <a:ext cx="1772412" cy="237744"/>
          </a:xfrm>
          <a:prstGeom prst="rect">
            <a:avLst/>
          </a:prstGeom>
          <a:noFill/>
        </p:spPr>
        <p:txBody>
          <a:bodyPr wrap="square">
            <a:spAutoFit/>
          </a:bodyPr>
          <a:lstStyle/>
          <a:p>
            <a:pPr algn="ctr"/>
            <a:r>
              <a:rPr sz="1000" b="1" i="0">
                <a:solidFill>
                  <a:srgbClr val="444D6A"/>
                </a:solidFill>
                <a:latin typeface="Calibri"/>
              </a:rPr>
              <a:t>RF Accuracy</a:t>
            </a:r>
          </a:p>
        </p:txBody>
      </p:sp>
      <p:sp>
        <p:nvSpPr>
          <p:cNvPr id="13" name="TextBox 12"/>
          <p:cNvSpPr txBox="1"/>
          <p:nvPr/>
        </p:nvSpPr>
        <p:spPr>
          <a:xfrm>
            <a:off x="502920" y="2432304"/>
            <a:ext cx="1772412" cy="182880"/>
          </a:xfrm>
          <a:prstGeom prst="rect">
            <a:avLst/>
          </a:prstGeom>
          <a:noFill/>
        </p:spPr>
        <p:txBody>
          <a:bodyPr wrap="square">
            <a:spAutoFit/>
          </a:bodyPr>
          <a:lstStyle/>
          <a:p>
            <a:pPr algn="ctr"/>
            <a:r>
              <a:rPr sz="850" b="0" i="0">
                <a:solidFill>
                  <a:srgbClr val="7A84A8"/>
                </a:solidFill>
                <a:latin typeface="Calibri"/>
              </a:rPr>
              <a:t>F1 = 0.931</a:t>
            </a:r>
          </a:p>
        </p:txBody>
      </p:sp>
      <p:sp>
        <p:nvSpPr>
          <p:cNvPr id="14" name="Rectangle 13"/>
          <p:cNvSpPr/>
          <p:nvPr/>
        </p:nvSpPr>
        <p:spPr>
          <a:xfrm>
            <a:off x="2385060" y="1664208"/>
            <a:ext cx="1772412" cy="950976"/>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85060" y="1664208"/>
            <a:ext cx="1772412" cy="43891"/>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5060" y="1755648"/>
            <a:ext cx="1772412" cy="475488"/>
          </a:xfrm>
          <a:prstGeom prst="rect">
            <a:avLst/>
          </a:prstGeom>
          <a:noFill/>
        </p:spPr>
        <p:txBody>
          <a:bodyPr wrap="square">
            <a:spAutoFit/>
          </a:bodyPr>
          <a:lstStyle/>
          <a:p>
            <a:pPr algn="ctr"/>
            <a:r>
              <a:rPr sz="2600" b="1" i="0">
                <a:solidFill>
                  <a:srgbClr val="6C3FC4"/>
                </a:solidFill>
                <a:latin typeface="Calibri"/>
              </a:rPr>
              <a:t>0.629</a:t>
            </a:r>
          </a:p>
        </p:txBody>
      </p:sp>
      <p:sp>
        <p:nvSpPr>
          <p:cNvPr id="17" name="TextBox 16"/>
          <p:cNvSpPr txBox="1"/>
          <p:nvPr/>
        </p:nvSpPr>
        <p:spPr>
          <a:xfrm>
            <a:off x="2385060" y="2212848"/>
            <a:ext cx="1772412" cy="237744"/>
          </a:xfrm>
          <a:prstGeom prst="rect">
            <a:avLst/>
          </a:prstGeom>
          <a:noFill/>
        </p:spPr>
        <p:txBody>
          <a:bodyPr wrap="square">
            <a:spAutoFit/>
          </a:bodyPr>
          <a:lstStyle/>
          <a:p>
            <a:pPr algn="ctr"/>
            <a:r>
              <a:rPr sz="1000" b="1" i="0">
                <a:solidFill>
                  <a:srgbClr val="444D6A"/>
                </a:solidFill>
                <a:latin typeface="Calibri"/>
              </a:rPr>
              <a:t>Silhouette</a:t>
            </a:r>
          </a:p>
        </p:txBody>
      </p:sp>
      <p:sp>
        <p:nvSpPr>
          <p:cNvPr id="18" name="TextBox 17"/>
          <p:cNvSpPr txBox="1"/>
          <p:nvPr/>
        </p:nvSpPr>
        <p:spPr>
          <a:xfrm>
            <a:off x="2385060" y="2432304"/>
            <a:ext cx="1772412" cy="182880"/>
          </a:xfrm>
          <a:prstGeom prst="rect">
            <a:avLst/>
          </a:prstGeom>
          <a:noFill/>
        </p:spPr>
        <p:txBody>
          <a:bodyPr wrap="square">
            <a:spAutoFit/>
          </a:bodyPr>
          <a:lstStyle/>
          <a:p>
            <a:pPr algn="ctr"/>
            <a:r>
              <a:rPr sz="850" b="0" i="0">
                <a:solidFill>
                  <a:srgbClr val="7A84A8"/>
                </a:solidFill>
                <a:latin typeface="Calibri"/>
              </a:rPr>
              <a:t>KMeans k=5 best</a:t>
            </a:r>
          </a:p>
        </p:txBody>
      </p:sp>
      <p:sp>
        <p:nvSpPr>
          <p:cNvPr id="19" name="Rectangle 18"/>
          <p:cNvSpPr/>
          <p:nvPr/>
        </p:nvSpPr>
        <p:spPr>
          <a:xfrm>
            <a:off x="4267200" y="1664208"/>
            <a:ext cx="1772412" cy="950976"/>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67200" y="1664208"/>
            <a:ext cx="1772412" cy="43891"/>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67200" y="1755648"/>
            <a:ext cx="1772412" cy="475488"/>
          </a:xfrm>
          <a:prstGeom prst="rect">
            <a:avLst/>
          </a:prstGeom>
          <a:noFill/>
        </p:spPr>
        <p:txBody>
          <a:bodyPr wrap="square">
            <a:spAutoFit/>
          </a:bodyPr>
          <a:lstStyle/>
          <a:p>
            <a:pPr algn="ctr"/>
            <a:r>
              <a:rPr sz="2600" b="1" i="0">
                <a:solidFill>
                  <a:srgbClr val="0F9B56"/>
                </a:solidFill>
                <a:latin typeface="Calibri"/>
              </a:rPr>
              <a:t>0.824</a:t>
            </a:r>
          </a:p>
        </p:txBody>
      </p:sp>
      <p:sp>
        <p:nvSpPr>
          <p:cNvPr id="22" name="TextBox 21"/>
          <p:cNvSpPr txBox="1"/>
          <p:nvPr/>
        </p:nvSpPr>
        <p:spPr>
          <a:xfrm>
            <a:off x="4267200" y="2212848"/>
            <a:ext cx="1772412" cy="237744"/>
          </a:xfrm>
          <a:prstGeom prst="rect">
            <a:avLst/>
          </a:prstGeom>
          <a:noFill/>
        </p:spPr>
        <p:txBody>
          <a:bodyPr wrap="square">
            <a:spAutoFit/>
          </a:bodyPr>
          <a:lstStyle/>
          <a:p>
            <a:pPr algn="ctr"/>
            <a:r>
              <a:rPr sz="1000" b="1" i="0">
                <a:solidFill>
                  <a:srgbClr val="444D6A"/>
                </a:solidFill>
                <a:latin typeface="Calibri"/>
              </a:rPr>
              <a:t>RMSE (ALS)</a:t>
            </a:r>
          </a:p>
        </p:txBody>
      </p:sp>
      <p:sp>
        <p:nvSpPr>
          <p:cNvPr id="23" name="TextBox 22"/>
          <p:cNvSpPr txBox="1"/>
          <p:nvPr/>
        </p:nvSpPr>
        <p:spPr>
          <a:xfrm>
            <a:off x="4267200" y="2432304"/>
            <a:ext cx="1772412" cy="182880"/>
          </a:xfrm>
          <a:prstGeom prst="rect">
            <a:avLst/>
          </a:prstGeom>
          <a:noFill/>
        </p:spPr>
        <p:txBody>
          <a:bodyPr wrap="square">
            <a:spAutoFit/>
          </a:bodyPr>
          <a:lstStyle/>
          <a:p>
            <a:pPr algn="ctr"/>
            <a:r>
              <a:rPr sz="850" b="0" i="0">
                <a:solidFill>
                  <a:srgbClr val="7A84A8"/>
                </a:solidFill>
                <a:latin typeface="Calibri"/>
              </a:rPr>
              <a:t>Recommender quality</a:t>
            </a:r>
          </a:p>
        </p:txBody>
      </p:sp>
      <p:sp>
        <p:nvSpPr>
          <p:cNvPr id="24" name="Rectangle 23"/>
          <p:cNvSpPr/>
          <p:nvPr/>
        </p:nvSpPr>
        <p:spPr>
          <a:xfrm>
            <a:off x="6149340" y="1664208"/>
            <a:ext cx="1772412" cy="950976"/>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9340" y="1664208"/>
            <a:ext cx="1772412" cy="43891"/>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49340" y="1755648"/>
            <a:ext cx="1772412" cy="475488"/>
          </a:xfrm>
          <a:prstGeom prst="rect">
            <a:avLst/>
          </a:prstGeom>
          <a:noFill/>
        </p:spPr>
        <p:txBody>
          <a:bodyPr wrap="square">
            <a:spAutoFit/>
          </a:bodyPr>
          <a:lstStyle/>
          <a:p>
            <a:pPr algn="ctr"/>
            <a:r>
              <a:rPr sz="2600" b="1" i="0">
                <a:solidFill>
                  <a:srgbClr val="D46B08"/>
                </a:solidFill>
                <a:latin typeface="Calibri"/>
              </a:rPr>
              <a:t>~120ms</a:t>
            </a:r>
          </a:p>
        </p:txBody>
      </p:sp>
      <p:sp>
        <p:nvSpPr>
          <p:cNvPr id="27" name="TextBox 26"/>
          <p:cNvSpPr txBox="1"/>
          <p:nvPr/>
        </p:nvSpPr>
        <p:spPr>
          <a:xfrm>
            <a:off x="6149340" y="2212848"/>
            <a:ext cx="1772412" cy="237744"/>
          </a:xfrm>
          <a:prstGeom prst="rect">
            <a:avLst/>
          </a:prstGeom>
          <a:noFill/>
        </p:spPr>
        <p:txBody>
          <a:bodyPr wrap="square">
            <a:spAutoFit/>
          </a:bodyPr>
          <a:lstStyle/>
          <a:p>
            <a:pPr algn="ctr"/>
            <a:r>
              <a:rPr sz="1000" b="1" i="0">
                <a:solidFill>
                  <a:srgbClr val="444D6A"/>
                </a:solidFill>
                <a:latin typeface="Calibri"/>
              </a:rPr>
              <a:t>Stream Latency</a:t>
            </a:r>
          </a:p>
        </p:txBody>
      </p:sp>
      <p:sp>
        <p:nvSpPr>
          <p:cNvPr id="28" name="TextBox 27"/>
          <p:cNvSpPr txBox="1"/>
          <p:nvPr/>
        </p:nvSpPr>
        <p:spPr>
          <a:xfrm>
            <a:off x="6149340" y="2432304"/>
            <a:ext cx="1772412" cy="182880"/>
          </a:xfrm>
          <a:prstGeom prst="rect">
            <a:avLst/>
          </a:prstGeom>
          <a:noFill/>
        </p:spPr>
        <p:txBody>
          <a:bodyPr wrap="square">
            <a:spAutoFit/>
          </a:bodyPr>
          <a:lstStyle/>
          <a:p>
            <a:pPr algn="ctr"/>
            <a:r>
              <a:rPr sz="850" b="0" i="0">
                <a:solidFill>
                  <a:srgbClr val="7A84A8"/>
                </a:solidFill>
                <a:latin typeface="Calibri"/>
              </a:rPr>
              <a:t>foreachBatch</a:t>
            </a:r>
          </a:p>
        </p:txBody>
      </p:sp>
      <p:sp>
        <p:nvSpPr>
          <p:cNvPr id="29" name="Rectangle 28"/>
          <p:cNvSpPr/>
          <p:nvPr/>
        </p:nvSpPr>
        <p:spPr>
          <a:xfrm>
            <a:off x="8031480" y="1664208"/>
            <a:ext cx="1772412" cy="950976"/>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31480" y="1664208"/>
            <a:ext cx="1772412" cy="43891"/>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31480" y="1755648"/>
            <a:ext cx="1772412" cy="475488"/>
          </a:xfrm>
          <a:prstGeom prst="rect">
            <a:avLst/>
          </a:prstGeom>
          <a:noFill/>
        </p:spPr>
        <p:txBody>
          <a:bodyPr wrap="square">
            <a:spAutoFit/>
          </a:bodyPr>
          <a:lstStyle/>
          <a:p>
            <a:pPr algn="ctr"/>
            <a:r>
              <a:rPr sz="2600" b="1" i="0">
                <a:solidFill>
                  <a:srgbClr val="C0322A"/>
                </a:solidFill>
                <a:latin typeface="Calibri"/>
              </a:rPr>
              <a:t>42%</a:t>
            </a:r>
          </a:p>
        </p:txBody>
      </p:sp>
      <p:sp>
        <p:nvSpPr>
          <p:cNvPr id="32" name="TextBox 31"/>
          <p:cNvSpPr txBox="1"/>
          <p:nvPr/>
        </p:nvSpPr>
        <p:spPr>
          <a:xfrm>
            <a:off x="8031480" y="2212848"/>
            <a:ext cx="1772412" cy="237744"/>
          </a:xfrm>
          <a:prstGeom prst="rect">
            <a:avLst/>
          </a:prstGeom>
          <a:noFill/>
        </p:spPr>
        <p:txBody>
          <a:bodyPr wrap="square">
            <a:spAutoFit/>
          </a:bodyPr>
          <a:lstStyle/>
          <a:p>
            <a:pPr algn="ctr"/>
            <a:r>
              <a:rPr sz="1000" b="1" i="0">
                <a:solidFill>
                  <a:srgbClr val="444D6A"/>
                </a:solidFill>
                <a:latin typeface="Calibri"/>
              </a:rPr>
              <a:t>Cart Abandonment</a:t>
            </a:r>
          </a:p>
        </p:txBody>
      </p:sp>
      <p:sp>
        <p:nvSpPr>
          <p:cNvPr id="33" name="TextBox 32"/>
          <p:cNvSpPr txBox="1"/>
          <p:nvPr/>
        </p:nvSpPr>
        <p:spPr>
          <a:xfrm>
            <a:off x="8031480" y="2432304"/>
            <a:ext cx="1772412" cy="182880"/>
          </a:xfrm>
          <a:prstGeom prst="rect">
            <a:avLst/>
          </a:prstGeom>
          <a:noFill/>
        </p:spPr>
        <p:txBody>
          <a:bodyPr wrap="square">
            <a:spAutoFit/>
          </a:bodyPr>
          <a:lstStyle/>
          <a:p>
            <a:pPr algn="ctr"/>
            <a:r>
              <a:rPr sz="850" b="0" i="0">
                <a:solidFill>
                  <a:srgbClr val="7A84A8"/>
                </a:solidFill>
                <a:latin typeface="Calibri"/>
              </a:rPr>
              <a:t>Identified &amp; fixable</a:t>
            </a:r>
          </a:p>
        </p:txBody>
      </p:sp>
      <p:sp>
        <p:nvSpPr>
          <p:cNvPr id="34" name="Rectangle 33"/>
          <p:cNvSpPr/>
          <p:nvPr/>
        </p:nvSpPr>
        <p:spPr>
          <a:xfrm>
            <a:off x="9913620" y="1664208"/>
            <a:ext cx="1772412" cy="950976"/>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13620" y="1664208"/>
            <a:ext cx="1772412" cy="43891"/>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3620" y="1755648"/>
            <a:ext cx="1772412" cy="475488"/>
          </a:xfrm>
          <a:prstGeom prst="rect">
            <a:avLst/>
          </a:prstGeom>
          <a:noFill/>
        </p:spPr>
        <p:txBody>
          <a:bodyPr wrap="square">
            <a:spAutoFit/>
          </a:bodyPr>
          <a:lstStyle/>
          <a:p>
            <a:pPr algn="ctr"/>
            <a:r>
              <a:rPr sz="2600" b="1" i="0">
                <a:solidFill>
                  <a:srgbClr val="087079"/>
                </a:solidFill>
                <a:latin typeface="Calibri"/>
              </a:rPr>
              <a:t>95.7%</a:t>
            </a:r>
          </a:p>
        </p:txBody>
      </p:sp>
      <p:sp>
        <p:nvSpPr>
          <p:cNvPr id="37" name="TextBox 36"/>
          <p:cNvSpPr txBox="1"/>
          <p:nvPr/>
        </p:nvSpPr>
        <p:spPr>
          <a:xfrm>
            <a:off x="9913620" y="2212848"/>
            <a:ext cx="1772412" cy="237744"/>
          </a:xfrm>
          <a:prstGeom prst="rect">
            <a:avLst/>
          </a:prstGeom>
          <a:noFill/>
        </p:spPr>
        <p:txBody>
          <a:bodyPr wrap="square">
            <a:spAutoFit/>
          </a:bodyPr>
          <a:lstStyle/>
          <a:p>
            <a:pPr algn="ctr"/>
            <a:r>
              <a:rPr sz="1000" b="1" i="0">
                <a:solidFill>
                  <a:srgbClr val="444D6A"/>
                </a:solidFill>
                <a:latin typeface="Calibri"/>
              </a:rPr>
              <a:t>Payment Success</a:t>
            </a:r>
          </a:p>
        </p:txBody>
      </p:sp>
      <p:sp>
        <p:nvSpPr>
          <p:cNvPr id="38" name="TextBox 37"/>
          <p:cNvSpPr txBox="1"/>
          <p:nvPr/>
        </p:nvSpPr>
        <p:spPr>
          <a:xfrm>
            <a:off x="9913620" y="2432304"/>
            <a:ext cx="1772412" cy="182880"/>
          </a:xfrm>
          <a:prstGeom prst="rect">
            <a:avLst/>
          </a:prstGeom>
          <a:noFill/>
        </p:spPr>
        <p:txBody>
          <a:bodyPr wrap="square">
            <a:spAutoFit/>
          </a:bodyPr>
          <a:lstStyle/>
          <a:p>
            <a:pPr algn="ctr"/>
            <a:r>
              <a:rPr sz="850" b="0" i="0">
                <a:solidFill>
                  <a:srgbClr val="7A84A8"/>
                </a:solidFill>
                <a:latin typeface="Calibri"/>
              </a:rPr>
              <a:t>All 5 methods</a:t>
            </a:r>
          </a:p>
        </p:txBody>
      </p:sp>
      <p:sp>
        <p:nvSpPr>
          <p:cNvPr id="39" name="Rectangle 38"/>
          <p:cNvSpPr/>
          <p:nvPr/>
        </p:nvSpPr>
        <p:spPr>
          <a:xfrm>
            <a:off x="502920" y="2798064"/>
            <a:ext cx="5394960" cy="373075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2889504"/>
            <a:ext cx="5138928" cy="274320"/>
          </a:xfrm>
          <a:prstGeom prst="rect">
            <a:avLst/>
          </a:prstGeom>
          <a:noFill/>
        </p:spPr>
        <p:txBody>
          <a:bodyPr wrap="square">
            <a:spAutoFit/>
          </a:bodyPr>
          <a:lstStyle/>
          <a:p>
            <a:pPr algn="l"/>
            <a:r>
              <a:rPr sz="1200" b="1" i="0">
                <a:solidFill>
                  <a:srgbClr val="14235E"/>
                </a:solidFill>
                <a:latin typeface="Calibri"/>
              </a:rPr>
              <a:t>Technical Achievements</a:t>
            </a:r>
          </a:p>
        </p:txBody>
      </p:sp>
      <p:sp>
        <p:nvSpPr>
          <p:cNvPr id="41" name="Rectangle 40"/>
          <p:cNvSpPr/>
          <p:nvPr/>
        </p:nvSpPr>
        <p:spPr>
          <a:xfrm>
            <a:off x="594360" y="3291840"/>
            <a:ext cx="5212080" cy="62179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4360" y="3291840"/>
            <a:ext cx="36576" cy="621792"/>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3232" y="3346704"/>
            <a:ext cx="4974336" cy="237744"/>
          </a:xfrm>
          <a:prstGeom prst="rect">
            <a:avLst/>
          </a:prstGeom>
          <a:noFill/>
        </p:spPr>
        <p:txBody>
          <a:bodyPr wrap="square">
            <a:spAutoFit/>
          </a:bodyPr>
          <a:lstStyle/>
          <a:p>
            <a:pPr algn="l"/>
            <a:r>
              <a:rPr sz="1100" b="1" i="0">
                <a:solidFill>
                  <a:srgbClr val="1A1D2E"/>
                </a:solidFill>
                <a:latin typeface="Calibri"/>
              </a:rPr>
              <a:t>6-Stage Spark Pipeline</a:t>
            </a:r>
          </a:p>
        </p:txBody>
      </p:sp>
      <p:sp>
        <p:nvSpPr>
          <p:cNvPr id="44" name="TextBox 43"/>
          <p:cNvSpPr txBox="1"/>
          <p:nvPr/>
        </p:nvSpPr>
        <p:spPr>
          <a:xfrm>
            <a:off x="713232" y="3584448"/>
            <a:ext cx="4974336" cy="274320"/>
          </a:xfrm>
          <a:prstGeom prst="rect">
            <a:avLst/>
          </a:prstGeom>
          <a:noFill/>
        </p:spPr>
        <p:txBody>
          <a:bodyPr wrap="square">
            <a:spAutoFit/>
          </a:bodyPr>
          <a:lstStyle/>
          <a:p>
            <a:pPr algn="l"/>
            <a:r>
              <a:rPr sz="1000" b="0" i="0">
                <a:solidFill>
                  <a:srgbClr val="444D6A"/>
                </a:solidFill>
                <a:latin typeface="Calibri"/>
              </a:rPr>
              <a:t>Ingestion → EDA → SQL → ML → Streaming → Dashboard. Fully automated, end-to-end.</a:t>
            </a:r>
          </a:p>
        </p:txBody>
      </p:sp>
      <p:sp>
        <p:nvSpPr>
          <p:cNvPr id="45" name="Rectangle 44"/>
          <p:cNvSpPr/>
          <p:nvPr/>
        </p:nvSpPr>
        <p:spPr>
          <a:xfrm>
            <a:off x="594360" y="3986784"/>
            <a:ext cx="5212080" cy="62179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94360" y="3986784"/>
            <a:ext cx="36576" cy="621792"/>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3232" y="4041648"/>
            <a:ext cx="4974336" cy="237744"/>
          </a:xfrm>
          <a:prstGeom prst="rect">
            <a:avLst/>
          </a:prstGeom>
          <a:noFill/>
        </p:spPr>
        <p:txBody>
          <a:bodyPr wrap="square">
            <a:spAutoFit/>
          </a:bodyPr>
          <a:lstStyle/>
          <a:p>
            <a:pPr algn="l"/>
            <a:r>
              <a:rPr sz="1100" b="1" i="0">
                <a:solidFill>
                  <a:srgbClr val="1A1D2E"/>
                </a:solidFill>
                <a:latin typeface="Calibri"/>
              </a:rPr>
              <a:t>6 Advanced SQL Queries</a:t>
            </a:r>
          </a:p>
        </p:txBody>
      </p:sp>
      <p:sp>
        <p:nvSpPr>
          <p:cNvPr id="48" name="TextBox 47"/>
          <p:cNvSpPr txBox="1"/>
          <p:nvPr/>
        </p:nvSpPr>
        <p:spPr>
          <a:xfrm>
            <a:off x="713232" y="4279392"/>
            <a:ext cx="4974336" cy="274320"/>
          </a:xfrm>
          <a:prstGeom prst="rect">
            <a:avLst/>
          </a:prstGeom>
          <a:noFill/>
        </p:spPr>
        <p:txBody>
          <a:bodyPr wrap="square">
            <a:spAutoFit/>
          </a:bodyPr>
          <a:lstStyle/>
          <a:p>
            <a:pPr algn="l"/>
            <a:r>
              <a:rPr sz="1000" b="0" i="0">
                <a:solidFill>
                  <a:srgbClr val="444D6A"/>
                </a:solidFill>
                <a:latin typeface="Calibri"/>
              </a:rPr>
              <a:t>Window functions · CTEs · LATERAL VIEW EXPLODE · Self-JOINs · 4-table JOINs.</a:t>
            </a:r>
          </a:p>
        </p:txBody>
      </p:sp>
      <p:sp>
        <p:nvSpPr>
          <p:cNvPr id="49" name="Rectangle 48"/>
          <p:cNvSpPr/>
          <p:nvPr/>
        </p:nvSpPr>
        <p:spPr>
          <a:xfrm>
            <a:off x="594360" y="4681728"/>
            <a:ext cx="5212080" cy="62179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94360" y="4681728"/>
            <a:ext cx="36576" cy="62179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3232" y="4736592"/>
            <a:ext cx="4974336" cy="237744"/>
          </a:xfrm>
          <a:prstGeom prst="rect">
            <a:avLst/>
          </a:prstGeom>
          <a:noFill/>
        </p:spPr>
        <p:txBody>
          <a:bodyPr wrap="square">
            <a:spAutoFit/>
          </a:bodyPr>
          <a:lstStyle/>
          <a:p>
            <a:pPr algn="l"/>
            <a:r>
              <a:rPr sz="1100" b="1" i="0">
                <a:solidFill>
                  <a:srgbClr val="1A1D2E"/>
                </a:solidFill>
                <a:latin typeface="Calibri"/>
              </a:rPr>
              <a:t>3 MLlib Models</a:t>
            </a:r>
          </a:p>
        </p:txBody>
      </p:sp>
      <p:sp>
        <p:nvSpPr>
          <p:cNvPr id="52" name="TextBox 51"/>
          <p:cNvSpPr txBox="1"/>
          <p:nvPr/>
        </p:nvSpPr>
        <p:spPr>
          <a:xfrm>
            <a:off x="713232" y="4974336"/>
            <a:ext cx="4974336" cy="274320"/>
          </a:xfrm>
          <a:prstGeom prst="rect">
            <a:avLst/>
          </a:prstGeom>
          <a:noFill/>
        </p:spPr>
        <p:txBody>
          <a:bodyPr wrap="square">
            <a:spAutoFit/>
          </a:bodyPr>
          <a:lstStyle/>
          <a:p>
            <a:pPr algn="l"/>
            <a:r>
              <a:rPr sz="1000" b="0" i="0">
                <a:solidFill>
                  <a:srgbClr val="444D6A"/>
                </a:solidFill>
                <a:latin typeface="Calibri"/>
              </a:rPr>
              <a:t>Random Forest (95.4%) · KMeans k=5 (Silhouette 0.629) · ALS (RMSE 0.824).</a:t>
            </a:r>
          </a:p>
        </p:txBody>
      </p:sp>
      <p:sp>
        <p:nvSpPr>
          <p:cNvPr id="53" name="Rectangle 52"/>
          <p:cNvSpPr/>
          <p:nvPr/>
        </p:nvSpPr>
        <p:spPr>
          <a:xfrm>
            <a:off x="594360" y="5376672"/>
            <a:ext cx="5212080" cy="62179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94360" y="5376672"/>
            <a:ext cx="36576" cy="621792"/>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3232" y="5431536"/>
            <a:ext cx="4974336" cy="237744"/>
          </a:xfrm>
          <a:prstGeom prst="rect">
            <a:avLst/>
          </a:prstGeom>
          <a:noFill/>
        </p:spPr>
        <p:txBody>
          <a:bodyPr wrap="square">
            <a:spAutoFit/>
          </a:bodyPr>
          <a:lstStyle/>
          <a:p>
            <a:pPr algn="l"/>
            <a:r>
              <a:rPr sz="1100" b="1" i="0">
                <a:solidFill>
                  <a:srgbClr val="1A1D2E"/>
                </a:solidFill>
                <a:latin typeface="Calibri"/>
              </a:rPr>
              <a:t>Structured Streaming</a:t>
            </a:r>
          </a:p>
        </p:txBody>
      </p:sp>
      <p:sp>
        <p:nvSpPr>
          <p:cNvPr id="56" name="TextBox 55"/>
          <p:cNvSpPr txBox="1"/>
          <p:nvPr/>
        </p:nvSpPr>
        <p:spPr>
          <a:xfrm>
            <a:off x="713232" y="5669280"/>
            <a:ext cx="4974336" cy="274320"/>
          </a:xfrm>
          <a:prstGeom prst="rect">
            <a:avLst/>
          </a:prstGeom>
          <a:noFill/>
        </p:spPr>
        <p:txBody>
          <a:bodyPr wrap="square">
            <a:spAutoFit/>
          </a:bodyPr>
          <a:lstStyle/>
          <a:p>
            <a:pPr algn="l"/>
            <a:r>
              <a:rPr sz="1000" b="0" i="0">
                <a:solidFill>
                  <a:srgbClr val="444D6A"/>
                </a:solidFill>
                <a:latin typeface="Calibri"/>
              </a:rPr>
              <a:t>2-phase: batch train → foreachBatch inference · Anomaly detection · ~120ms latency.</a:t>
            </a:r>
          </a:p>
        </p:txBody>
      </p:sp>
      <p:sp>
        <p:nvSpPr>
          <p:cNvPr id="57" name="Rectangle 56"/>
          <p:cNvSpPr/>
          <p:nvPr/>
        </p:nvSpPr>
        <p:spPr>
          <a:xfrm>
            <a:off x="594360" y="6071616"/>
            <a:ext cx="5212080" cy="62179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94360" y="6071616"/>
            <a:ext cx="36576" cy="621792"/>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3232" y="6126480"/>
            <a:ext cx="4974336" cy="237744"/>
          </a:xfrm>
          <a:prstGeom prst="rect">
            <a:avLst/>
          </a:prstGeom>
          <a:noFill/>
        </p:spPr>
        <p:txBody>
          <a:bodyPr wrap="square">
            <a:spAutoFit/>
          </a:bodyPr>
          <a:lstStyle/>
          <a:p>
            <a:pPr algn="l"/>
            <a:r>
              <a:rPr sz="1100" b="1" i="0">
                <a:solidFill>
                  <a:srgbClr val="1A1D2E"/>
                </a:solidFill>
                <a:latin typeface="Calibri"/>
              </a:rPr>
              <a:t>Engineering Wins</a:t>
            </a:r>
          </a:p>
        </p:txBody>
      </p:sp>
      <p:sp>
        <p:nvSpPr>
          <p:cNvPr id="60" name="TextBox 59"/>
          <p:cNvSpPr txBox="1"/>
          <p:nvPr/>
        </p:nvSpPr>
        <p:spPr>
          <a:xfrm>
            <a:off x="713232" y="6364224"/>
            <a:ext cx="4974336" cy="274320"/>
          </a:xfrm>
          <a:prstGeom prst="rect">
            <a:avLst/>
          </a:prstGeom>
          <a:noFill/>
        </p:spPr>
        <p:txBody>
          <a:bodyPr wrap="square">
            <a:spAutoFit/>
          </a:bodyPr>
          <a:lstStyle/>
          <a:p>
            <a:pPr algn="l"/>
            <a:r>
              <a:rPr sz="1000" b="0" i="0">
                <a:solidFill>
                  <a:srgbClr val="444D6A"/>
                </a:solidFill>
                <a:latin typeface="Calibri"/>
              </a:rPr>
              <a:t>Solved Windows NativeIO crash + Python UDF EOFException — real production-grade bugs.</a:t>
            </a:r>
          </a:p>
        </p:txBody>
      </p:sp>
      <p:sp>
        <p:nvSpPr>
          <p:cNvPr id="61" name="Rectangle 60"/>
          <p:cNvSpPr/>
          <p:nvPr/>
        </p:nvSpPr>
        <p:spPr>
          <a:xfrm>
            <a:off x="6053328" y="2798064"/>
            <a:ext cx="5715000" cy="3730752"/>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217920" y="2889504"/>
            <a:ext cx="5449824" cy="274320"/>
          </a:xfrm>
          <a:prstGeom prst="rect">
            <a:avLst/>
          </a:prstGeom>
          <a:noFill/>
        </p:spPr>
        <p:txBody>
          <a:bodyPr wrap="square">
            <a:spAutoFit/>
          </a:bodyPr>
          <a:lstStyle/>
          <a:p>
            <a:pPr algn="l"/>
            <a:r>
              <a:rPr sz="1200" b="1" i="0">
                <a:solidFill>
                  <a:srgbClr val="14235E"/>
                </a:solidFill>
                <a:latin typeface="Calibri"/>
              </a:rPr>
              <a:t>Business Outcomes</a:t>
            </a:r>
          </a:p>
        </p:txBody>
      </p:sp>
      <p:sp>
        <p:nvSpPr>
          <p:cNvPr id="63" name="Rectangle 62"/>
          <p:cNvSpPr/>
          <p:nvPr/>
        </p:nvSpPr>
        <p:spPr>
          <a:xfrm>
            <a:off x="6144768" y="3291840"/>
            <a:ext cx="5532120" cy="8046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44768" y="3291840"/>
            <a:ext cx="36576" cy="804672"/>
          </a:xfrm>
          <a:prstGeom prst="rect">
            <a:avLst/>
          </a:prstGeom>
          <a:solidFill>
            <a:srgbClr val="C03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54496" y="3346704"/>
            <a:ext cx="5303520" cy="237744"/>
          </a:xfrm>
          <a:prstGeom prst="rect">
            <a:avLst/>
          </a:prstGeom>
          <a:noFill/>
        </p:spPr>
        <p:txBody>
          <a:bodyPr wrap="square">
            <a:spAutoFit/>
          </a:bodyPr>
          <a:lstStyle/>
          <a:p>
            <a:pPr algn="l"/>
            <a:r>
              <a:rPr sz="1100" b="1" i="0">
                <a:solidFill>
                  <a:srgbClr val="1A1D2E"/>
                </a:solidFill>
                <a:latin typeface="Calibri"/>
              </a:rPr>
              <a:t>Fix the Funnel → +12% Revenue</a:t>
            </a:r>
          </a:p>
        </p:txBody>
      </p:sp>
      <p:sp>
        <p:nvSpPr>
          <p:cNvPr id="66" name="TextBox 65"/>
          <p:cNvSpPr txBox="1"/>
          <p:nvPr/>
        </p:nvSpPr>
        <p:spPr>
          <a:xfrm>
            <a:off x="6254496" y="3602736"/>
            <a:ext cx="5303520" cy="438912"/>
          </a:xfrm>
          <a:prstGeom prst="rect">
            <a:avLst/>
          </a:prstGeom>
          <a:noFill/>
        </p:spPr>
        <p:txBody>
          <a:bodyPr wrap="square">
            <a:spAutoFit/>
          </a:bodyPr>
          <a:lstStyle/>
          <a:p>
            <a:pPr algn="l"/>
            <a:r>
              <a:rPr sz="1000" b="0" i="0">
                <a:solidFill>
                  <a:srgbClr val="444D6A"/>
                </a:solidFill>
                <a:latin typeface="Calibri"/>
              </a:rPr>
              <a:t>Cart→Checkout drops 42%. Fixing to 30% by showing shipping cost upfront → +12% total revenue. Single SQL query identified this.</a:t>
            </a:r>
          </a:p>
        </p:txBody>
      </p:sp>
      <p:sp>
        <p:nvSpPr>
          <p:cNvPr id="67" name="Rectangle 66"/>
          <p:cNvSpPr/>
          <p:nvPr/>
        </p:nvSpPr>
        <p:spPr>
          <a:xfrm>
            <a:off x="6144768" y="4169664"/>
            <a:ext cx="5532120" cy="8046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144768" y="4169664"/>
            <a:ext cx="36576" cy="804672"/>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54496" y="4224528"/>
            <a:ext cx="5303520" cy="237744"/>
          </a:xfrm>
          <a:prstGeom prst="rect">
            <a:avLst/>
          </a:prstGeom>
          <a:noFill/>
        </p:spPr>
        <p:txBody>
          <a:bodyPr wrap="square">
            <a:spAutoFit/>
          </a:bodyPr>
          <a:lstStyle/>
          <a:p>
            <a:pPr algn="l"/>
            <a:r>
              <a:rPr sz="1100" b="1" i="0">
                <a:solidFill>
                  <a:srgbClr val="1A1D2E"/>
                </a:solidFill>
                <a:latin typeface="Calibri"/>
              </a:rPr>
              <a:t>Real-Time Promo Recovery</a:t>
            </a:r>
          </a:p>
        </p:txBody>
      </p:sp>
      <p:sp>
        <p:nvSpPr>
          <p:cNvPr id="70" name="TextBox 69"/>
          <p:cNvSpPr txBox="1"/>
          <p:nvPr/>
        </p:nvSpPr>
        <p:spPr>
          <a:xfrm>
            <a:off x="6254496" y="4480560"/>
            <a:ext cx="5303520" cy="438912"/>
          </a:xfrm>
          <a:prstGeom prst="rect">
            <a:avLst/>
          </a:prstGeom>
          <a:noFill/>
        </p:spPr>
        <p:txBody>
          <a:bodyPr wrap="square">
            <a:spAutoFit/>
          </a:bodyPr>
          <a:lstStyle/>
          <a:p>
            <a:pPr algn="l"/>
            <a:r>
              <a:rPr sz="1000" b="0" i="0">
                <a:solidFill>
                  <a:srgbClr val="444D6A"/>
                </a:solidFill>
                <a:latin typeface="Calibri"/>
              </a:rPr>
              <a:t>ML scores live sessions. MEDIUM-risk (40–69%) triggers a 10% discount push. Recovers IDR 12–15M in sessions that would have abandoned.</a:t>
            </a:r>
          </a:p>
        </p:txBody>
      </p:sp>
      <p:sp>
        <p:nvSpPr>
          <p:cNvPr id="71" name="Rectangle 70"/>
          <p:cNvSpPr/>
          <p:nvPr/>
        </p:nvSpPr>
        <p:spPr>
          <a:xfrm>
            <a:off x="6144768" y="5047488"/>
            <a:ext cx="5532120" cy="8046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44768" y="5047488"/>
            <a:ext cx="36576" cy="804672"/>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54496" y="5102352"/>
            <a:ext cx="5303520" cy="237744"/>
          </a:xfrm>
          <a:prstGeom prst="rect">
            <a:avLst/>
          </a:prstGeom>
          <a:noFill/>
        </p:spPr>
        <p:txBody>
          <a:bodyPr wrap="square">
            <a:spAutoFit/>
          </a:bodyPr>
          <a:lstStyle/>
          <a:p>
            <a:pPr algn="l"/>
            <a:r>
              <a:rPr sz="1100" b="1" i="0">
                <a:solidFill>
                  <a:srgbClr val="1A1D2E"/>
                </a:solidFill>
                <a:latin typeface="Calibri"/>
              </a:rPr>
              <a:t>Cross-Sell Activation</a:t>
            </a:r>
          </a:p>
        </p:txBody>
      </p:sp>
      <p:sp>
        <p:nvSpPr>
          <p:cNvPr id="74" name="TextBox 73"/>
          <p:cNvSpPr txBox="1"/>
          <p:nvPr/>
        </p:nvSpPr>
        <p:spPr>
          <a:xfrm>
            <a:off x="6254496" y="5358384"/>
            <a:ext cx="5303520" cy="438912"/>
          </a:xfrm>
          <a:prstGeom prst="rect">
            <a:avLst/>
          </a:prstGeom>
          <a:noFill/>
        </p:spPr>
        <p:txBody>
          <a:bodyPr wrap="square">
            <a:spAutoFit/>
          </a:bodyPr>
          <a:lstStyle/>
          <a:p>
            <a:pPr algn="l"/>
            <a:r>
              <a:rPr sz="1000" b="0" i="0">
                <a:solidFill>
                  <a:srgbClr val="444D6A"/>
                </a:solidFill>
                <a:latin typeface="Calibri"/>
              </a:rPr>
              <a:t>Market basket SQL: Apparel+Footwear = 68% confidence, 2.3x lift. 'Complete the Look' banner → IDR 2.1M/day incremental.</a:t>
            </a:r>
          </a:p>
        </p:txBody>
      </p:sp>
      <p:sp>
        <p:nvSpPr>
          <p:cNvPr id="75" name="Rectangle 74"/>
          <p:cNvSpPr/>
          <p:nvPr/>
        </p:nvSpPr>
        <p:spPr>
          <a:xfrm>
            <a:off x="6144768" y="5925312"/>
            <a:ext cx="5532120" cy="8046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144768" y="5925312"/>
            <a:ext cx="36576" cy="804672"/>
          </a:xfrm>
          <a:prstGeom prst="rect">
            <a:avLst/>
          </a:prstGeom>
          <a:solidFill>
            <a:srgbClr val="6C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254496" y="5980176"/>
            <a:ext cx="5303520" cy="237744"/>
          </a:xfrm>
          <a:prstGeom prst="rect">
            <a:avLst/>
          </a:prstGeom>
          <a:noFill/>
        </p:spPr>
        <p:txBody>
          <a:bodyPr wrap="square">
            <a:spAutoFit/>
          </a:bodyPr>
          <a:lstStyle/>
          <a:p>
            <a:pPr algn="l"/>
            <a:r>
              <a:rPr sz="1100" b="1" i="0">
                <a:solidFill>
                  <a:srgbClr val="1A1D2E"/>
                </a:solidFill>
                <a:latin typeface="Calibri"/>
              </a:rPr>
              <a:t>VIP Customer Protection</a:t>
            </a:r>
          </a:p>
        </p:txBody>
      </p:sp>
      <p:sp>
        <p:nvSpPr>
          <p:cNvPr id="78" name="TextBox 77"/>
          <p:cNvSpPr txBox="1"/>
          <p:nvPr/>
        </p:nvSpPr>
        <p:spPr>
          <a:xfrm>
            <a:off x="6254496" y="6236208"/>
            <a:ext cx="5303520" cy="438912"/>
          </a:xfrm>
          <a:prstGeom prst="rect">
            <a:avLst/>
          </a:prstGeom>
          <a:noFill/>
        </p:spPr>
        <p:txBody>
          <a:bodyPr wrap="square">
            <a:spAutoFit/>
          </a:bodyPr>
          <a:lstStyle/>
          <a:p>
            <a:pPr algn="l"/>
            <a:r>
              <a:rPr sz="1000" b="0" i="0">
                <a:solidFill>
                  <a:srgbClr val="444D6A"/>
                </a:solidFill>
                <a:latin typeface="Calibri"/>
              </a:rPr>
              <a:t>KMeans found 1,827 Power Buyers averaging IDR 71.2M spend each. Streaming flags their sessions in real time for priority service.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70432"/>
            <a:ext cx="12188952" cy="38404"/>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1173968" cy="548640"/>
          </a:xfrm>
          <a:prstGeom prst="rect">
            <a:avLst/>
          </a:prstGeom>
          <a:noFill/>
        </p:spPr>
        <p:txBody>
          <a:bodyPr wrap="square">
            <a:spAutoFit/>
          </a:bodyPr>
          <a:lstStyle/>
          <a:p>
            <a:pPr algn="l"/>
            <a:r>
              <a:rPr sz="2400" b="1" i="0">
                <a:solidFill>
                  <a:srgbClr val="FFFFFF"/>
                </a:solidFill>
                <a:latin typeface="Calibri"/>
              </a:rPr>
              <a:t>Key Learnings — Concepts Explained Simply</a:t>
            </a:r>
          </a:p>
        </p:txBody>
      </p:sp>
      <p:sp>
        <p:nvSpPr>
          <p:cNvPr id="6" name="TextBox 5"/>
          <p:cNvSpPr txBox="1"/>
          <p:nvPr/>
        </p:nvSpPr>
        <p:spPr>
          <a:xfrm>
            <a:off x="502920" y="658368"/>
            <a:ext cx="11173968" cy="347472"/>
          </a:xfrm>
          <a:prstGeom prst="rect">
            <a:avLst/>
          </a:prstGeom>
          <a:noFill/>
        </p:spPr>
        <p:txBody>
          <a:bodyPr wrap="square">
            <a:spAutoFit/>
          </a:bodyPr>
          <a:lstStyle/>
          <a:p>
            <a:pPr algn="l"/>
            <a:r>
              <a:rPr sz="1200" b="0" i="0">
                <a:solidFill>
                  <a:srgbClr val="B0BCE8"/>
                </a:solidFill>
                <a:latin typeface="Calibri"/>
              </a:rPr>
              <a:t>What each technology taught us and why the combination is powerful</a:t>
            </a:r>
          </a:p>
        </p:txBody>
      </p:sp>
      <p:sp>
        <p:nvSpPr>
          <p:cNvPr id="7" name="Rectangle 6"/>
          <p:cNvSpPr/>
          <p:nvPr/>
        </p:nvSpPr>
        <p:spPr>
          <a:xfrm>
            <a:off x="502920" y="1316736"/>
            <a:ext cx="54864" cy="256032"/>
          </a:xfrm>
          <a:prstGeom prst="rect">
            <a:avLst/>
          </a:prstGeom>
          <a:solidFill>
            <a:srgbClr val="087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07592"/>
            <a:ext cx="7315200" cy="292608"/>
          </a:xfrm>
          <a:prstGeom prst="rect">
            <a:avLst/>
          </a:prstGeom>
          <a:noFill/>
        </p:spPr>
        <p:txBody>
          <a:bodyPr wrap="square">
            <a:spAutoFit/>
          </a:bodyPr>
          <a:lstStyle/>
          <a:p>
            <a:pPr algn="l"/>
            <a:r>
              <a:rPr sz="900" b="1" i="0">
                <a:solidFill>
                  <a:srgbClr val="087079"/>
                </a:solidFill>
                <a:latin typeface="Calibri"/>
              </a:rPr>
              <a:t>10  ·  CONCEPT SUMMARY &amp; TAKEAWAYS</a:t>
            </a:r>
          </a:p>
        </p:txBody>
      </p:sp>
      <p:sp>
        <p:nvSpPr>
          <p:cNvPr id="9" name="Rectangle 8"/>
          <p:cNvSpPr/>
          <p:nvPr/>
        </p:nvSpPr>
        <p:spPr>
          <a:xfrm>
            <a:off x="411480" y="1719072"/>
            <a:ext cx="3749039" cy="5047488"/>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19072"/>
            <a:ext cx="3749039" cy="43891"/>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1828800"/>
            <a:ext cx="3547871" cy="475488"/>
          </a:xfrm>
          <a:prstGeom prst="rect">
            <a:avLst/>
          </a:prstGeom>
          <a:noFill/>
        </p:spPr>
        <p:txBody>
          <a:bodyPr wrap="square">
            <a:spAutoFit/>
          </a:bodyPr>
          <a:lstStyle/>
          <a:p>
            <a:pPr algn="l"/>
            <a:r>
              <a:rPr sz="1150" b="1" i="0">
                <a:solidFill>
                  <a:srgbClr val="1A1D2E"/>
                </a:solidFill>
                <a:latin typeface="Calibri"/>
              </a:rPr>
              <a:t>Apache Spark
Core Engine</a:t>
            </a:r>
          </a:p>
        </p:txBody>
      </p:sp>
      <p:sp>
        <p:nvSpPr>
          <p:cNvPr id="12" name="Rectangle 11"/>
          <p:cNvSpPr/>
          <p:nvPr/>
        </p:nvSpPr>
        <p:spPr>
          <a:xfrm>
            <a:off x="521208" y="2359152"/>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2359152"/>
            <a:ext cx="36576" cy="1042415"/>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2423160"/>
            <a:ext cx="3419855" cy="237744"/>
          </a:xfrm>
          <a:prstGeom prst="rect">
            <a:avLst/>
          </a:prstGeom>
          <a:noFill/>
        </p:spPr>
        <p:txBody>
          <a:bodyPr wrap="square">
            <a:spAutoFit/>
          </a:bodyPr>
          <a:lstStyle/>
          <a:p>
            <a:pPr algn="l"/>
            <a:r>
              <a:rPr sz="1100" b="1" i="0">
                <a:solidFill>
                  <a:srgbClr val="1A1D2E"/>
                </a:solidFill>
                <a:latin typeface="Calibri"/>
              </a:rPr>
              <a:t>Lazy Evaluation</a:t>
            </a:r>
          </a:p>
        </p:txBody>
      </p:sp>
      <p:sp>
        <p:nvSpPr>
          <p:cNvPr id="15" name="TextBox 14"/>
          <p:cNvSpPr txBox="1"/>
          <p:nvPr/>
        </p:nvSpPr>
        <p:spPr>
          <a:xfrm>
            <a:off x="630936" y="2688336"/>
            <a:ext cx="3419855" cy="658368"/>
          </a:xfrm>
          <a:prstGeom prst="rect">
            <a:avLst/>
          </a:prstGeom>
          <a:noFill/>
        </p:spPr>
        <p:txBody>
          <a:bodyPr wrap="square">
            <a:spAutoFit/>
          </a:bodyPr>
          <a:lstStyle/>
          <a:p>
            <a:pPr algn="l"/>
            <a:r>
              <a:rPr sz="1000" b="0" i="0">
                <a:solidFill>
                  <a:srgbClr val="444D6A"/>
                </a:solidFill>
                <a:latin typeface="Calibri"/>
              </a:rPr>
              <a:t>Spark PLANS before executing. Catalyst rewrites your code into an optimal physical execution plan — you get free performance.</a:t>
            </a:r>
          </a:p>
        </p:txBody>
      </p:sp>
      <p:sp>
        <p:nvSpPr>
          <p:cNvPr id="16" name="Rectangle 15"/>
          <p:cNvSpPr/>
          <p:nvPr/>
        </p:nvSpPr>
        <p:spPr>
          <a:xfrm>
            <a:off x="521208" y="3474720"/>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3474720"/>
            <a:ext cx="36576" cy="1042415"/>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538728"/>
            <a:ext cx="3419855" cy="237744"/>
          </a:xfrm>
          <a:prstGeom prst="rect">
            <a:avLst/>
          </a:prstGeom>
          <a:noFill/>
        </p:spPr>
        <p:txBody>
          <a:bodyPr wrap="square">
            <a:spAutoFit/>
          </a:bodyPr>
          <a:lstStyle/>
          <a:p>
            <a:pPr algn="l"/>
            <a:r>
              <a:rPr sz="1100" b="1" i="0">
                <a:solidFill>
                  <a:srgbClr val="1A1D2E"/>
                </a:solidFill>
                <a:latin typeface="Calibri"/>
              </a:rPr>
              <a:t>Distributed Processing</a:t>
            </a:r>
          </a:p>
        </p:txBody>
      </p:sp>
      <p:sp>
        <p:nvSpPr>
          <p:cNvPr id="19" name="TextBox 18"/>
          <p:cNvSpPr txBox="1"/>
          <p:nvPr/>
        </p:nvSpPr>
        <p:spPr>
          <a:xfrm>
            <a:off x="630936" y="3803904"/>
            <a:ext cx="3419855" cy="658368"/>
          </a:xfrm>
          <a:prstGeom prst="rect">
            <a:avLst/>
          </a:prstGeom>
          <a:noFill/>
        </p:spPr>
        <p:txBody>
          <a:bodyPr wrap="square">
            <a:spAutoFit/>
          </a:bodyPr>
          <a:lstStyle/>
          <a:p>
            <a:pPr algn="l"/>
            <a:r>
              <a:rPr sz="1000" b="0" i="0">
                <a:solidFill>
                  <a:srgbClr val="444D6A"/>
                </a:solidFill>
                <a:latin typeface="Calibri"/>
              </a:rPr>
              <a:t>12.8M rows split across cores/nodes. Each worker processes its partition in parallel. Speeds up linearly with more resources.</a:t>
            </a:r>
          </a:p>
        </p:txBody>
      </p:sp>
      <p:sp>
        <p:nvSpPr>
          <p:cNvPr id="20" name="Rectangle 19"/>
          <p:cNvSpPr/>
          <p:nvPr/>
        </p:nvSpPr>
        <p:spPr>
          <a:xfrm>
            <a:off x="521208" y="4590288"/>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1208" y="4590288"/>
            <a:ext cx="36576" cy="1042415"/>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654296"/>
            <a:ext cx="3419855" cy="237744"/>
          </a:xfrm>
          <a:prstGeom prst="rect">
            <a:avLst/>
          </a:prstGeom>
          <a:noFill/>
        </p:spPr>
        <p:txBody>
          <a:bodyPr wrap="square">
            <a:spAutoFit/>
          </a:bodyPr>
          <a:lstStyle/>
          <a:p>
            <a:pPr algn="l"/>
            <a:r>
              <a:rPr sz="1100" b="1" i="0">
                <a:solidFill>
                  <a:srgbClr val="1A1D2E"/>
                </a:solidFill>
                <a:latin typeface="Calibri"/>
              </a:rPr>
              <a:t>Unified Platform</a:t>
            </a:r>
          </a:p>
        </p:txBody>
      </p:sp>
      <p:sp>
        <p:nvSpPr>
          <p:cNvPr id="23" name="TextBox 22"/>
          <p:cNvSpPr txBox="1"/>
          <p:nvPr/>
        </p:nvSpPr>
        <p:spPr>
          <a:xfrm>
            <a:off x="630936" y="4919472"/>
            <a:ext cx="3419855" cy="658368"/>
          </a:xfrm>
          <a:prstGeom prst="rect">
            <a:avLst/>
          </a:prstGeom>
          <a:noFill/>
        </p:spPr>
        <p:txBody>
          <a:bodyPr wrap="square">
            <a:spAutoFit/>
          </a:bodyPr>
          <a:lstStyle/>
          <a:p>
            <a:pPr algn="l"/>
            <a:r>
              <a:rPr sz="1000" b="0" i="0">
                <a:solidFill>
                  <a:srgbClr val="444D6A"/>
                </a:solidFill>
                <a:latin typeface="Calibri"/>
              </a:rPr>
              <a:t>SQL + ML + Streaming = one API, one cluster, one deploy. No switching between Hadoop, scikit-learn, and Kafka separately.</a:t>
            </a:r>
          </a:p>
        </p:txBody>
      </p:sp>
      <p:sp>
        <p:nvSpPr>
          <p:cNvPr id="24" name="Rectangle 23"/>
          <p:cNvSpPr/>
          <p:nvPr/>
        </p:nvSpPr>
        <p:spPr>
          <a:xfrm>
            <a:off x="521208" y="5705856"/>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1208" y="5705856"/>
            <a:ext cx="36576" cy="1042415"/>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 y="5769864"/>
            <a:ext cx="3419855" cy="237744"/>
          </a:xfrm>
          <a:prstGeom prst="rect">
            <a:avLst/>
          </a:prstGeom>
          <a:noFill/>
        </p:spPr>
        <p:txBody>
          <a:bodyPr wrap="square">
            <a:spAutoFit/>
          </a:bodyPr>
          <a:lstStyle/>
          <a:p>
            <a:pPr algn="l"/>
            <a:r>
              <a:rPr sz="1100" b="1" i="0">
                <a:solidFill>
                  <a:srgbClr val="1A1D2E"/>
                </a:solidFill>
                <a:latin typeface="Calibri"/>
              </a:rPr>
              <a:t>Horizontal Scale</a:t>
            </a:r>
          </a:p>
        </p:txBody>
      </p:sp>
      <p:sp>
        <p:nvSpPr>
          <p:cNvPr id="27" name="TextBox 26"/>
          <p:cNvSpPr txBox="1"/>
          <p:nvPr/>
        </p:nvSpPr>
        <p:spPr>
          <a:xfrm>
            <a:off x="630936" y="6035040"/>
            <a:ext cx="3419855" cy="658368"/>
          </a:xfrm>
          <a:prstGeom prst="rect">
            <a:avLst/>
          </a:prstGeom>
          <a:noFill/>
        </p:spPr>
        <p:txBody>
          <a:bodyPr wrap="square">
            <a:spAutoFit/>
          </a:bodyPr>
          <a:lstStyle/>
          <a:p>
            <a:pPr algn="l"/>
            <a:r>
              <a:rPr sz="1000" b="0" i="0">
                <a:solidFill>
                  <a:srgbClr val="444D6A"/>
                </a:solidFill>
                <a:latin typeface="Calibri"/>
              </a:rPr>
              <a:t>The same code that runs on a laptop runs on AWS EMR with 1,000 nodes. Architecture scales without any code change.</a:t>
            </a:r>
          </a:p>
        </p:txBody>
      </p:sp>
      <p:sp>
        <p:nvSpPr>
          <p:cNvPr id="28" name="Rectangle 27"/>
          <p:cNvSpPr/>
          <p:nvPr/>
        </p:nvSpPr>
        <p:spPr>
          <a:xfrm>
            <a:off x="4261103" y="1719072"/>
            <a:ext cx="3749039" cy="5047488"/>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61103" y="1719072"/>
            <a:ext cx="3749039" cy="43891"/>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19" y="1828800"/>
            <a:ext cx="3547871" cy="475488"/>
          </a:xfrm>
          <a:prstGeom prst="rect">
            <a:avLst/>
          </a:prstGeom>
          <a:noFill/>
        </p:spPr>
        <p:txBody>
          <a:bodyPr wrap="square">
            <a:spAutoFit/>
          </a:bodyPr>
          <a:lstStyle/>
          <a:p>
            <a:pPr algn="l"/>
            <a:r>
              <a:rPr sz="1150" b="1" i="0">
                <a:solidFill>
                  <a:srgbClr val="1A1D2E"/>
                </a:solidFill>
                <a:latin typeface="Calibri"/>
              </a:rPr>
              <a:t>SQL &amp; Machine Learning
Algorithms &amp; Rationale</a:t>
            </a:r>
          </a:p>
        </p:txBody>
      </p:sp>
      <p:sp>
        <p:nvSpPr>
          <p:cNvPr id="31" name="Rectangle 30"/>
          <p:cNvSpPr/>
          <p:nvPr/>
        </p:nvSpPr>
        <p:spPr>
          <a:xfrm>
            <a:off x="4370831" y="2359152"/>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70831" y="2359152"/>
            <a:ext cx="36576" cy="1042415"/>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59" y="2423160"/>
            <a:ext cx="3419855" cy="237744"/>
          </a:xfrm>
          <a:prstGeom prst="rect">
            <a:avLst/>
          </a:prstGeom>
          <a:noFill/>
        </p:spPr>
        <p:txBody>
          <a:bodyPr wrap="square">
            <a:spAutoFit/>
          </a:bodyPr>
          <a:lstStyle/>
          <a:p>
            <a:pPr algn="l"/>
            <a:r>
              <a:rPr sz="1100" b="1" i="0">
                <a:solidFill>
                  <a:srgbClr val="1A1D2E"/>
                </a:solidFill>
                <a:latin typeface="Calibri"/>
              </a:rPr>
              <a:t>Window Functions</a:t>
            </a:r>
          </a:p>
        </p:txBody>
      </p:sp>
      <p:sp>
        <p:nvSpPr>
          <p:cNvPr id="34" name="TextBox 33"/>
          <p:cNvSpPr txBox="1"/>
          <p:nvPr/>
        </p:nvSpPr>
        <p:spPr>
          <a:xfrm>
            <a:off x="4480559" y="2688336"/>
            <a:ext cx="3419855" cy="658368"/>
          </a:xfrm>
          <a:prstGeom prst="rect">
            <a:avLst/>
          </a:prstGeom>
          <a:noFill/>
        </p:spPr>
        <p:txBody>
          <a:bodyPr wrap="square">
            <a:spAutoFit/>
          </a:bodyPr>
          <a:lstStyle/>
          <a:p>
            <a:pPr algn="l"/>
            <a:r>
              <a:rPr sz="1000" b="0" i="0">
                <a:solidFill>
                  <a:srgbClr val="444D6A"/>
                </a:solidFill>
                <a:latin typeface="Calibri"/>
              </a:rPr>
              <a:t>LAG, NTILE, ROW_NUMBER — analyse rows relative to their NEIGHBOURS. Essential for time-series, RFM scoring, and funnel analysis.</a:t>
            </a:r>
          </a:p>
        </p:txBody>
      </p:sp>
      <p:sp>
        <p:nvSpPr>
          <p:cNvPr id="35" name="Rectangle 34"/>
          <p:cNvSpPr/>
          <p:nvPr/>
        </p:nvSpPr>
        <p:spPr>
          <a:xfrm>
            <a:off x="4370831" y="3474720"/>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70831" y="3474720"/>
            <a:ext cx="36576" cy="1042415"/>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59" y="3538728"/>
            <a:ext cx="3419855" cy="237744"/>
          </a:xfrm>
          <a:prstGeom prst="rect">
            <a:avLst/>
          </a:prstGeom>
          <a:noFill/>
        </p:spPr>
        <p:txBody>
          <a:bodyPr wrap="square">
            <a:spAutoFit/>
          </a:bodyPr>
          <a:lstStyle/>
          <a:p>
            <a:pPr algn="l"/>
            <a:r>
              <a:rPr sz="1100" b="1" i="0">
                <a:solidFill>
                  <a:srgbClr val="1A1D2E"/>
                </a:solidFill>
                <a:latin typeface="Calibri"/>
              </a:rPr>
              <a:t>Random Forest</a:t>
            </a:r>
          </a:p>
        </p:txBody>
      </p:sp>
      <p:sp>
        <p:nvSpPr>
          <p:cNvPr id="38" name="TextBox 37"/>
          <p:cNvSpPr txBox="1"/>
          <p:nvPr/>
        </p:nvSpPr>
        <p:spPr>
          <a:xfrm>
            <a:off x="4480559" y="3803904"/>
            <a:ext cx="3419855" cy="658368"/>
          </a:xfrm>
          <a:prstGeom prst="rect">
            <a:avLst/>
          </a:prstGeom>
          <a:noFill/>
        </p:spPr>
        <p:txBody>
          <a:bodyPr wrap="square">
            <a:spAutoFit/>
          </a:bodyPr>
          <a:lstStyle/>
          <a:p>
            <a:pPr algn="l"/>
            <a:r>
              <a:rPr sz="1000" b="0" i="0">
                <a:solidFill>
                  <a:srgbClr val="444D6A"/>
                </a:solidFill>
                <a:latin typeface="Calibri"/>
              </a:rPr>
              <a:t>Many weak trees → one strong model. Handles non-linearity, mixed feature types, and prevents overfitting automatically via bagging.</a:t>
            </a:r>
          </a:p>
        </p:txBody>
      </p:sp>
      <p:sp>
        <p:nvSpPr>
          <p:cNvPr id="39" name="Rectangle 38"/>
          <p:cNvSpPr/>
          <p:nvPr/>
        </p:nvSpPr>
        <p:spPr>
          <a:xfrm>
            <a:off x="4370831" y="4590288"/>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70831" y="4590288"/>
            <a:ext cx="36576" cy="1042415"/>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0559" y="4654296"/>
            <a:ext cx="3419855" cy="237744"/>
          </a:xfrm>
          <a:prstGeom prst="rect">
            <a:avLst/>
          </a:prstGeom>
          <a:noFill/>
        </p:spPr>
        <p:txBody>
          <a:bodyPr wrap="square">
            <a:spAutoFit/>
          </a:bodyPr>
          <a:lstStyle/>
          <a:p>
            <a:pPr algn="l"/>
            <a:r>
              <a:rPr sz="1100" b="1" i="0">
                <a:solidFill>
                  <a:srgbClr val="1A1D2E"/>
                </a:solidFill>
                <a:latin typeface="Calibri"/>
              </a:rPr>
              <a:t>KMeans Clustering</a:t>
            </a:r>
          </a:p>
        </p:txBody>
      </p:sp>
      <p:sp>
        <p:nvSpPr>
          <p:cNvPr id="42" name="TextBox 41"/>
          <p:cNvSpPr txBox="1"/>
          <p:nvPr/>
        </p:nvSpPr>
        <p:spPr>
          <a:xfrm>
            <a:off x="4480559" y="4919472"/>
            <a:ext cx="3419855" cy="658368"/>
          </a:xfrm>
          <a:prstGeom prst="rect">
            <a:avLst/>
          </a:prstGeom>
          <a:noFill/>
        </p:spPr>
        <p:txBody>
          <a:bodyPr wrap="square">
            <a:spAutoFit/>
          </a:bodyPr>
          <a:lstStyle/>
          <a:p>
            <a:pPr algn="l"/>
            <a:r>
              <a:rPr sz="1000" b="0" i="0">
                <a:solidFill>
                  <a:srgbClr val="444D6A"/>
                </a:solidFill>
                <a:latin typeface="Calibri"/>
              </a:rPr>
              <a:t>Groups data into k clusters by minimising intra-cluster distance. Unsupervised — finds structure without any labelled training data.</a:t>
            </a:r>
          </a:p>
        </p:txBody>
      </p:sp>
      <p:sp>
        <p:nvSpPr>
          <p:cNvPr id="43" name="Rectangle 42"/>
          <p:cNvSpPr/>
          <p:nvPr/>
        </p:nvSpPr>
        <p:spPr>
          <a:xfrm>
            <a:off x="4370831" y="5705856"/>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370831" y="5705856"/>
            <a:ext cx="36576" cy="1042415"/>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80559" y="5769864"/>
            <a:ext cx="3419855" cy="237744"/>
          </a:xfrm>
          <a:prstGeom prst="rect">
            <a:avLst/>
          </a:prstGeom>
          <a:noFill/>
        </p:spPr>
        <p:txBody>
          <a:bodyPr wrap="square">
            <a:spAutoFit/>
          </a:bodyPr>
          <a:lstStyle/>
          <a:p>
            <a:pPr algn="l"/>
            <a:r>
              <a:rPr sz="1100" b="1" i="0">
                <a:solidFill>
                  <a:srgbClr val="1A1D2E"/>
                </a:solidFill>
                <a:latin typeface="Calibri"/>
              </a:rPr>
              <a:t>ALS Recommender</a:t>
            </a:r>
          </a:p>
        </p:txBody>
      </p:sp>
      <p:sp>
        <p:nvSpPr>
          <p:cNvPr id="46" name="TextBox 45"/>
          <p:cNvSpPr txBox="1"/>
          <p:nvPr/>
        </p:nvSpPr>
        <p:spPr>
          <a:xfrm>
            <a:off x="4480559" y="6035040"/>
            <a:ext cx="3419855" cy="658368"/>
          </a:xfrm>
          <a:prstGeom prst="rect">
            <a:avLst/>
          </a:prstGeom>
          <a:noFill/>
        </p:spPr>
        <p:txBody>
          <a:bodyPr wrap="square">
            <a:spAutoFit/>
          </a:bodyPr>
          <a:lstStyle/>
          <a:p>
            <a:pPr algn="l"/>
            <a:r>
              <a:rPr sz="1000" b="0" i="0">
                <a:solidFill>
                  <a:srgbClr val="444D6A"/>
                </a:solidFill>
                <a:latin typeface="Calibri"/>
              </a:rPr>
              <a:t>Factorises user-item interaction matrix into latent factors. Learns preferences from IMPLICIT signals, not explicit star ratings.</a:t>
            </a:r>
          </a:p>
        </p:txBody>
      </p:sp>
      <p:sp>
        <p:nvSpPr>
          <p:cNvPr id="47" name="Rectangle 46"/>
          <p:cNvSpPr/>
          <p:nvPr/>
        </p:nvSpPr>
        <p:spPr>
          <a:xfrm>
            <a:off x="8110726" y="1719072"/>
            <a:ext cx="3749039" cy="5047488"/>
          </a:xfrm>
          <a:prstGeom prst="rect">
            <a:avLst/>
          </a:prstGeom>
          <a:solidFill>
            <a:srgbClr val="FFFFFF"/>
          </a:solidFill>
          <a:ln w="6350">
            <a:solidFill>
              <a:srgbClr val="D0D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110726" y="1719072"/>
            <a:ext cx="3749039" cy="43891"/>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38742" y="1828800"/>
            <a:ext cx="3547871" cy="475488"/>
          </a:xfrm>
          <a:prstGeom prst="rect">
            <a:avLst/>
          </a:prstGeom>
          <a:noFill/>
        </p:spPr>
        <p:txBody>
          <a:bodyPr wrap="square">
            <a:spAutoFit/>
          </a:bodyPr>
          <a:lstStyle/>
          <a:p>
            <a:pPr algn="l"/>
            <a:r>
              <a:rPr sz="1150" b="1" i="0">
                <a:solidFill>
                  <a:srgbClr val="1A1D2E"/>
                </a:solidFill>
                <a:latin typeface="Calibri"/>
              </a:rPr>
              <a:t>Streaming &amp; Future Scale
Architecture Decisions</a:t>
            </a:r>
          </a:p>
        </p:txBody>
      </p:sp>
      <p:sp>
        <p:nvSpPr>
          <p:cNvPr id="50" name="Rectangle 49"/>
          <p:cNvSpPr/>
          <p:nvPr/>
        </p:nvSpPr>
        <p:spPr>
          <a:xfrm>
            <a:off x="8220454" y="2359152"/>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220454" y="2359152"/>
            <a:ext cx="36576" cy="1042415"/>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30182" y="2423160"/>
            <a:ext cx="3419855" cy="237744"/>
          </a:xfrm>
          <a:prstGeom prst="rect">
            <a:avLst/>
          </a:prstGeom>
          <a:noFill/>
        </p:spPr>
        <p:txBody>
          <a:bodyPr wrap="square">
            <a:spAutoFit/>
          </a:bodyPr>
          <a:lstStyle/>
          <a:p>
            <a:pPr algn="l"/>
            <a:r>
              <a:rPr sz="1100" b="1" i="0">
                <a:solidFill>
                  <a:srgbClr val="1A1D2E"/>
                </a:solidFill>
                <a:latin typeface="Calibri"/>
              </a:rPr>
              <a:t>Batch vs Streaming</a:t>
            </a:r>
          </a:p>
        </p:txBody>
      </p:sp>
      <p:sp>
        <p:nvSpPr>
          <p:cNvPr id="53" name="TextBox 52"/>
          <p:cNvSpPr txBox="1"/>
          <p:nvPr/>
        </p:nvSpPr>
        <p:spPr>
          <a:xfrm>
            <a:off x="8330182" y="2688336"/>
            <a:ext cx="3419855" cy="658368"/>
          </a:xfrm>
          <a:prstGeom prst="rect">
            <a:avLst/>
          </a:prstGeom>
          <a:noFill/>
        </p:spPr>
        <p:txBody>
          <a:bodyPr wrap="square">
            <a:spAutoFit/>
          </a:bodyPr>
          <a:lstStyle/>
          <a:p>
            <a:pPr algn="l"/>
            <a:r>
              <a:rPr sz="1000" b="0" i="0">
                <a:solidFill>
                  <a:srgbClr val="444D6A"/>
                </a:solidFill>
                <a:latin typeface="Calibri"/>
              </a:rPr>
              <a:t>Batch = react after the fact. Streaming = act while the customer is still there. For e-commerce, the difference is the sale.</a:t>
            </a:r>
          </a:p>
        </p:txBody>
      </p:sp>
      <p:sp>
        <p:nvSpPr>
          <p:cNvPr id="54" name="Rectangle 53"/>
          <p:cNvSpPr/>
          <p:nvPr/>
        </p:nvSpPr>
        <p:spPr>
          <a:xfrm>
            <a:off x="8220454" y="3474720"/>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20454" y="3474720"/>
            <a:ext cx="36576" cy="1042415"/>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30182" y="3538728"/>
            <a:ext cx="3419855" cy="237744"/>
          </a:xfrm>
          <a:prstGeom prst="rect">
            <a:avLst/>
          </a:prstGeom>
          <a:noFill/>
        </p:spPr>
        <p:txBody>
          <a:bodyPr wrap="square">
            <a:spAutoFit/>
          </a:bodyPr>
          <a:lstStyle/>
          <a:p>
            <a:pPr algn="l"/>
            <a:r>
              <a:rPr sz="1100" b="1" i="0">
                <a:solidFill>
                  <a:srgbClr val="1A1D2E"/>
                </a:solidFill>
                <a:latin typeface="Calibri"/>
              </a:rPr>
              <a:t>foreachBatch Bridge</a:t>
            </a:r>
          </a:p>
        </p:txBody>
      </p:sp>
      <p:sp>
        <p:nvSpPr>
          <p:cNvPr id="57" name="TextBox 56"/>
          <p:cNvSpPr txBox="1"/>
          <p:nvPr/>
        </p:nvSpPr>
        <p:spPr>
          <a:xfrm>
            <a:off x="8330182" y="3803904"/>
            <a:ext cx="3419855" cy="658368"/>
          </a:xfrm>
          <a:prstGeom prst="rect">
            <a:avLst/>
          </a:prstGeom>
          <a:noFill/>
        </p:spPr>
        <p:txBody>
          <a:bodyPr wrap="square">
            <a:spAutoFit/>
          </a:bodyPr>
          <a:lstStyle/>
          <a:p>
            <a:pPr algn="l"/>
            <a:r>
              <a:rPr sz="1000" b="0" i="0">
                <a:solidFill>
                  <a:srgbClr val="444D6A"/>
                </a:solidFill>
                <a:latin typeface="Calibri"/>
              </a:rPr>
              <a:t>Connects pre-trained batch ML models to live streams. The cleanest solution to applying offline ML to online data.</a:t>
            </a:r>
          </a:p>
        </p:txBody>
      </p:sp>
      <p:sp>
        <p:nvSpPr>
          <p:cNvPr id="58" name="Rectangle 57"/>
          <p:cNvSpPr/>
          <p:nvPr/>
        </p:nvSpPr>
        <p:spPr>
          <a:xfrm>
            <a:off x="8220454" y="4590288"/>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20454" y="4590288"/>
            <a:ext cx="36576" cy="1042415"/>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30182" y="4654296"/>
            <a:ext cx="3419855" cy="237744"/>
          </a:xfrm>
          <a:prstGeom prst="rect">
            <a:avLst/>
          </a:prstGeom>
          <a:noFill/>
        </p:spPr>
        <p:txBody>
          <a:bodyPr wrap="square">
            <a:spAutoFit/>
          </a:bodyPr>
          <a:lstStyle/>
          <a:p>
            <a:pPr algn="l"/>
            <a:r>
              <a:rPr sz="1100" b="1" i="0">
                <a:solidFill>
                  <a:srgbClr val="1A1D2E"/>
                </a:solidFill>
                <a:latin typeface="Calibri"/>
              </a:rPr>
              <a:t>Lambda Alternative</a:t>
            </a:r>
          </a:p>
        </p:txBody>
      </p:sp>
      <p:sp>
        <p:nvSpPr>
          <p:cNvPr id="61" name="TextBox 60"/>
          <p:cNvSpPr txBox="1"/>
          <p:nvPr/>
        </p:nvSpPr>
        <p:spPr>
          <a:xfrm>
            <a:off x="8330182" y="4919472"/>
            <a:ext cx="3419855" cy="658368"/>
          </a:xfrm>
          <a:prstGeom prst="rect">
            <a:avLst/>
          </a:prstGeom>
          <a:noFill/>
        </p:spPr>
        <p:txBody>
          <a:bodyPr wrap="square">
            <a:spAutoFit/>
          </a:bodyPr>
          <a:lstStyle/>
          <a:p>
            <a:pPr algn="l"/>
            <a:r>
              <a:rPr sz="1000" b="0" i="0">
                <a:solidFill>
                  <a:srgbClr val="444D6A"/>
                </a:solidFill>
                <a:latin typeface="Calibri"/>
              </a:rPr>
              <a:t>We avoided the Lambda Architecture anti-pattern by using Spark for BOTH batch training and streaming inference in one codebase.</a:t>
            </a:r>
          </a:p>
        </p:txBody>
      </p:sp>
      <p:sp>
        <p:nvSpPr>
          <p:cNvPr id="62" name="Rectangle 61"/>
          <p:cNvSpPr/>
          <p:nvPr/>
        </p:nvSpPr>
        <p:spPr>
          <a:xfrm>
            <a:off x="8220454" y="5705856"/>
            <a:ext cx="3529583" cy="1042415"/>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220454" y="5705856"/>
            <a:ext cx="36576" cy="1042415"/>
          </a:xfrm>
          <a:prstGeom prst="rect">
            <a:avLst/>
          </a:prstGeom>
          <a:solidFill>
            <a:srgbClr val="0F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30182" y="5769864"/>
            <a:ext cx="3419855" cy="237744"/>
          </a:xfrm>
          <a:prstGeom prst="rect">
            <a:avLst/>
          </a:prstGeom>
          <a:noFill/>
        </p:spPr>
        <p:txBody>
          <a:bodyPr wrap="square">
            <a:spAutoFit/>
          </a:bodyPr>
          <a:lstStyle/>
          <a:p>
            <a:pPr algn="l"/>
            <a:r>
              <a:rPr sz="1100" b="1" i="0">
                <a:solidFill>
                  <a:srgbClr val="1A1D2E"/>
                </a:solidFill>
                <a:latin typeface="Calibri"/>
              </a:rPr>
              <a:t>Next Steps</a:t>
            </a:r>
          </a:p>
        </p:txBody>
      </p:sp>
      <p:sp>
        <p:nvSpPr>
          <p:cNvPr id="65" name="TextBox 64"/>
          <p:cNvSpPr txBox="1"/>
          <p:nvPr/>
        </p:nvSpPr>
        <p:spPr>
          <a:xfrm>
            <a:off x="8330182" y="6035040"/>
            <a:ext cx="3419855" cy="658368"/>
          </a:xfrm>
          <a:prstGeom prst="rect">
            <a:avLst/>
          </a:prstGeom>
          <a:noFill/>
        </p:spPr>
        <p:txBody>
          <a:bodyPr wrap="square">
            <a:spAutoFit/>
          </a:bodyPr>
          <a:lstStyle/>
          <a:p>
            <a:pPr algn="l"/>
            <a:r>
              <a:rPr sz="1000" b="0" i="0">
                <a:solidFill>
                  <a:srgbClr val="444D6A"/>
                </a:solidFill>
                <a:latin typeface="Calibri"/>
              </a:rPr>
              <a:t>Add Kafka → real-time broker. FastAPI backend → live data. AWS EMR → cloud scale. DBSCAN + autoencoders → richer ML.</a:t>
            </a:r>
          </a:p>
        </p:txBody>
      </p:sp>
      <p:sp>
        <p:nvSpPr>
          <p:cNvPr id="66" name="Rectangle 65"/>
          <p:cNvSpPr/>
          <p:nvPr/>
        </p:nvSpPr>
        <p:spPr>
          <a:xfrm>
            <a:off x="502920" y="6583680"/>
            <a:ext cx="11173968" cy="16459"/>
          </a:xfrm>
          <a:prstGeom prst="rect">
            <a:avLst/>
          </a:prstGeom>
          <a:solidFill>
            <a:srgbClr val="D0D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02920" y="6620256"/>
            <a:ext cx="11173968" cy="164592"/>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2920" y="6620256"/>
            <a:ext cx="11173968" cy="164592"/>
          </a:xfrm>
          <a:prstGeom prst="rect">
            <a:avLst/>
          </a:prstGeom>
          <a:noFill/>
        </p:spPr>
        <p:txBody>
          <a:bodyPr wrap="square">
            <a:spAutoFit/>
          </a:bodyPr>
          <a:lstStyle/>
          <a:p>
            <a:pPr algn="l"/>
            <a:r>
              <a:rPr sz="1000" b="1" i="0">
                <a:solidFill>
                  <a:srgbClr val="FFFFFF"/>
                </a:solidFill>
                <a:latin typeface="Calibri"/>
              </a:rPr>
              <a:t>   Core takeaway: open-source Spark replaces enterprise BI tools at a fraction of the cost — processing more data, faster, in real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14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43891"/>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6858000" cy="1280160"/>
          </a:xfrm>
          <a:prstGeom prst="rect">
            <a:avLst/>
          </a:prstGeom>
          <a:noFill/>
        </p:spPr>
        <p:txBody>
          <a:bodyPr wrap="square">
            <a:spAutoFit/>
          </a:bodyPr>
          <a:lstStyle/>
          <a:p>
            <a:pPr algn="l"/>
            <a:r>
              <a:rPr sz="6400" b="1" i="0">
                <a:solidFill>
                  <a:srgbClr val="FFFFFF"/>
                </a:solidFill>
                <a:latin typeface="Calibri"/>
              </a:rPr>
              <a:t>Thank You</a:t>
            </a:r>
          </a:p>
        </p:txBody>
      </p:sp>
      <p:sp>
        <p:nvSpPr>
          <p:cNvPr id="7" name="TextBox 6"/>
          <p:cNvSpPr txBox="1"/>
          <p:nvPr/>
        </p:nvSpPr>
        <p:spPr>
          <a:xfrm>
            <a:off x="594360" y="2103120"/>
            <a:ext cx="6858000" cy="658368"/>
          </a:xfrm>
          <a:prstGeom prst="rect">
            <a:avLst/>
          </a:prstGeom>
          <a:noFill/>
        </p:spPr>
        <p:txBody>
          <a:bodyPr wrap="square">
            <a:spAutoFit/>
          </a:bodyPr>
          <a:lstStyle/>
          <a:p>
            <a:pPr algn="l"/>
            <a:r>
              <a:rPr sz="2800" b="0" i="0">
                <a:solidFill>
                  <a:srgbClr val="A0B4E8"/>
                </a:solidFill>
                <a:latin typeface="Calibri"/>
              </a:rPr>
              <a:t>Questions &amp; Discussion</a:t>
            </a:r>
          </a:p>
        </p:txBody>
      </p:sp>
      <p:sp>
        <p:nvSpPr>
          <p:cNvPr id="8" name="Rectangle 7"/>
          <p:cNvSpPr/>
          <p:nvPr/>
        </p:nvSpPr>
        <p:spPr>
          <a:xfrm>
            <a:off x="594360" y="2880360"/>
            <a:ext cx="2560320" cy="34747"/>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017520"/>
            <a:ext cx="6583680" cy="1097280"/>
          </a:xfrm>
          <a:prstGeom prst="rect">
            <a:avLst/>
          </a:prstGeom>
          <a:noFill/>
        </p:spPr>
        <p:txBody>
          <a:bodyPr wrap="square">
            <a:spAutoFit/>
          </a:bodyPr>
          <a:lstStyle/>
          <a:p>
            <a:pPr algn="l"/>
            <a:r>
              <a:rPr sz="1200" b="0" i="0">
                <a:solidFill>
                  <a:srgbClr val="7A90C8"/>
                </a:solidFill>
                <a:latin typeface="Calibri"/>
              </a:rPr>
              <a:t>CcMart · Real-Time E-Commerce Analytics Platform
Apache Spark · MLlib · Spark SQL · Structured Streaming
Cloud Computing Final Project · Group 6</a:t>
            </a:r>
          </a:p>
        </p:txBody>
      </p:sp>
      <p:sp>
        <p:nvSpPr>
          <p:cNvPr id="10" name="Rectangle 9"/>
          <p:cNvSpPr/>
          <p:nvPr/>
        </p:nvSpPr>
        <p:spPr>
          <a:xfrm>
            <a:off x="7680960" y="502920"/>
            <a:ext cx="4251960" cy="5943600"/>
          </a:xfrm>
          <a:prstGeom prst="rect">
            <a:avLst/>
          </a:prstGeom>
          <a:solidFill>
            <a:srgbClr val="161E4A"/>
          </a:solidFill>
          <a:ln w="6350">
            <a:solidFill>
              <a:srgbClr val="1E6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82127" y="658368"/>
            <a:ext cx="3886200" cy="274320"/>
          </a:xfrm>
          <a:prstGeom prst="rect">
            <a:avLst/>
          </a:prstGeom>
          <a:noFill/>
        </p:spPr>
        <p:txBody>
          <a:bodyPr wrap="square">
            <a:spAutoFit/>
          </a:bodyPr>
          <a:lstStyle/>
          <a:p>
            <a:pPr algn="l"/>
            <a:r>
              <a:rPr sz="1300" b="1" i="0">
                <a:solidFill>
                  <a:srgbClr val="FFFFFF"/>
                </a:solidFill>
                <a:latin typeface="Calibri"/>
              </a:rPr>
              <a:t>Deliverables</a:t>
            </a:r>
          </a:p>
        </p:txBody>
      </p:sp>
      <p:sp>
        <p:nvSpPr>
          <p:cNvPr id="12" name="TextBox 11"/>
          <p:cNvSpPr txBox="1"/>
          <p:nvPr/>
        </p:nvSpPr>
        <p:spPr>
          <a:xfrm>
            <a:off x="7882127" y="1042415"/>
            <a:ext cx="347472" cy="411480"/>
          </a:xfrm>
          <a:prstGeom prst="rect">
            <a:avLst/>
          </a:prstGeom>
          <a:noFill/>
        </p:spPr>
        <p:txBody>
          <a:bodyPr wrap="square">
            <a:spAutoFit/>
          </a:bodyPr>
          <a:lstStyle/>
          <a:p>
            <a:pPr algn="l"/>
            <a:r>
              <a:rPr sz="1700" b="0" i="0">
                <a:solidFill>
                  <a:srgbClr val="FFFFFF"/>
                </a:solidFill>
                <a:latin typeface="Calibri"/>
              </a:rPr>
              <a:t>📂</a:t>
            </a:r>
          </a:p>
        </p:txBody>
      </p:sp>
      <p:sp>
        <p:nvSpPr>
          <p:cNvPr id="13" name="TextBox 12"/>
          <p:cNvSpPr txBox="1"/>
          <p:nvPr/>
        </p:nvSpPr>
        <p:spPr>
          <a:xfrm>
            <a:off x="8284464" y="1042415"/>
            <a:ext cx="3566160" cy="237744"/>
          </a:xfrm>
          <a:prstGeom prst="rect">
            <a:avLst/>
          </a:prstGeom>
          <a:noFill/>
        </p:spPr>
        <p:txBody>
          <a:bodyPr wrap="square">
            <a:spAutoFit/>
          </a:bodyPr>
          <a:lstStyle/>
          <a:p>
            <a:pPr algn="l"/>
            <a:r>
              <a:rPr sz="1050" b="1" i="0">
                <a:solidFill>
                  <a:srgbClr val="1E6FC8"/>
                </a:solidFill>
                <a:latin typeface="Calibri"/>
              </a:rPr>
              <a:t>ingestion.py · eda.py</a:t>
            </a:r>
          </a:p>
        </p:txBody>
      </p:sp>
      <p:sp>
        <p:nvSpPr>
          <p:cNvPr id="14" name="TextBox 13"/>
          <p:cNvSpPr txBox="1"/>
          <p:nvPr/>
        </p:nvSpPr>
        <p:spPr>
          <a:xfrm>
            <a:off x="8284464" y="1280159"/>
            <a:ext cx="3566160" cy="219456"/>
          </a:xfrm>
          <a:prstGeom prst="rect">
            <a:avLst/>
          </a:prstGeom>
          <a:noFill/>
        </p:spPr>
        <p:txBody>
          <a:bodyPr wrap="square">
            <a:spAutoFit/>
          </a:bodyPr>
          <a:lstStyle/>
          <a:p>
            <a:pPr algn="l"/>
            <a:r>
              <a:rPr sz="950" b="0" i="0">
                <a:solidFill>
                  <a:srgbClr val="C0CCEC"/>
                </a:solidFill>
                <a:latin typeface="Calibri"/>
              </a:rPr>
              <a:t>Data pipeline + EDA</a:t>
            </a:r>
          </a:p>
        </p:txBody>
      </p:sp>
      <p:sp>
        <p:nvSpPr>
          <p:cNvPr id="15" name="TextBox 14"/>
          <p:cNvSpPr txBox="1"/>
          <p:nvPr/>
        </p:nvSpPr>
        <p:spPr>
          <a:xfrm>
            <a:off x="7882127" y="1682495"/>
            <a:ext cx="347472" cy="411480"/>
          </a:xfrm>
          <a:prstGeom prst="rect">
            <a:avLst/>
          </a:prstGeom>
          <a:noFill/>
        </p:spPr>
        <p:txBody>
          <a:bodyPr wrap="square">
            <a:spAutoFit/>
          </a:bodyPr>
          <a:lstStyle/>
          <a:p>
            <a:pPr algn="l"/>
            <a:r>
              <a:rPr sz="1700" b="0" i="0">
                <a:solidFill>
                  <a:srgbClr val="FFFFFF"/>
                </a:solidFill>
                <a:latin typeface="Calibri"/>
              </a:rPr>
              <a:t>⚡</a:t>
            </a:r>
          </a:p>
        </p:txBody>
      </p:sp>
      <p:sp>
        <p:nvSpPr>
          <p:cNvPr id="16" name="TextBox 15"/>
          <p:cNvSpPr txBox="1"/>
          <p:nvPr/>
        </p:nvSpPr>
        <p:spPr>
          <a:xfrm>
            <a:off x="8284464" y="1682495"/>
            <a:ext cx="3566160" cy="237744"/>
          </a:xfrm>
          <a:prstGeom prst="rect">
            <a:avLst/>
          </a:prstGeom>
          <a:noFill/>
        </p:spPr>
        <p:txBody>
          <a:bodyPr wrap="square">
            <a:spAutoFit/>
          </a:bodyPr>
          <a:lstStyle/>
          <a:p>
            <a:pPr algn="l"/>
            <a:r>
              <a:rPr sz="1050" b="1" i="0">
                <a:solidFill>
                  <a:srgbClr val="6C3FC4"/>
                </a:solidFill>
                <a:latin typeface="Calibri"/>
              </a:rPr>
              <a:t>transformations.py</a:t>
            </a:r>
          </a:p>
        </p:txBody>
      </p:sp>
      <p:sp>
        <p:nvSpPr>
          <p:cNvPr id="17" name="TextBox 16"/>
          <p:cNvSpPr txBox="1"/>
          <p:nvPr/>
        </p:nvSpPr>
        <p:spPr>
          <a:xfrm>
            <a:off x="8284464" y="1920239"/>
            <a:ext cx="3566160" cy="219456"/>
          </a:xfrm>
          <a:prstGeom prst="rect">
            <a:avLst/>
          </a:prstGeom>
          <a:noFill/>
        </p:spPr>
        <p:txBody>
          <a:bodyPr wrap="square">
            <a:spAutoFit/>
          </a:bodyPr>
          <a:lstStyle/>
          <a:p>
            <a:pPr algn="l"/>
            <a:r>
              <a:rPr sz="950" b="0" i="0">
                <a:solidFill>
                  <a:srgbClr val="C0CCEC"/>
                </a:solidFill>
                <a:latin typeface="Calibri"/>
              </a:rPr>
              <a:t>6 Spark SQL queries</a:t>
            </a:r>
          </a:p>
        </p:txBody>
      </p:sp>
      <p:sp>
        <p:nvSpPr>
          <p:cNvPr id="18" name="TextBox 17"/>
          <p:cNvSpPr txBox="1"/>
          <p:nvPr/>
        </p:nvSpPr>
        <p:spPr>
          <a:xfrm>
            <a:off x="7882127" y="2322575"/>
            <a:ext cx="347472" cy="411480"/>
          </a:xfrm>
          <a:prstGeom prst="rect">
            <a:avLst/>
          </a:prstGeom>
          <a:noFill/>
        </p:spPr>
        <p:txBody>
          <a:bodyPr wrap="square">
            <a:spAutoFit/>
          </a:bodyPr>
          <a:lstStyle/>
          <a:p>
            <a:pPr algn="l"/>
            <a:r>
              <a:rPr sz="1700" b="0" i="0">
                <a:solidFill>
                  <a:srgbClr val="FFFFFF"/>
                </a:solidFill>
                <a:latin typeface="Calibri"/>
              </a:rPr>
              <a:t>🤖</a:t>
            </a:r>
          </a:p>
        </p:txBody>
      </p:sp>
      <p:sp>
        <p:nvSpPr>
          <p:cNvPr id="19" name="TextBox 18"/>
          <p:cNvSpPr txBox="1"/>
          <p:nvPr/>
        </p:nvSpPr>
        <p:spPr>
          <a:xfrm>
            <a:off x="8284464" y="2322575"/>
            <a:ext cx="3566160" cy="237744"/>
          </a:xfrm>
          <a:prstGeom prst="rect">
            <a:avLst/>
          </a:prstGeom>
          <a:noFill/>
        </p:spPr>
        <p:txBody>
          <a:bodyPr wrap="square">
            <a:spAutoFit/>
          </a:bodyPr>
          <a:lstStyle/>
          <a:p>
            <a:pPr algn="l"/>
            <a:r>
              <a:rPr sz="1050" b="1" i="0">
                <a:solidFill>
                  <a:srgbClr val="D46B08"/>
                </a:solidFill>
                <a:latin typeface="Calibri"/>
              </a:rPr>
              <a:t>ml_pipeline.py</a:t>
            </a:r>
          </a:p>
        </p:txBody>
      </p:sp>
      <p:sp>
        <p:nvSpPr>
          <p:cNvPr id="20" name="TextBox 19"/>
          <p:cNvSpPr txBox="1"/>
          <p:nvPr/>
        </p:nvSpPr>
        <p:spPr>
          <a:xfrm>
            <a:off x="8284464" y="2560319"/>
            <a:ext cx="3566160" cy="219456"/>
          </a:xfrm>
          <a:prstGeom prst="rect">
            <a:avLst/>
          </a:prstGeom>
          <a:noFill/>
        </p:spPr>
        <p:txBody>
          <a:bodyPr wrap="square">
            <a:spAutoFit/>
          </a:bodyPr>
          <a:lstStyle/>
          <a:p>
            <a:pPr algn="l"/>
            <a:r>
              <a:rPr sz="950" b="0" i="0">
                <a:solidFill>
                  <a:srgbClr val="C0CCEC"/>
                </a:solidFill>
                <a:latin typeface="Calibri"/>
              </a:rPr>
              <a:t>RF + ALS + KMeans models</a:t>
            </a:r>
          </a:p>
        </p:txBody>
      </p:sp>
      <p:sp>
        <p:nvSpPr>
          <p:cNvPr id="21" name="TextBox 20"/>
          <p:cNvSpPr txBox="1"/>
          <p:nvPr/>
        </p:nvSpPr>
        <p:spPr>
          <a:xfrm>
            <a:off x="7882127" y="2962655"/>
            <a:ext cx="347472" cy="411480"/>
          </a:xfrm>
          <a:prstGeom prst="rect">
            <a:avLst/>
          </a:prstGeom>
          <a:noFill/>
        </p:spPr>
        <p:txBody>
          <a:bodyPr wrap="square">
            <a:spAutoFit/>
          </a:bodyPr>
          <a:lstStyle/>
          <a:p>
            <a:pPr algn="l"/>
            <a:r>
              <a:rPr sz="1700" b="0" i="0">
                <a:solidFill>
                  <a:srgbClr val="FFFFFF"/>
                </a:solidFill>
                <a:latin typeface="Calibri"/>
              </a:rPr>
              <a:t>🌊</a:t>
            </a:r>
          </a:p>
        </p:txBody>
      </p:sp>
      <p:sp>
        <p:nvSpPr>
          <p:cNvPr id="22" name="TextBox 21"/>
          <p:cNvSpPr txBox="1"/>
          <p:nvPr/>
        </p:nvSpPr>
        <p:spPr>
          <a:xfrm>
            <a:off x="8284464" y="2962655"/>
            <a:ext cx="3566160" cy="237744"/>
          </a:xfrm>
          <a:prstGeom prst="rect">
            <a:avLst/>
          </a:prstGeom>
          <a:noFill/>
        </p:spPr>
        <p:txBody>
          <a:bodyPr wrap="square">
            <a:spAutoFit/>
          </a:bodyPr>
          <a:lstStyle/>
          <a:p>
            <a:pPr algn="l"/>
            <a:r>
              <a:rPr sz="1050" b="1" i="0">
                <a:solidFill>
                  <a:srgbClr val="0F9B56"/>
                </a:solidFill>
                <a:latin typeface="Calibri"/>
              </a:rPr>
              <a:t>streaming.py</a:t>
            </a:r>
          </a:p>
        </p:txBody>
      </p:sp>
      <p:sp>
        <p:nvSpPr>
          <p:cNvPr id="23" name="TextBox 22"/>
          <p:cNvSpPr txBox="1"/>
          <p:nvPr/>
        </p:nvSpPr>
        <p:spPr>
          <a:xfrm>
            <a:off x="8284464" y="3200399"/>
            <a:ext cx="3566160" cy="219456"/>
          </a:xfrm>
          <a:prstGeom prst="rect">
            <a:avLst/>
          </a:prstGeom>
          <a:noFill/>
        </p:spPr>
        <p:txBody>
          <a:bodyPr wrap="square">
            <a:spAutoFit/>
          </a:bodyPr>
          <a:lstStyle/>
          <a:p>
            <a:pPr algn="l"/>
            <a:r>
              <a:rPr sz="950" b="0" i="0">
                <a:solidFill>
                  <a:srgbClr val="C0CCEC"/>
                </a:solidFill>
                <a:latin typeface="Calibri"/>
              </a:rPr>
              <a:t>Structured Streaming pipeline</a:t>
            </a:r>
          </a:p>
        </p:txBody>
      </p:sp>
      <p:sp>
        <p:nvSpPr>
          <p:cNvPr id="24" name="TextBox 23"/>
          <p:cNvSpPr txBox="1"/>
          <p:nvPr/>
        </p:nvSpPr>
        <p:spPr>
          <a:xfrm>
            <a:off x="7882127" y="3602735"/>
            <a:ext cx="347472" cy="411480"/>
          </a:xfrm>
          <a:prstGeom prst="rect">
            <a:avLst/>
          </a:prstGeom>
          <a:noFill/>
        </p:spPr>
        <p:txBody>
          <a:bodyPr wrap="square">
            <a:spAutoFit/>
          </a:bodyPr>
          <a:lstStyle/>
          <a:p>
            <a:pPr algn="l"/>
            <a:r>
              <a:rPr sz="1700" b="0" i="0">
                <a:solidFill>
                  <a:srgbClr val="FFFFFF"/>
                </a:solidFill>
                <a:latin typeface="Calibri"/>
              </a:rPr>
              <a:t>🧠</a:t>
            </a:r>
          </a:p>
        </p:txBody>
      </p:sp>
      <p:sp>
        <p:nvSpPr>
          <p:cNvPr id="25" name="TextBox 24"/>
          <p:cNvSpPr txBox="1"/>
          <p:nvPr/>
        </p:nvSpPr>
        <p:spPr>
          <a:xfrm>
            <a:off x="8284464" y="3602735"/>
            <a:ext cx="3566160" cy="237744"/>
          </a:xfrm>
          <a:prstGeom prst="rect">
            <a:avLst/>
          </a:prstGeom>
          <a:noFill/>
        </p:spPr>
        <p:txBody>
          <a:bodyPr wrap="square">
            <a:spAutoFit/>
          </a:bodyPr>
          <a:lstStyle/>
          <a:p>
            <a:pPr algn="l"/>
            <a:r>
              <a:rPr sz="1050" b="1" i="0">
                <a:solidFill>
                  <a:srgbClr val="087079"/>
                </a:solidFill>
                <a:latin typeface="Calibri"/>
              </a:rPr>
              <a:t>streaming_predictions.py</a:t>
            </a:r>
          </a:p>
        </p:txBody>
      </p:sp>
      <p:sp>
        <p:nvSpPr>
          <p:cNvPr id="26" name="TextBox 25"/>
          <p:cNvSpPr txBox="1"/>
          <p:nvPr/>
        </p:nvSpPr>
        <p:spPr>
          <a:xfrm>
            <a:off x="8284464" y="3840479"/>
            <a:ext cx="3566160" cy="219456"/>
          </a:xfrm>
          <a:prstGeom prst="rect">
            <a:avLst/>
          </a:prstGeom>
          <a:noFill/>
        </p:spPr>
        <p:txBody>
          <a:bodyPr wrap="square">
            <a:spAutoFit/>
          </a:bodyPr>
          <a:lstStyle/>
          <a:p>
            <a:pPr algn="l"/>
            <a:r>
              <a:rPr sz="950" b="0" i="0">
                <a:solidFill>
                  <a:srgbClr val="C0CCEC"/>
                </a:solidFill>
                <a:latin typeface="Calibri"/>
              </a:rPr>
              <a:t>Real-time ML scoring</a:t>
            </a:r>
          </a:p>
        </p:txBody>
      </p:sp>
      <p:sp>
        <p:nvSpPr>
          <p:cNvPr id="27" name="TextBox 26"/>
          <p:cNvSpPr txBox="1"/>
          <p:nvPr/>
        </p:nvSpPr>
        <p:spPr>
          <a:xfrm>
            <a:off x="7882127" y="4242815"/>
            <a:ext cx="347472" cy="411480"/>
          </a:xfrm>
          <a:prstGeom prst="rect">
            <a:avLst/>
          </a:prstGeom>
          <a:noFill/>
        </p:spPr>
        <p:txBody>
          <a:bodyPr wrap="square">
            <a:spAutoFit/>
          </a:bodyPr>
          <a:lstStyle/>
          <a:p>
            <a:pPr algn="l"/>
            <a:r>
              <a:rPr sz="1700" b="0" i="0">
                <a:solidFill>
                  <a:srgbClr val="FFFFFF"/>
                </a:solidFill>
                <a:latin typeface="Calibri"/>
              </a:rPr>
              <a:t>📊</a:t>
            </a:r>
          </a:p>
        </p:txBody>
      </p:sp>
      <p:sp>
        <p:nvSpPr>
          <p:cNvPr id="28" name="TextBox 27"/>
          <p:cNvSpPr txBox="1"/>
          <p:nvPr/>
        </p:nvSpPr>
        <p:spPr>
          <a:xfrm>
            <a:off x="8284464" y="4242815"/>
            <a:ext cx="3566160" cy="237744"/>
          </a:xfrm>
          <a:prstGeom prst="rect">
            <a:avLst/>
          </a:prstGeom>
          <a:noFill/>
        </p:spPr>
        <p:txBody>
          <a:bodyPr wrap="square">
            <a:spAutoFit/>
          </a:bodyPr>
          <a:lstStyle/>
          <a:p>
            <a:pPr algn="l"/>
            <a:r>
              <a:rPr sz="1050" b="1" i="0">
                <a:solidFill>
                  <a:srgbClr val="1E6FC8"/>
                </a:solidFill>
                <a:latin typeface="Calibri"/>
              </a:rPr>
              <a:t>dashboard/index.html</a:t>
            </a:r>
          </a:p>
        </p:txBody>
      </p:sp>
      <p:sp>
        <p:nvSpPr>
          <p:cNvPr id="29" name="TextBox 28"/>
          <p:cNvSpPr txBox="1"/>
          <p:nvPr/>
        </p:nvSpPr>
        <p:spPr>
          <a:xfrm>
            <a:off x="8284464" y="4480559"/>
            <a:ext cx="3566160" cy="219456"/>
          </a:xfrm>
          <a:prstGeom prst="rect">
            <a:avLst/>
          </a:prstGeom>
          <a:noFill/>
        </p:spPr>
        <p:txBody>
          <a:bodyPr wrap="square">
            <a:spAutoFit/>
          </a:bodyPr>
          <a:lstStyle/>
          <a:p>
            <a:pPr algn="l"/>
            <a:r>
              <a:rPr sz="950" b="0" i="0">
                <a:solidFill>
                  <a:srgbClr val="C0CCEC"/>
                </a:solidFill>
                <a:latin typeface="Calibri"/>
              </a:rPr>
              <a:t>8-page BI command centre</a:t>
            </a:r>
          </a:p>
        </p:txBody>
      </p:sp>
      <p:sp>
        <p:nvSpPr>
          <p:cNvPr id="30" name="TextBox 29"/>
          <p:cNvSpPr txBox="1"/>
          <p:nvPr/>
        </p:nvSpPr>
        <p:spPr>
          <a:xfrm>
            <a:off x="7882127" y="4882895"/>
            <a:ext cx="347472" cy="411480"/>
          </a:xfrm>
          <a:prstGeom prst="rect">
            <a:avLst/>
          </a:prstGeom>
          <a:noFill/>
        </p:spPr>
        <p:txBody>
          <a:bodyPr wrap="square">
            <a:spAutoFit/>
          </a:bodyPr>
          <a:lstStyle/>
          <a:p>
            <a:pPr algn="l"/>
            <a:r>
              <a:rPr sz="1700" b="0" i="0">
                <a:solidFill>
                  <a:srgbClr val="FFFFFF"/>
                </a:solidFill>
                <a:latin typeface="Calibri"/>
              </a:rPr>
              <a:t>🛒</a:t>
            </a:r>
          </a:p>
        </p:txBody>
      </p:sp>
      <p:sp>
        <p:nvSpPr>
          <p:cNvPr id="31" name="TextBox 30"/>
          <p:cNvSpPr txBox="1"/>
          <p:nvPr/>
        </p:nvSpPr>
        <p:spPr>
          <a:xfrm>
            <a:off x="8284464" y="4882895"/>
            <a:ext cx="3566160" cy="237744"/>
          </a:xfrm>
          <a:prstGeom prst="rect">
            <a:avLst/>
          </a:prstGeom>
          <a:noFill/>
        </p:spPr>
        <p:txBody>
          <a:bodyPr wrap="square">
            <a:spAutoFit/>
          </a:bodyPr>
          <a:lstStyle/>
          <a:p>
            <a:pPr algn="l"/>
            <a:r>
              <a:rPr sz="1050" b="1" i="0">
                <a:solidFill>
                  <a:srgbClr val="0F9B56"/>
                </a:solidFill>
                <a:latin typeface="Calibri"/>
              </a:rPr>
              <a:t>dashboard/simulation.html</a:t>
            </a:r>
          </a:p>
        </p:txBody>
      </p:sp>
      <p:sp>
        <p:nvSpPr>
          <p:cNvPr id="32" name="TextBox 31"/>
          <p:cNvSpPr txBox="1"/>
          <p:nvPr/>
        </p:nvSpPr>
        <p:spPr>
          <a:xfrm>
            <a:off x="8284464" y="5120639"/>
            <a:ext cx="3566160" cy="219456"/>
          </a:xfrm>
          <a:prstGeom prst="rect">
            <a:avLst/>
          </a:prstGeom>
          <a:noFill/>
        </p:spPr>
        <p:txBody>
          <a:bodyPr wrap="square">
            <a:spAutoFit/>
          </a:bodyPr>
          <a:lstStyle/>
          <a:p>
            <a:pPr algn="l"/>
            <a:r>
              <a:rPr sz="950" b="0" i="0">
                <a:solidFill>
                  <a:srgbClr val="C0CCEC"/>
                </a:solidFill>
                <a:latin typeface="Calibri"/>
              </a:rPr>
              <a:t>Live e-commerce simulation</a:t>
            </a:r>
          </a:p>
        </p:txBody>
      </p:sp>
      <p:sp>
        <p:nvSpPr>
          <p:cNvPr id="33" name="TextBox 32"/>
          <p:cNvSpPr txBox="1"/>
          <p:nvPr/>
        </p:nvSpPr>
        <p:spPr>
          <a:xfrm>
            <a:off x="7882127" y="5522975"/>
            <a:ext cx="347472" cy="411480"/>
          </a:xfrm>
          <a:prstGeom prst="rect">
            <a:avLst/>
          </a:prstGeom>
          <a:noFill/>
        </p:spPr>
        <p:txBody>
          <a:bodyPr wrap="square">
            <a:spAutoFit/>
          </a:bodyPr>
          <a:lstStyle/>
          <a:p>
            <a:pPr algn="l"/>
            <a:r>
              <a:rPr sz="1700" b="0" i="0">
                <a:solidFill>
                  <a:srgbClr val="FFFFFF"/>
                </a:solidFill>
                <a:latin typeface="Calibri"/>
              </a:rPr>
              <a:t>📋</a:t>
            </a:r>
          </a:p>
        </p:txBody>
      </p:sp>
      <p:sp>
        <p:nvSpPr>
          <p:cNvPr id="34" name="TextBox 33"/>
          <p:cNvSpPr txBox="1"/>
          <p:nvPr/>
        </p:nvSpPr>
        <p:spPr>
          <a:xfrm>
            <a:off x="8284464" y="5522975"/>
            <a:ext cx="3566160" cy="237744"/>
          </a:xfrm>
          <a:prstGeom prst="rect">
            <a:avLst/>
          </a:prstGeom>
          <a:noFill/>
        </p:spPr>
        <p:txBody>
          <a:bodyPr wrap="square">
            <a:spAutoFit/>
          </a:bodyPr>
          <a:lstStyle/>
          <a:p>
            <a:pPr algn="l"/>
            <a:r>
              <a:rPr sz="1050" b="1" i="0">
                <a:solidFill>
                  <a:srgbClr val="7A84A8"/>
                </a:solidFill>
                <a:latin typeface="Calibri"/>
              </a:rPr>
              <a:t>docs/dashboard_guide.md</a:t>
            </a:r>
          </a:p>
        </p:txBody>
      </p:sp>
      <p:sp>
        <p:nvSpPr>
          <p:cNvPr id="35" name="TextBox 34"/>
          <p:cNvSpPr txBox="1"/>
          <p:nvPr/>
        </p:nvSpPr>
        <p:spPr>
          <a:xfrm>
            <a:off x="8284464" y="5760719"/>
            <a:ext cx="3566160" cy="219456"/>
          </a:xfrm>
          <a:prstGeom prst="rect">
            <a:avLst/>
          </a:prstGeom>
          <a:noFill/>
        </p:spPr>
        <p:txBody>
          <a:bodyPr wrap="square">
            <a:spAutoFit/>
          </a:bodyPr>
          <a:lstStyle/>
          <a:p>
            <a:pPr algn="l"/>
            <a:r>
              <a:rPr sz="950" b="0" i="0">
                <a:solidFill>
                  <a:srgbClr val="C0CCEC"/>
                </a:solidFill>
                <a:latin typeface="Calibri"/>
              </a:rPr>
              <a:t>Presenter's guide</a:t>
            </a:r>
          </a:p>
        </p:txBody>
      </p:sp>
      <p:sp>
        <p:nvSpPr>
          <p:cNvPr id="36" name="TextBox 35"/>
          <p:cNvSpPr txBox="1"/>
          <p:nvPr/>
        </p:nvSpPr>
        <p:spPr>
          <a:xfrm>
            <a:off x="594360" y="4983480"/>
            <a:ext cx="6583680" cy="320040"/>
          </a:xfrm>
          <a:prstGeom prst="rect">
            <a:avLst/>
          </a:prstGeom>
          <a:noFill/>
        </p:spPr>
        <p:txBody>
          <a:bodyPr wrap="square">
            <a:spAutoFit/>
          </a:bodyPr>
          <a:lstStyle/>
          <a:p>
            <a:pPr algn="l"/>
            <a:r>
              <a:rPr sz="1150" b="1" i="0">
                <a:solidFill>
                  <a:srgbClr val="1E6FC8"/>
                </a:solidFill>
                <a:latin typeface="Calibri"/>
              </a:rPr>
              <a:t>Open: dashboard/simulation.html  to run the live demo</a:t>
            </a:r>
          </a:p>
        </p:txBody>
      </p:sp>
      <p:sp>
        <p:nvSpPr>
          <p:cNvPr id="37" name="TextBox 36"/>
          <p:cNvSpPr txBox="1"/>
          <p:nvPr/>
        </p:nvSpPr>
        <p:spPr>
          <a:xfrm>
            <a:off x="594360" y="5321808"/>
            <a:ext cx="6583680" cy="320040"/>
          </a:xfrm>
          <a:prstGeom prst="rect">
            <a:avLst/>
          </a:prstGeom>
          <a:noFill/>
        </p:spPr>
        <p:txBody>
          <a:bodyPr wrap="square">
            <a:spAutoFit/>
          </a:bodyPr>
          <a:lstStyle/>
          <a:p>
            <a:pPr algn="l"/>
            <a:r>
              <a:rPr sz="1150" b="0" i="0">
                <a:solidFill>
                  <a:srgbClr val="60A5FA"/>
                </a:solidFill>
                <a:latin typeface="Calibri"/>
              </a:rPr>
              <a:t>Open: dashboard/index.html  for the full BI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